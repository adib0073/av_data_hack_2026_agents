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67" r:id="rId3"/>
    <p:sldId id="268" r:id="rId4"/>
    <p:sldId id="257" r:id="rId5"/>
    <p:sldId id="258" r:id="rId6"/>
    <p:sldId id="270" r:id="rId7"/>
    <p:sldId id="271" r:id="rId8"/>
    <p:sldId id="272" r:id="rId9"/>
    <p:sldId id="297" r:id="rId10"/>
    <p:sldId id="295" r:id="rId11"/>
    <p:sldId id="274" r:id="rId12"/>
    <p:sldId id="275" r:id="rId13"/>
    <p:sldId id="276" r:id="rId14"/>
    <p:sldId id="277" r:id="rId15"/>
    <p:sldId id="269" r:id="rId16"/>
    <p:sldId id="278" r:id="rId17"/>
    <p:sldId id="279" r:id="rId18"/>
    <p:sldId id="280" r:id="rId19"/>
    <p:sldId id="259" r:id="rId20"/>
    <p:sldId id="281" r:id="rId21"/>
    <p:sldId id="282" r:id="rId22"/>
    <p:sldId id="283" r:id="rId23"/>
    <p:sldId id="284" r:id="rId24"/>
    <p:sldId id="285" r:id="rId25"/>
    <p:sldId id="286" r:id="rId26"/>
    <p:sldId id="287" r:id="rId27"/>
    <p:sldId id="288" r:id="rId28"/>
    <p:sldId id="289" r:id="rId29"/>
    <p:sldId id="290" r:id="rId30"/>
    <p:sldId id="291" r:id="rId31"/>
    <p:sldId id="292" r:id="rId32"/>
    <p:sldId id="296" r:id="rId33"/>
    <p:sldId id="293" r:id="rId34"/>
    <p:sldId id="294" r:id="rId35"/>
    <p:sldId id="266" r:id="rId3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B6A6"/>
    <a:srgbClr val="FE720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03"/>
    <p:restoredTop sz="94568"/>
  </p:normalViewPr>
  <p:slideViewPr>
    <p:cSldViewPr snapToGrid="0">
      <p:cViewPr varScale="1">
        <p:scale>
          <a:sx n="74" d="100"/>
          <a:sy n="74" d="100"/>
        </p:scale>
        <p:origin x="1056"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ACD8CC80-46D1-4B6F-9086-510E80774687}" type="datetimeFigureOut">
              <a:t>7/23/2026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E46F48A4-F1E9-490D-8E72-314064DE6C2E}" type="slidenum">
              <a:t>‹#›</a:t>
            </a:fld>
            <a:endParaRPr lang="en-US"/>
          </a:p>
        </p:txBody>
      </p:sp>
    </p:spTree>
    <p:extLst>
      <p:ext uri="{BB962C8B-B14F-4D97-AF65-F5344CB8AC3E}">
        <p14:creationId xmlns:p14="http://schemas.microsoft.com/office/powerpoint/2010/main" val="31385178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4122C-8C54-E0A0-655E-CE297F1C71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A8240F-C18D-AB6B-AD34-BAB40E252D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970255-59C9-7E5C-C4C7-A3CD030495B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AC6CB5A-7F73-B2EE-324C-8D28DE12D2B1}"/>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7649299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997ED-39B3-3A75-5AD4-3C44C6F11E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9AD5B4-57AB-6D8D-5B38-B95D7D9B5C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24381F-DDC3-EB3D-AE52-55480709440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A0F3125-B006-7C0F-1650-84C037FD925E}"/>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004457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88E73-905E-31F6-0832-F1B8DE5BB8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0976E9-D578-AA39-A3A3-E2E0D765C1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A68167-D27E-3AE6-7AA2-EA607E492B8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630E975-8CD8-E1BF-CFF4-DF6ECF8EB7B7}"/>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1058407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16FD2-E1D9-D8B8-F0AB-1D2167C766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07ED23-D4D1-8C3A-51B2-A1FCC872CE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ED8F2C-22D7-D29A-D638-B5779BE3327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8D754EB-E82F-F77D-8833-1E2A1F0A3387}"/>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9352765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5F592-9B2D-76AD-B420-8189548425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9B6186-AD6B-929D-CF9C-9CC5D85962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7A870C-68B3-E936-A4C7-AEDE770349B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3AD74C2-26EA-36C8-2B49-4344CF30BB9F}"/>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4679770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E2039-D804-95E5-0739-E8125BCB55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5FCEE7-31EF-AA17-09ED-82DF44FFF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B72D20-F818-E671-358A-97E903D527F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2339C39-1C15-0880-0556-EAFC7ECB361B}"/>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8655648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639A3-9819-2761-CFF1-EF57F95E0D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FF8A31-AAFA-2BCF-96AC-838733921B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7C5F6B-8051-2718-05B6-A7E0EAEC795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62838CA-540D-E2E3-D9CA-9F76CED550C4}"/>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9639855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75DB4-8E8D-569C-4CF8-79D2AA7D36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9DB1D4-B979-848C-79AB-A13EFD1D18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1D0C03-456C-5A66-1332-CD066EF84A6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u="none" strike="noStrike" cap="none" dirty="0">
                <a:solidFill>
                  <a:srgbClr val="000000"/>
                </a:solidFill>
                <a:effectLst/>
                <a:latin typeface="Arial"/>
                <a:ea typeface="Arial"/>
                <a:cs typeface="Arial"/>
                <a:sym typeface="Arial"/>
              </a:rPr>
              <a:t>Two stacks, four layers. The top stack is </a:t>
            </a:r>
            <a:r>
              <a:rPr lang="en-GB" sz="1200" b="1" i="0" u="none" strike="noStrike" cap="none" dirty="0">
                <a:solidFill>
                  <a:srgbClr val="000000"/>
                </a:solidFill>
                <a:effectLst/>
                <a:latin typeface="Arial"/>
                <a:ea typeface="Arial"/>
                <a:cs typeface="Arial"/>
                <a:sym typeface="Arial"/>
              </a:rPr>
              <a:t>what to evaluate</a:t>
            </a:r>
            <a:r>
              <a:rPr lang="en-GB" sz="1200" b="0" i="0" u="none" strike="noStrike" cap="none" dirty="0">
                <a:solidFill>
                  <a:srgbClr val="000000"/>
                </a:solidFill>
                <a:effectLst/>
                <a:latin typeface="Arial"/>
                <a:ea typeface="Arial"/>
                <a:cs typeface="Arial"/>
                <a:sym typeface="Arial"/>
              </a:rPr>
              <a:t>, organized by scope. The bottom stack is </a:t>
            </a:r>
            <a:r>
              <a:rPr lang="en-GB" sz="1200" b="1" i="0" u="none" strike="noStrike" cap="none" dirty="0">
                <a:solidFill>
                  <a:srgbClr val="000000"/>
                </a:solidFill>
                <a:effectLst/>
                <a:latin typeface="Arial"/>
                <a:ea typeface="Arial"/>
                <a:cs typeface="Arial"/>
                <a:sym typeface="Arial"/>
              </a:rPr>
              <a:t>what to monitor</a:t>
            </a:r>
            <a:r>
              <a:rPr lang="en-GB" sz="1200" b="0" i="0" u="none" strike="noStrike" cap="none" dirty="0">
                <a:solidFill>
                  <a:srgbClr val="000000"/>
                </a:solidFill>
                <a:effectLst/>
                <a:latin typeface="Arial"/>
                <a:ea typeface="Arial"/>
                <a:cs typeface="Arial"/>
                <a:sym typeface="Arial"/>
              </a:rPr>
              <a:t>, defines what to keep an eye on.</a:t>
            </a:r>
            <a:endParaRPr lang="en-GB" dirty="0"/>
          </a:p>
          <a:p>
            <a:endParaRPr lang="en-US" dirty="0"/>
          </a:p>
        </p:txBody>
      </p:sp>
      <p:sp>
        <p:nvSpPr>
          <p:cNvPr id="4" name="Slide Number Placeholder 3">
            <a:extLst>
              <a:ext uri="{FF2B5EF4-FFF2-40B4-BE49-F238E27FC236}">
                <a16:creationId xmlns:a16="http://schemas.microsoft.com/office/drawing/2014/main" id="{5466A8AB-D5AE-6B4C-A146-FE82C18952F9}"/>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7380249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A50D8-8337-B96F-5872-E4D2E314E9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4A1FBB-A799-4DD4-50B7-32DC57016C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DF167C-0204-6C64-9191-D19BED7522E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AD0E6F9-5C2E-4035-22ED-7534D8D84A68}"/>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0720127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0FE9B-A39E-5963-82C9-4E764A5F7F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817E29-B3CB-F8A1-CACB-6AD8D04325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E91669-AF40-7B63-8F63-86AF5847A2C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0B2756A-2604-D996-E6AB-87AA9967ED62}"/>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0394836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27FD5-8506-8C0E-0A85-B29372172A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53E473-75B2-4B97-DE13-E5953578E5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F07F6E-3B95-BDE4-31DF-48E16F14D13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u="none" strike="noStrike" cap="none" dirty="0">
                <a:solidFill>
                  <a:srgbClr val="000000"/>
                </a:solidFill>
                <a:effectLst/>
                <a:latin typeface="Arial"/>
                <a:ea typeface="Arial"/>
                <a:cs typeface="Arial"/>
                <a:sym typeface="Arial"/>
              </a:rPr>
              <a:t>Before we open the box and look at planning, tool calls, memory, and all the moving parts inside an agent, we need a single number that says "this thing works." That's what E2E evaluation is. You hand the agent a task, you let it run free, and at the end you ask one question: did it succeed? Everything else — component scores, traces, observability — is in service of explaining </a:t>
            </a:r>
            <a:r>
              <a:rPr lang="en-GB" sz="1200" b="0" i="1" u="none" strike="noStrike" cap="none" dirty="0">
                <a:solidFill>
                  <a:srgbClr val="000000"/>
                </a:solidFill>
                <a:effectLst/>
                <a:latin typeface="Arial"/>
                <a:ea typeface="Arial"/>
                <a:cs typeface="Arial"/>
                <a:sym typeface="Arial"/>
              </a:rPr>
              <a:t>why</a:t>
            </a:r>
            <a:r>
              <a:rPr lang="en-GB" sz="1200" b="0" i="0" u="none" strike="noStrike" cap="none" dirty="0">
                <a:solidFill>
                  <a:srgbClr val="000000"/>
                </a:solidFill>
                <a:effectLst/>
                <a:latin typeface="Arial"/>
                <a:ea typeface="Arial"/>
                <a:cs typeface="Arial"/>
                <a:sym typeface="Arial"/>
              </a:rPr>
              <a:t> this top-line number moved.</a:t>
            </a:r>
            <a:endParaRPr lang="en-GB" dirty="0"/>
          </a:p>
        </p:txBody>
      </p:sp>
      <p:sp>
        <p:nvSpPr>
          <p:cNvPr id="4" name="Slide Number Placeholder 3">
            <a:extLst>
              <a:ext uri="{FF2B5EF4-FFF2-40B4-BE49-F238E27FC236}">
                <a16:creationId xmlns:a16="http://schemas.microsoft.com/office/drawing/2014/main" id="{C07B4801-FA47-6DB2-0BF2-28A80601E8E5}"/>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42433104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D4B21-BA8D-E824-8F2A-DF48F9B61A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3CA26C-B7F8-93F0-5F05-69D67205D5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4FC3D4-001C-7991-5271-D87AD4317C8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u="none" strike="noStrike" cap="none" dirty="0">
                <a:solidFill>
                  <a:srgbClr val="000000"/>
                </a:solidFill>
                <a:effectLst/>
                <a:latin typeface="Arial"/>
                <a:ea typeface="Arial"/>
                <a:cs typeface="Arial"/>
                <a:sym typeface="Arial"/>
              </a:rPr>
              <a:t>Here's the failure mode I want you to avoid: a team that has gorgeous component-level dashboards, every tool call is 98% correct, every plan scores 0.9 on quality — and the agent still ships broken. Because the parts work, but the </a:t>
            </a:r>
            <a:r>
              <a:rPr lang="en-GB" sz="1200" b="0" i="1" u="none" strike="noStrike" cap="none" dirty="0">
                <a:solidFill>
                  <a:srgbClr val="000000"/>
                </a:solidFill>
                <a:effectLst/>
                <a:latin typeface="Arial"/>
                <a:ea typeface="Arial"/>
                <a:cs typeface="Arial"/>
                <a:sym typeface="Arial"/>
              </a:rPr>
              <a:t>system</a:t>
            </a:r>
            <a:r>
              <a:rPr lang="en-GB" sz="1200" b="0" i="0" u="none" strike="noStrike" cap="none" dirty="0">
                <a:solidFill>
                  <a:srgbClr val="000000"/>
                </a:solidFill>
                <a:effectLst/>
                <a:latin typeface="Arial"/>
                <a:ea typeface="Arial"/>
                <a:cs typeface="Arial"/>
                <a:sym typeface="Arial"/>
              </a:rPr>
              <a:t> doesn't. E2E is what catches that. It's also the only metric your PM, your CEO, and your on-call engineer will all care about. It's the keystone.</a:t>
            </a:r>
            <a:endParaRPr lang="en-GB" dirty="0"/>
          </a:p>
          <a:p>
            <a:endParaRPr lang="en-US" dirty="0"/>
          </a:p>
        </p:txBody>
      </p:sp>
      <p:sp>
        <p:nvSpPr>
          <p:cNvPr id="4" name="Slide Number Placeholder 3">
            <a:extLst>
              <a:ext uri="{FF2B5EF4-FFF2-40B4-BE49-F238E27FC236}">
                <a16:creationId xmlns:a16="http://schemas.microsoft.com/office/drawing/2014/main" id="{1F441E68-5698-05F4-9C8C-BBD1067D30A8}"/>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4510117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3EA81-6CAE-D820-0250-00D2A29D2F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E640EE-A7BB-477B-E69E-45E9555602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6DEC10-7BF2-3AA3-F638-667FAA46BB4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u="none" strike="noStrike" cap="none" dirty="0">
                <a:solidFill>
                  <a:srgbClr val="000000"/>
                </a:solidFill>
                <a:effectLst/>
                <a:latin typeface="Arial"/>
                <a:ea typeface="Arial"/>
                <a:cs typeface="Arial"/>
                <a:sym typeface="Arial"/>
              </a:rPr>
              <a:t>The golden dataset is the cornerstone artefact of Layer 1. Treat it like a product — version it, review it, grow it. Start with 20 hand-written cases from domain experts on day one. Generate 200 synthetic variants in week two. Wire production failures back into it every sprint. The trap people fall into is treating goldens like LLM goldens — input/output text pairs. Agent goldens are trajectory-shaped: you describe the </a:t>
            </a:r>
            <a:r>
              <a:rPr lang="en-GB" sz="1200" b="0" i="1" u="none" strike="noStrike" cap="none" dirty="0">
                <a:solidFill>
                  <a:srgbClr val="000000"/>
                </a:solidFill>
                <a:effectLst/>
                <a:latin typeface="Arial"/>
                <a:ea typeface="Arial"/>
                <a:cs typeface="Arial"/>
                <a:sym typeface="Arial"/>
              </a:rPr>
              <a:t>goal</a:t>
            </a:r>
            <a:r>
              <a:rPr lang="en-GB" sz="1200" b="0" i="0" u="none" strike="noStrike" cap="none" dirty="0">
                <a:solidFill>
                  <a:srgbClr val="000000"/>
                </a:solidFill>
                <a:effectLst/>
                <a:latin typeface="Arial"/>
                <a:ea typeface="Arial"/>
                <a:cs typeface="Arial"/>
                <a:sym typeface="Arial"/>
              </a:rPr>
              <a:t> and the </a:t>
            </a:r>
            <a:r>
              <a:rPr lang="en-GB" sz="1200" b="0" i="1" u="none" strike="noStrike" cap="none" dirty="0">
                <a:solidFill>
                  <a:srgbClr val="000000"/>
                </a:solidFill>
                <a:effectLst/>
                <a:latin typeface="Arial"/>
                <a:ea typeface="Arial"/>
                <a:cs typeface="Arial"/>
                <a:sym typeface="Arial"/>
              </a:rPr>
              <a:t>constraints</a:t>
            </a:r>
            <a:r>
              <a:rPr lang="en-GB" sz="1200" b="0" i="0" u="none" strike="noStrike" cap="none" dirty="0">
                <a:solidFill>
                  <a:srgbClr val="000000"/>
                </a:solidFill>
                <a:effectLst/>
                <a:latin typeface="Arial"/>
                <a:ea typeface="Arial"/>
                <a:cs typeface="Arial"/>
                <a:sym typeface="Arial"/>
              </a:rPr>
              <a:t>, not the exact answer, because there are usually many valid ways to succeed.</a:t>
            </a:r>
            <a:endParaRPr lang="en-GB" dirty="0"/>
          </a:p>
        </p:txBody>
      </p:sp>
      <p:sp>
        <p:nvSpPr>
          <p:cNvPr id="4" name="Slide Number Placeholder 3">
            <a:extLst>
              <a:ext uri="{FF2B5EF4-FFF2-40B4-BE49-F238E27FC236}">
                <a16:creationId xmlns:a16="http://schemas.microsoft.com/office/drawing/2014/main" id="{246E2AC8-D905-334A-9147-71AF8E8F455A}"/>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2416695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775BA-A174-6A06-D0EA-90E07906FC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C10152-A7A7-D3B1-E627-CC720B1F7E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5AD39A-D7C3-D2EC-6BDE-F243B84D8A4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u="none" strike="noStrike" cap="none" dirty="0">
                <a:solidFill>
                  <a:srgbClr val="000000"/>
                </a:solidFill>
                <a:effectLst/>
                <a:latin typeface="Arial"/>
                <a:ea typeface="Arial"/>
                <a:cs typeface="Arial"/>
                <a:sym typeface="Arial"/>
              </a:rPr>
              <a:t>Offline golden dataset give you a stable yardstick. Production gives you the truth. Both are necessary. A golden dataset run can be at 95% success in CI and the agent can still be failing 30% of the time in prod because user inputs look nothing like your test set. Online eval closes that loop. The most powerful pattern I've seen is auto-curation: every time the live judge scores below a threshold, the trace goes into a review queue, gets relabelled by a human, and joins the golden set. Within a quarter your test bed reflects reality, not your assumptions.</a:t>
            </a:r>
          </a:p>
        </p:txBody>
      </p:sp>
      <p:sp>
        <p:nvSpPr>
          <p:cNvPr id="4" name="Slide Number Placeholder 3">
            <a:extLst>
              <a:ext uri="{FF2B5EF4-FFF2-40B4-BE49-F238E27FC236}">
                <a16:creationId xmlns:a16="http://schemas.microsoft.com/office/drawing/2014/main" id="{1AE4C326-EC62-1911-C8F5-7F279EB5AB98}"/>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9897848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1E868-AAE6-7B06-8AF8-EE5EEB1C8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F8441A-F085-B87B-C726-9692AAEDED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53F8AB-C259-0EFB-1794-A43F1F1CB8BC}"/>
              </a:ext>
            </a:extLst>
          </p:cNvPr>
          <p:cNvSpPr>
            <a:spLocks noGrp="1"/>
          </p:cNvSpPr>
          <p:nvPr>
            <p:ph type="body" idx="1"/>
          </p:nvPr>
        </p:nvSpPr>
        <p:spPr/>
        <p:txBody>
          <a:bodyPr/>
          <a:lstStyle/>
          <a:p>
            <a:pPr marL="0" lvl="0" indent="0" algn="l" rtl="0">
              <a:spcBef>
                <a:spcPts val="0"/>
              </a:spcBef>
              <a:spcAft>
                <a:spcPts val="0"/>
              </a:spcAft>
              <a:buNone/>
            </a:pPr>
            <a:r>
              <a:rPr lang="en-GB" sz="1200" b="1" i="0" u="none" strike="noStrike" cap="none" dirty="0">
                <a:solidFill>
                  <a:srgbClr val="000000"/>
                </a:solidFill>
                <a:effectLst/>
                <a:latin typeface="Arial"/>
                <a:ea typeface="Arial"/>
                <a:cs typeface="Arial"/>
                <a:sym typeface="Arial"/>
              </a:rPr>
              <a:t>Mirror live traffic, score both in parallel, promote the candidate when it’s statistically better.</a:t>
            </a:r>
            <a:br>
              <a:rPr lang="en-GB" sz="1200" b="0" i="0" u="none" strike="noStrike" cap="none" dirty="0">
                <a:solidFill>
                  <a:srgbClr val="000000"/>
                </a:solidFill>
                <a:effectLst/>
                <a:latin typeface="Arial"/>
                <a:ea typeface="Arial"/>
                <a:cs typeface="Arial"/>
                <a:sym typeface="Arial"/>
              </a:rPr>
            </a:br>
            <a:r>
              <a:rPr lang="en-GB" sz="1200" b="0" i="0" u="none" strike="noStrike" cap="none" dirty="0">
                <a:solidFill>
                  <a:srgbClr val="000000"/>
                </a:solidFill>
                <a:effectLst/>
                <a:latin typeface="Arial"/>
                <a:ea typeface="Arial"/>
                <a:cs typeface="Arial"/>
                <a:sym typeface="Arial"/>
              </a:rPr>
              <a:t>Shadow deploys and A/B tests are the bridge between "passes in CI" and "owns the production traffic." They let you make changes — to a prompt, a model, an architecture — and see the effect on the only metric that matters, before the user feels it.</a:t>
            </a:r>
            <a:endParaRPr lang="en-GB" dirty="0"/>
          </a:p>
        </p:txBody>
      </p:sp>
      <p:sp>
        <p:nvSpPr>
          <p:cNvPr id="4" name="Slide Number Placeholder 3">
            <a:extLst>
              <a:ext uri="{FF2B5EF4-FFF2-40B4-BE49-F238E27FC236}">
                <a16:creationId xmlns:a16="http://schemas.microsoft.com/office/drawing/2014/main" id="{E0551DF2-C42A-CDEE-494A-87EE207D60EE}"/>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1446149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A50D1-9B49-7E77-C8FD-4613FD5A69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7ADC42-D44C-424B-5BC4-06C2280292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DF8715-4F3F-8F18-3A41-3EA63925B7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6886765-C092-1F2F-7A4A-DA89C3952938}"/>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6459122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F3E44-C177-CDB9-56CC-C7994F2C66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773460-545B-C8A3-D29C-FDFA6EA61D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30ABBB-9CBA-0ABF-EAEF-265065A25E1E}"/>
              </a:ext>
            </a:extLst>
          </p:cNvPr>
          <p:cNvSpPr>
            <a:spLocks noGrp="1"/>
          </p:cNvSpPr>
          <p:nvPr>
            <p:ph type="body" idx="1"/>
          </p:nvPr>
        </p:nvSpPr>
        <p:spPr/>
        <p:txBody>
          <a:bodyPr/>
          <a:lstStyle/>
          <a:p>
            <a:pPr marL="0" lvl="0" indent="0" algn="l" rtl="0">
              <a:spcBef>
                <a:spcPts val="0"/>
              </a:spcBef>
              <a:spcAft>
                <a:spcPts val="0"/>
              </a:spcAft>
              <a:buNone/>
            </a:pPr>
            <a:endParaRPr lang="en-GB" dirty="0"/>
          </a:p>
        </p:txBody>
      </p:sp>
      <p:sp>
        <p:nvSpPr>
          <p:cNvPr id="4" name="Slide Number Placeholder 3">
            <a:extLst>
              <a:ext uri="{FF2B5EF4-FFF2-40B4-BE49-F238E27FC236}">
                <a16:creationId xmlns:a16="http://schemas.microsoft.com/office/drawing/2014/main" id="{BE63218B-CFD2-0965-BD6D-9221696C19D5}"/>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8437015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1289E-41B3-897A-50D2-18C6BCD224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E30A05-A806-024B-767C-4700BACD6E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E5654D-20F9-FA41-DA9F-F2BB782B182D}"/>
              </a:ext>
            </a:extLst>
          </p:cNvPr>
          <p:cNvSpPr>
            <a:spLocks noGrp="1"/>
          </p:cNvSpPr>
          <p:nvPr>
            <p:ph type="body" idx="1"/>
          </p:nvPr>
        </p:nvSpPr>
        <p:spPr/>
        <p:txBody>
          <a:bodyPr/>
          <a:lstStyle/>
          <a:p>
            <a:pPr marL="0" lvl="0" indent="0" algn="l" rtl="0">
              <a:spcBef>
                <a:spcPts val="0"/>
              </a:spcBef>
              <a:spcAft>
                <a:spcPts val="0"/>
              </a:spcAft>
              <a:buNone/>
            </a:pPr>
            <a:endParaRPr lang="en-GB" dirty="0"/>
          </a:p>
        </p:txBody>
      </p:sp>
      <p:sp>
        <p:nvSpPr>
          <p:cNvPr id="4" name="Slide Number Placeholder 3">
            <a:extLst>
              <a:ext uri="{FF2B5EF4-FFF2-40B4-BE49-F238E27FC236}">
                <a16:creationId xmlns:a16="http://schemas.microsoft.com/office/drawing/2014/main" id="{F6A91D3D-DD7A-3BB4-E094-6D07FE376711}"/>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40088752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9DE19-9295-D81A-B79E-5955BAC08D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B756AF-77B7-C4EA-81BA-779A1CC388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DE4957-212D-A9B8-ED19-8725CE79BDEE}"/>
              </a:ext>
            </a:extLst>
          </p:cNvPr>
          <p:cNvSpPr>
            <a:spLocks noGrp="1"/>
          </p:cNvSpPr>
          <p:nvPr>
            <p:ph type="body" idx="1"/>
          </p:nvPr>
        </p:nvSpPr>
        <p:spPr/>
        <p:txBody>
          <a:bodyPr/>
          <a:lstStyle/>
          <a:p>
            <a:pPr marL="0" lvl="0" indent="0" algn="l" rtl="0">
              <a:spcBef>
                <a:spcPts val="0"/>
              </a:spcBef>
              <a:spcAft>
                <a:spcPts val="0"/>
              </a:spcAft>
              <a:buNone/>
            </a:pPr>
            <a:endParaRPr lang="en-GB" dirty="0"/>
          </a:p>
        </p:txBody>
      </p:sp>
      <p:sp>
        <p:nvSpPr>
          <p:cNvPr id="4" name="Slide Number Placeholder 3">
            <a:extLst>
              <a:ext uri="{FF2B5EF4-FFF2-40B4-BE49-F238E27FC236}">
                <a16:creationId xmlns:a16="http://schemas.microsoft.com/office/drawing/2014/main" id="{2A28A1DE-8B00-3315-5C6E-5265D55003FE}"/>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36747949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33D32-9482-D359-ADFC-A44467BD9C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4D4E96-DAAB-CFFD-834B-729DB655EC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C25F00-CB6F-D83A-1045-0BD9DE0F8E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15F646-5082-84F8-C7B1-A51C6C1A4220}"/>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5457521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59594-24BC-A701-5428-7FABC0F71C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8E316F-86D3-A45D-52D6-D1EC2D34C2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A507BE-3B9D-5DE4-4DFE-9427591721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8938C1-8E00-BB00-D010-BCF0D22CEEBA}"/>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5744017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4F2EF-6457-A032-BFF0-9EEEB065A9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58EA86-2385-5242-39BE-F97CE13D2D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4DE2B3-5DD8-F715-2FCB-40991755AE96}"/>
              </a:ext>
            </a:extLst>
          </p:cNvPr>
          <p:cNvSpPr>
            <a:spLocks noGrp="1"/>
          </p:cNvSpPr>
          <p:nvPr>
            <p:ph type="body" idx="1"/>
          </p:nvPr>
        </p:nvSpPr>
        <p:spPr/>
        <p:txBody>
          <a:bodyPr/>
          <a:lstStyle/>
          <a:p>
            <a:pPr marL="0" lvl="0" indent="0" algn="l" rtl="0">
              <a:spcBef>
                <a:spcPts val="0"/>
              </a:spcBef>
              <a:spcAft>
                <a:spcPts val="0"/>
              </a:spcAft>
              <a:buNone/>
            </a:pPr>
            <a:endParaRPr lang="en-GB" dirty="0"/>
          </a:p>
        </p:txBody>
      </p:sp>
      <p:sp>
        <p:nvSpPr>
          <p:cNvPr id="4" name="Slide Number Placeholder 3">
            <a:extLst>
              <a:ext uri="{FF2B5EF4-FFF2-40B4-BE49-F238E27FC236}">
                <a16:creationId xmlns:a16="http://schemas.microsoft.com/office/drawing/2014/main" id="{6B8D8ACD-8ADC-65F5-2FD0-E159A03FB4FC}"/>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40898392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A2872-94F4-052C-42A0-646EB75A46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C82FCC-3FE1-1DA8-31B2-7AE4405626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E2D6E5-8121-C9BE-11BB-657C5F1893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7BBDC8-3CDE-A02A-7B4D-41B99CE947BE}"/>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4799678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41AFC-106E-821B-B056-A5AFAFE64E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42822D-9FE8-1549-7F55-71DFCC6AD6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5606A8-0532-EED2-2B1A-ECBA547AB3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C5543E-AD75-7460-2A08-D77283B8BEA2}"/>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21157023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F215C-4355-D3E7-8203-8FC9BA2067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A7CE27-5D52-2154-4018-D0ED13A302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83669D-34E1-B2A5-B643-B3A177110D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3BA1B2-318A-5F83-9B77-EF671AF7671D}"/>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362881680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E0C23-DB7B-B2C4-7549-D8C0BC9187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941F0D-BB52-E4A1-CFCA-C98DF24136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4A4AB3-9B56-15F6-D689-D42F828F8A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5E6742-16DD-68C6-9C00-72338CF4EED0}"/>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5685260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0CD66-4F29-B0ED-2655-5B2D1792DA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E0B420-08A2-AF54-6C08-65F80D2871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4E8E16-4C1E-CBAA-1A9D-159F3C3752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358E95-D71C-D665-E13E-EC721E8AF864}"/>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38134210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2BDBE-6A1F-F530-AD52-7A0DB3A32A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614005-75E4-72AB-D355-0EA5057A46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67755C-9E84-2CCB-619A-0451D8D4D8A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7E92D8B-920F-73A3-5822-0EB18D0D592A}"/>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7220257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B17BB-576B-C74A-B10B-CC7B6D9CD6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8EB791-8539-6070-E65F-3EB9F48029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CE5C8A-4AD5-19AA-6BE9-29BC16C487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7F6013-DC80-F9F3-1DC7-34719620DC79}"/>
              </a:ext>
            </a:extLst>
          </p:cNvPr>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315811830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326EA-A6E8-58C4-248B-C214CB6C7F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87304C-56F0-BB46-6585-242E232670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12FC14-0C88-6546-C944-878741DC1FB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25479BC-DECB-E598-D51B-4B4D244FD9D0}"/>
              </a:ext>
            </a:extLst>
          </p:cNvPr>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408195577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Shape 0"/>
          <p:cNvSpPr/>
          <p:nvPr/>
        </p:nvSpPr>
        <p:spPr>
          <a:xfrm>
            <a:off x="502920" y="1874520"/>
            <a:ext cx="1965960" cy="420624"/>
          </a:xfrm>
          <a:prstGeom prst="roundRect">
            <a:avLst>
              <a:gd name="adj" fmla="val 50000"/>
            </a:avLst>
          </a:prstGeom>
          <a:solidFill>
            <a:srgbClr val="1A1330"/>
          </a:solidFill>
          <a:ln w="15875">
            <a:solidFill>
              <a:srgbClr val="E8632A"/>
            </a:solidFill>
            <a:prstDash val="solid"/>
          </a:ln>
        </p:spPr>
        <p:txBody>
          <a:bodyPr/>
          <a:lstStyle/>
          <a:p>
            <a:endParaRPr lang="en-US"/>
          </a:p>
        </p:txBody>
      </p:sp>
      <p:sp>
        <p:nvSpPr>
          <p:cNvPr id="5" name="Text 1"/>
          <p:cNvSpPr/>
          <p:nvPr/>
        </p:nvSpPr>
        <p:spPr>
          <a:xfrm>
            <a:off x="502920" y="1874520"/>
            <a:ext cx="1965960" cy="420624"/>
          </a:xfrm>
          <a:prstGeom prst="rect">
            <a:avLst/>
          </a:prstGeom>
          <a:noFill/>
          <a:ln/>
        </p:spPr>
        <p:txBody>
          <a:bodyPr wrap="square" lIns="0" tIns="0" rIns="0" bIns="0" rtlCol="0" anchor="ctr"/>
          <a:lstStyle/>
          <a:p>
            <a:pPr marL="0" indent="0" algn="ctr">
              <a:buNone/>
            </a:pPr>
            <a:r>
              <a:rPr lang="en-US" sz="1150" b="1" kern="0" spc="200">
                <a:solidFill>
                  <a:srgbClr val="E8632A"/>
                </a:solidFill>
                <a:latin typeface="Arial" pitchFamily="34" charset="0"/>
                <a:ea typeface="Arial" pitchFamily="34" charset="-122"/>
                <a:cs typeface="Arial" pitchFamily="34" charset="-120"/>
              </a:rPr>
              <a:t>HACK SESSION</a:t>
            </a:r>
            <a:endParaRPr lang="en-US" sz="1150"/>
          </a:p>
        </p:txBody>
      </p:sp>
      <p:sp>
        <p:nvSpPr>
          <p:cNvPr id="6" name="Text 2"/>
          <p:cNvSpPr/>
          <p:nvPr/>
        </p:nvSpPr>
        <p:spPr>
          <a:xfrm>
            <a:off x="502920" y="2606040"/>
            <a:ext cx="7040880" cy="1463040"/>
          </a:xfrm>
          <a:prstGeom prst="rect">
            <a:avLst/>
          </a:prstGeom>
          <a:noFill/>
          <a:ln/>
        </p:spPr>
        <p:txBody>
          <a:bodyPr wrap="square" lIns="0" tIns="0" rIns="0" bIns="0" rtlCol="0" anchor="t"/>
          <a:lstStyle/>
          <a:p>
            <a:pPr marL="0" indent="0">
              <a:lnSpc>
                <a:spcPct val="102000"/>
              </a:lnSpc>
              <a:buNone/>
            </a:pPr>
            <a:r>
              <a:rPr lang="en-US" sz="4600" b="1" kern="0" spc="100" dirty="0">
                <a:solidFill>
                  <a:srgbClr val="FFFFFF"/>
                </a:solidFill>
                <a:latin typeface="Arial" pitchFamily="34" charset="0"/>
                <a:ea typeface="Arial" pitchFamily="34" charset="-122"/>
                <a:cs typeface="Arial" pitchFamily="34" charset="-120"/>
              </a:rPr>
              <a:t>Keeping Eyes on Your Agents​</a:t>
            </a:r>
            <a:endParaRPr lang="en-US" sz="4600" dirty="0"/>
          </a:p>
        </p:txBody>
      </p:sp>
      <p:sp>
        <p:nvSpPr>
          <p:cNvPr id="8" name="Text 4"/>
          <p:cNvSpPr/>
          <p:nvPr/>
        </p:nvSpPr>
        <p:spPr>
          <a:xfrm>
            <a:off x="512064" y="4754880"/>
            <a:ext cx="3657600" cy="274320"/>
          </a:xfrm>
          <a:prstGeom prst="rect">
            <a:avLst/>
          </a:prstGeom>
          <a:noFill/>
          <a:ln/>
        </p:spPr>
        <p:txBody>
          <a:bodyPr wrap="square" lIns="0" tIns="0" rIns="0" bIns="0" rtlCol="0" anchor="ctr"/>
          <a:lstStyle/>
          <a:p>
            <a:pPr marL="0" indent="0">
              <a:buNone/>
            </a:pPr>
            <a:r>
              <a:rPr lang="en-US" sz="1200" b="1" kern="0" spc="300">
                <a:solidFill>
                  <a:srgbClr val="1FB6A6"/>
                </a:solidFill>
                <a:latin typeface="Arial" pitchFamily="34" charset="0"/>
                <a:ea typeface="Arial" pitchFamily="34" charset="-122"/>
                <a:cs typeface="Arial" pitchFamily="34" charset="-120"/>
              </a:rPr>
              <a:t>SPEAKER</a:t>
            </a:r>
            <a:endParaRPr lang="en-US" sz="1200"/>
          </a:p>
        </p:txBody>
      </p:sp>
      <p:sp>
        <p:nvSpPr>
          <p:cNvPr id="9" name="Shape 5"/>
          <p:cNvSpPr/>
          <p:nvPr/>
        </p:nvSpPr>
        <p:spPr>
          <a:xfrm>
            <a:off x="512064" y="5047488"/>
            <a:ext cx="1280160" cy="41148"/>
          </a:xfrm>
          <a:prstGeom prst="rect">
            <a:avLst/>
          </a:prstGeom>
          <a:solidFill>
            <a:srgbClr val="1FB6A6"/>
          </a:solidFill>
          <a:ln/>
        </p:spPr>
        <p:txBody>
          <a:bodyPr/>
          <a:lstStyle/>
          <a:p>
            <a:endParaRPr lang="en-US"/>
          </a:p>
        </p:txBody>
      </p:sp>
      <p:sp>
        <p:nvSpPr>
          <p:cNvPr id="10" name="Text 6"/>
          <p:cNvSpPr/>
          <p:nvPr/>
        </p:nvSpPr>
        <p:spPr>
          <a:xfrm>
            <a:off x="502920" y="5175504"/>
            <a:ext cx="6858000" cy="457200"/>
          </a:xfrm>
          <a:prstGeom prst="rect">
            <a:avLst/>
          </a:prstGeom>
          <a:noFill/>
          <a:ln/>
        </p:spPr>
        <p:txBody>
          <a:bodyPr wrap="square" lIns="0" tIns="0" rIns="0" bIns="0" rtlCol="0" anchor="ctr"/>
          <a:lstStyle/>
          <a:p>
            <a:pPr marL="0" indent="0">
              <a:buNone/>
            </a:pPr>
            <a:r>
              <a:rPr lang="en-US" sz="2300" b="1" dirty="0">
                <a:solidFill>
                  <a:srgbClr val="FFFFFF"/>
                </a:solidFill>
                <a:latin typeface="Arial" pitchFamily="34" charset="0"/>
                <a:ea typeface="Arial" pitchFamily="34" charset="-122"/>
                <a:cs typeface="Arial" pitchFamily="34" charset="-120"/>
              </a:rPr>
              <a:t>Dr. Aditya Bhattacharya</a:t>
            </a:r>
          </a:p>
        </p:txBody>
      </p:sp>
      <p:sp>
        <p:nvSpPr>
          <p:cNvPr id="11" name="Text 7"/>
          <p:cNvSpPr/>
          <p:nvPr/>
        </p:nvSpPr>
        <p:spPr>
          <a:xfrm>
            <a:off x="512064" y="5687568"/>
            <a:ext cx="6949440" cy="365760"/>
          </a:xfrm>
          <a:prstGeom prst="rect">
            <a:avLst/>
          </a:prstGeom>
          <a:noFill/>
          <a:ln/>
        </p:spPr>
        <p:txBody>
          <a:bodyPr wrap="square" lIns="0" tIns="0" rIns="0" bIns="0" rtlCol="0" anchor="ctr"/>
          <a:lstStyle/>
          <a:p>
            <a:pPr marL="0" indent="0">
              <a:buNone/>
            </a:pPr>
            <a:endParaRPr lang="en-US" sz="1400">
              <a:solidFill>
                <a:srgbClr val="AEB6CF"/>
              </a:solidFill>
              <a:ea typeface="Calibri"/>
              <a:cs typeface="Calibri"/>
            </a:endParaRPr>
          </a:p>
        </p:txBody>
      </p:sp>
      <p:sp>
        <p:nvSpPr>
          <p:cNvPr id="21" name="Text Footer Date"/>
          <p:cNvSpPr/>
          <p:nvPr/>
        </p:nvSpPr>
        <p:spPr>
          <a:xfrm>
            <a:off x="502920" y="6400800"/>
            <a:ext cx="7315200" cy="320040"/>
          </a:xfrm>
          <a:prstGeom prst="rect">
            <a:avLst/>
          </a:prstGeom>
          <a:noFill/>
          <a:ln/>
        </p:spPr>
        <p:txBody>
          <a:bodyPr wrap="square" lIns="0" tIns="0" rIns="0" bIns="0" rtlCol="0" anchor="ctr"/>
          <a:lstStyle/>
          <a:p>
            <a:pPr marL="0" indent="0">
              <a:buNone/>
            </a:pPr>
            <a:r>
              <a:rPr lang="en-US" sz="1100">
                <a:solidFill>
                  <a:srgbClr val="9AA4C0"/>
                </a:solidFill>
                <a:latin typeface="Calibri" pitchFamily="34" charset="0"/>
                <a:ea typeface="Calibri" pitchFamily="34" charset="-122"/>
                <a:cs typeface="Calibri" pitchFamily="34" charset="-120"/>
              </a:rPr>
              <a:t>August 05–08, 2026  ·  The Leela Bhartiya City, Bengaluru</a:t>
            </a:r>
            <a:endParaRPr lang="en-US" sz="1100"/>
          </a:p>
        </p:txBody>
      </p:sp>
      <p:sp>
        <p:nvSpPr>
          <p:cNvPr id="22" name="Text Footer HxAI"/>
          <p:cNvSpPr/>
          <p:nvPr/>
        </p:nvSpPr>
        <p:spPr>
          <a:xfrm>
            <a:off x="8229600" y="6400800"/>
            <a:ext cx="3456432" cy="320040"/>
          </a:xfrm>
          <a:prstGeom prst="rect">
            <a:avLst/>
          </a:prstGeom>
          <a:noFill/>
          <a:ln/>
        </p:spPr>
        <p:txBody>
          <a:bodyPr wrap="square" lIns="0" tIns="0" rIns="0" bIns="0" rtlCol="0" anchor="ctr"/>
          <a:lstStyle/>
          <a:p>
            <a:pPr marL="0" indent="0" algn="r">
              <a:buNone/>
            </a:pPr>
            <a:r>
              <a:rPr lang="en-US" sz="1300" b="1">
                <a:solidFill>
                  <a:srgbClr val="2D7FF9"/>
                </a:solidFill>
                <a:latin typeface="Arial" pitchFamily="34" charset="0"/>
                <a:ea typeface="Arial" pitchFamily="34" charset="-122"/>
                <a:cs typeface="Arial" pitchFamily="34" charset="-120"/>
              </a:rPr>
              <a:t>Human</a:t>
            </a:r>
            <a:r>
              <a:rPr lang="en-US" sz="1300">
                <a:solidFill>
                  <a:srgbClr val="9AA4C0"/>
                </a:solidFill>
                <a:latin typeface="Arial" pitchFamily="34" charset="0"/>
                <a:ea typeface="Arial" pitchFamily="34" charset="-122"/>
                <a:cs typeface="Arial" pitchFamily="34" charset="-120"/>
              </a:rPr>
              <a:t> × </a:t>
            </a:r>
            <a:r>
              <a:rPr lang="en-US" sz="1300" b="1">
                <a:solidFill>
                  <a:srgbClr val="1FB6A6"/>
                </a:solidFill>
                <a:latin typeface="Arial" pitchFamily="34" charset="0"/>
                <a:ea typeface="Arial" pitchFamily="34" charset="-122"/>
                <a:cs typeface="Arial" pitchFamily="34" charset="-120"/>
              </a:rPr>
              <a:t>AI</a:t>
            </a:r>
            <a:endParaRPr lang="en-US" sz="1300"/>
          </a:p>
        </p:txBody>
      </p:sp>
      <p:pic>
        <p:nvPicPr>
          <p:cNvPr id="14" name="Picture 13" descr="preencoded.png">
            <a:extLst>
              <a:ext uri="{FF2B5EF4-FFF2-40B4-BE49-F238E27FC236}">
                <a16:creationId xmlns:a16="http://schemas.microsoft.com/office/drawing/2014/main" id="{B8DF4AD5-0739-02A6-00EF-6EB115F12920}"/>
              </a:ext>
            </a:extLst>
          </p:cNvPr>
          <p:cNvPicPr>
            <a:picLocks noChangeAspect="1"/>
          </p:cNvPicPr>
          <p:nvPr/>
        </p:nvPicPr>
        <p:blipFill>
          <a:blip r:embed="rId4"/>
          <a:srcRect b="-176"/>
          <a:stretch>
            <a:fillRect/>
          </a:stretch>
        </p:blipFill>
        <p:spPr>
          <a:xfrm>
            <a:off x="6820429" y="809097"/>
            <a:ext cx="5112808" cy="5068578"/>
          </a:xfrm>
          <a:prstGeom prst="rect">
            <a:avLst/>
          </a:prstGeom>
        </p:spPr>
      </p:pic>
      <p:pic>
        <p:nvPicPr>
          <p:cNvPr id="16" name="Picture 15" descr="A black and white logo  AI-generated content may be incorrect.">
            <a:extLst>
              <a:ext uri="{FF2B5EF4-FFF2-40B4-BE49-F238E27FC236}">
                <a16:creationId xmlns:a16="http://schemas.microsoft.com/office/drawing/2014/main" id="{1B29DB45-34B1-B5D2-4B4E-6C4F784E1993}"/>
              </a:ext>
            </a:extLst>
          </p:cNvPr>
          <p:cNvPicPr>
            <a:picLocks noChangeAspect="1"/>
          </p:cNvPicPr>
          <p:nvPr/>
        </p:nvPicPr>
        <p:blipFill>
          <a:blip r:embed="rId5"/>
          <a:stretch>
            <a:fillRect/>
          </a:stretch>
        </p:blipFill>
        <p:spPr>
          <a:xfrm>
            <a:off x="507998" y="272006"/>
            <a:ext cx="3196169" cy="577824"/>
          </a:xfrm>
          <a:prstGeom prst="rect">
            <a:avLst/>
          </a:prstGeom>
        </p:spPr>
      </p:pic>
      <p:sp>
        <p:nvSpPr>
          <p:cNvPr id="2" name="Text 6">
            <a:extLst>
              <a:ext uri="{FF2B5EF4-FFF2-40B4-BE49-F238E27FC236}">
                <a16:creationId xmlns:a16="http://schemas.microsoft.com/office/drawing/2014/main" id="{3B99C2B8-4E73-9C50-5530-E3797A796E4F}"/>
              </a:ext>
            </a:extLst>
          </p:cNvPr>
          <p:cNvSpPr/>
          <p:nvPr/>
        </p:nvSpPr>
        <p:spPr>
          <a:xfrm>
            <a:off x="502920" y="5514456"/>
            <a:ext cx="6858000" cy="45720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Applied AI Lead, Nutanix</a:t>
            </a:r>
            <a:endParaRPr lang="en-US" sz="2000" b="1" dirty="0">
              <a:solidFill>
                <a:srgbClr val="FFFFFF"/>
              </a:solidFill>
              <a:latin typeface="Arial" pitchFamily="34" charset="0"/>
              <a:ea typeface="Arial" pitchFamily="34" charset="-122"/>
              <a:cs typeface="Arial" pitchFamily="34" charset="-12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632114E-12E7-7155-A7DA-AF2F85C218A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6D93CDB-E710-9960-24B3-594FE67B39A6}"/>
              </a:ext>
            </a:extLst>
          </p:cNvPr>
          <p:cNvSpPr/>
          <p:nvPr/>
        </p:nvSpPr>
        <p:spPr>
          <a:xfrm>
            <a:off x="502920" y="548640"/>
            <a:ext cx="82296" cy="603504"/>
          </a:xfrm>
          <a:prstGeom prst="rect">
            <a:avLst/>
          </a:prstGeom>
          <a:solidFill>
            <a:srgbClr val="FE7202"/>
          </a:solidFill>
          <a:ln/>
        </p:spPr>
        <p:txBody>
          <a:bodyPr/>
          <a:lstStyle/>
          <a:p>
            <a:endParaRPr lang="en-US"/>
          </a:p>
        </p:txBody>
      </p:sp>
      <p:sp>
        <p:nvSpPr>
          <p:cNvPr id="3" name="Text 1">
            <a:extLst>
              <a:ext uri="{FF2B5EF4-FFF2-40B4-BE49-F238E27FC236}">
                <a16:creationId xmlns:a16="http://schemas.microsoft.com/office/drawing/2014/main" id="{A98D09E8-44B5-4A76-68D7-49214D94ECDB}"/>
              </a:ext>
            </a:extLst>
          </p:cNvPr>
          <p:cNvSpPr/>
          <p:nvPr/>
        </p:nvSpPr>
        <p:spPr>
          <a:xfrm>
            <a:off x="731520" y="502920"/>
            <a:ext cx="10058400" cy="713232"/>
          </a:xfrm>
          <a:prstGeom prst="rect">
            <a:avLst/>
          </a:prstGeom>
          <a:noFill/>
          <a:ln/>
        </p:spPr>
        <p:txBody>
          <a:bodyPr wrap="square" lIns="0" tIns="0" rIns="0" bIns="0" rtlCol="0" anchor="ctr"/>
          <a:lstStyle/>
          <a:p>
            <a:r>
              <a:rPr lang="en-US" sz="2900" b="1">
                <a:solidFill>
                  <a:srgbClr val="0F2247"/>
                </a:solidFill>
                <a:latin typeface="Arial"/>
                <a:ea typeface="+mn-lt"/>
                <a:cs typeface="Arial"/>
              </a:rPr>
              <a:t>SCAN THIS QR CODE</a:t>
            </a:r>
            <a:endParaRPr lang="en-US"/>
          </a:p>
        </p:txBody>
      </p:sp>
      <p:sp>
        <p:nvSpPr>
          <p:cNvPr id="4" name="Shape 2">
            <a:extLst>
              <a:ext uri="{FF2B5EF4-FFF2-40B4-BE49-F238E27FC236}">
                <a16:creationId xmlns:a16="http://schemas.microsoft.com/office/drawing/2014/main" id="{2083AC64-37FB-2B7C-A60C-21E2E72B1776}"/>
              </a:ext>
            </a:extLst>
          </p:cNvPr>
          <p:cNvSpPr/>
          <p:nvPr/>
        </p:nvSpPr>
        <p:spPr>
          <a:xfrm>
            <a:off x="502920" y="1325880"/>
            <a:ext cx="11183112" cy="27432"/>
          </a:xfrm>
          <a:prstGeom prst="rect">
            <a:avLst/>
          </a:prstGeom>
          <a:solidFill>
            <a:srgbClr val="FE7202"/>
          </a:solidFill>
          <a:ln/>
        </p:spPr>
        <p:txBody>
          <a:bodyPr/>
          <a:lstStyle/>
          <a:p>
            <a:endParaRPr lang="en-US"/>
          </a:p>
        </p:txBody>
      </p:sp>
      <p:sp>
        <p:nvSpPr>
          <p:cNvPr id="19" name="Text 11">
            <a:extLst>
              <a:ext uri="{FF2B5EF4-FFF2-40B4-BE49-F238E27FC236}">
                <a16:creationId xmlns:a16="http://schemas.microsoft.com/office/drawing/2014/main" id="{DA869DD1-E5F6-ADC3-29AC-6F3C62827CEF}"/>
              </a:ext>
            </a:extLst>
          </p:cNvPr>
          <p:cNvSpPr/>
          <p:nvPr/>
        </p:nvSpPr>
        <p:spPr>
          <a:xfrm>
            <a:off x="0" y="6419088"/>
            <a:ext cx="12191695" cy="320040"/>
          </a:xfrm>
          <a:prstGeom prst="rect">
            <a:avLst/>
          </a:prstGeom>
          <a:noFill/>
          <a:ln/>
        </p:spPr>
        <p:txBody>
          <a:bodyPr wrap="square" lIns="0" tIns="0" rIns="0" bIns="0" rtlCol="0" anchor="ctr"/>
          <a:lstStyle/>
          <a:p>
            <a:pPr marL="0" indent="0" algn="ctr">
              <a:buNone/>
            </a:pPr>
            <a:r>
              <a:rPr lang="en-US" sz="950" kern="0" spc="200">
                <a:solidFill>
                  <a:srgbClr val="8A93A8"/>
                </a:solidFill>
                <a:latin typeface="Arial" pitchFamily="34" charset="0"/>
                <a:ea typeface="Arial" pitchFamily="34" charset="-122"/>
                <a:cs typeface="Arial" pitchFamily="34" charset="-120"/>
              </a:rPr>
              <a:t>D A T A H A C K   S U M M I T   2 0 2 6</a:t>
            </a:r>
            <a:endParaRPr lang="en-US" sz="950"/>
          </a:p>
        </p:txBody>
      </p:sp>
      <p:pic>
        <p:nvPicPr>
          <p:cNvPr id="20" name="Picture 19" descr="preencoded.png">
            <a:extLst>
              <a:ext uri="{FF2B5EF4-FFF2-40B4-BE49-F238E27FC236}">
                <a16:creationId xmlns:a16="http://schemas.microsoft.com/office/drawing/2014/main" id="{6AE37FD4-7FC0-7C24-5804-7D90B078A753}"/>
              </a:ext>
            </a:extLst>
          </p:cNvPr>
          <p:cNvPicPr>
            <a:picLocks noChangeAspect="1"/>
          </p:cNvPicPr>
          <p:nvPr/>
        </p:nvPicPr>
        <p:blipFill>
          <a:blip r:embed="rId3"/>
          <a:srcRect b="-176"/>
          <a:stretch>
            <a:fillRect/>
          </a:stretch>
        </p:blipFill>
        <p:spPr>
          <a:xfrm>
            <a:off x="10792419" y="367621"/>
            <a:ext cx="852695" cy="852309"/>
          </a:xfrm>
          <a:prstGeom prst="rect">
            <a:avLst/>
          </a:prstGeom>
        </p:spPr>
      </p:pic>
      <p:sp>
        <p:nvSpPr>
          <p:cNvPr id="10" name="Text 5">
            <a:extLst>
              <a:ext uri="{FF2B5EF4-FFF2-40B4-BE49-F238E27FC236}">
                <a16:creationId xmlns:a16="http://schemas.microsoft.com/office/drawing/2014/main" id="{0CCE9079-A86A-9372-9ADB-DBAC133F295C}"/>
              </a:ext>
            </a:extLst>
          </p:cNvPr>
          <p:cNvSpPr/>
          <p:nvPr/>
        </p:nvSpPr>
        <p:spPr>
          <a:xfrm>
            <a:off x="6340041" y="1836421"/>
            <a:ext cx="5463941" cy="710865"/>
          </a:xfrm>
          <a:prstGeom prst="rect">
            <a:avLst/>
          </a:prstGeom>
          <a:noFill/>
          <a:ln/>
        </p:spPr>
        <p:txBody>
          <a:bodyPr wrap="square" lIns="0" tIns="0" rIns="0" bIns="0" rtlCol="0" anchor="ctr"/>
          <a:lstStyle/>
          <a:p>
            <a:r>
              <a:rPr lang="en-US" sz="2800" b="1">
                <a:solidFill>
                  <a:srgbClr val="0F2247"/>
                </a:solidFill>
                <a:ea typeface="+mn-lt"/>
                <a:cs typeface="+mn-lt"/>
              </a:rPr>
              <a:t>Scan to access session resources</a:t>
            </a:r>
            <a:endParaRPr lang="en-US" sz="2800" b="1">
              <a:ea typeface="Calibri" panose="020F0502020204030204"/>
              <a:cs typeface="Calibri" panose="020F0502020204030204"/>
            </a:endParaRPr>
          </a:p>
        </p:txBody>
      </p:sp>
      <p:sp>
        <p:nvSpPr>
          <p:cNvPr id="12" name="Text 6">
            <a:extLst>
              <a:ext uri="{FF2B5EF4-FFF2-40B4-BE49-F238E27FC236}">
                <a16:creationId xmlns:a16="http://schemas.microsoft.com/office/drawing/2014/main" id="{ABB24D4E-0E8A-852A-A0B3-CB3356346CC3}"/>
              </a:ext>
            </a:extLst>
          </p:cNvPr>
          <p:cNvSpPr/>
          <p:nvPr/>
        </p:nvSpPr>
        <p:spPr>
          <a:xfrm>
            <a:off x="6340041" y="2280426"/>
            <a:ext cx="5303520" cy="914400"/>
          </a:xfrm>
          <a:prstGeom prst="rect">
            <a:avLst/>
          </a:prstGeom>
          <a:noFill/>
          <a:ln/>
        </p:spPr>
        <p:txBody>
          <a:bodyPr wrap="square" lIns="0" tIns="0" rIns="0" bIns="0" rtlCol="0" anchor="ctr"/>
          <a:lstStyle/>
          <a:p>
            <a:pPr>
              <a:lnSpc>
                <a:spcPct val="120000"/>
              </a:lnSpc>
            </a:pPr>
            <a:r>
              <a:rPr lang="en-US" sz="1400">
                <a:solidFill>
                  <a:srgbClr val="3A4866"/>
                </a:solidFill>
                <a:ea typeface="+mn-lt"/>
                <a:cs typeface="+mn-lt"/>
              </a:rPr>
              <a:t>All files for today’s session in one place</a:t>
            </a:r>
            <a:endParaRPr lang="en-US"/>
          </a:p>
        </p:txBody>
      </p:sp>
      <p:sp>
        <p:nvSpPr>
          <p:cNvPr id="14" name="Text 7">
            <a:extLst>
              <a:ext uri="{FF2B5EF4-FFF2-40B4-BE49-F238E27FC236}">
                <a16:creationId xmlns:a16="http://schemas.microsoft.com/office/drawing/2014/main" id="{25E1FFEA-9D5E-B31D-32EF-5A2E5C2B01FF}"/>
              </a:ext>
            </a:extLst>
          </p:cNvPr>
          <p:cNvSpPr/>
          <p:nvPr/>
        </p:nvSpPr>
        <p:spPr>
          <a:xfrm>
            <a:off x="6720840" y="3193101"/>
            <a:ext cx="4937760" cy="384048"/>
          </a:xfrm>
          <a:prstGeom prst="rect">
            <a:avLst/>
          </a:prstGeom>
          <a:noFill/>
          <a:ln/>
        </p:spPr>
        <p:txBody>
          <a:bodyPr wrap="square" lIns="0" tIns="0" rIns="0" bIns="0" rtlCol="0" anchor="ctr"/>
          <a:lstStyle/>
          <a:p>
            <a:r>
              <a:rPr lang="en-US" sz="1350">
                <a:solidFill>
                  <a:srgbClr val="16264A"/>
                </a:solidFill>
                <a:ea typeface="+mn-lt"/>
                <a:cs typeface="+mn-lt"/>
              </a:rPr>
              <a:t>Datasets and sample files</a:t>
            </a:r>
            <a:endParaRPr lang="en-US"/>
          </a:p>
        </p:txBody>
      </p:sp>
      <p:sp>
        <p:nvSpPr>
          <p:cNvPr id="16" name="Text 8">
            <a:extLst>
              <a:ext uri="{FF2B5EF4-FFF2-40B4-BE49-F238E27FC236}">
                <a16:creationId xmlns:a16="http://schemas.microsoft.com/office/drawing/2014/main" id="{22BD7E4D-8C74-0052-19C3-0AC687508A15}"/>
              </a:ext>
            </a:extLst>
          </p:cNvPr>
          <p:cNvSpPr/>
          <p:nvPr/>
        </p:nvSpPr>
        <p:spPr>
          <a:xfrm>
            <a:off x="6720840" y="3705165"/>
            <a:ext cx="4937760" cy="384048"/>
          </a:xfrm>
          <a:prstGeom prst="rect">
            <a:avLst/>
          </a:prstGeom>
          <a:noFill/>
          <a:ln/>
        </p:spPr>
        <p:txBody>
          <a:bodyPr wrap="square" lIns="0" tIns="0" rIns="0" bIns="0" rtlCol="0" anchor="ctr"/>
          <a:lstStyle/>
          <a:p>
            <a:r>
              <a:rPr lang="en-US" sz="1350">
                <a:solidFill>
                  <a:srgbClr val="16264A"/>
                </a:solidFill>
                <a:ea typeface="+mn-lt"/>
                <a:cs typeface="+mn-lt"/>
              </a:rPr>
              <a:t>Presentation deck</a:t>
            </a:r>
            <a:endParaRPr lang="en-US"/>
          </a:p>
        </p:txBody>
      </p:sp>
      <p:sp>
        <p:nvSpPr>
          <p:cNvPr id="18" name="Text 9">
            <a:extLst>
              <a:ext uri="{FF2B5EF4-FFF2-40B4-BE49-F238E27FC236}">
                <a16:creationId xmlns:a16="http://schemas.microsoft.com/office/drawing/2014/main" id="{D62E7F96-C16C-A479-AD18-DAB3BDC59B26}"/>
              </a:ext>
            </a:extLst>
          </p:cNvPr>
          <p:cNvSpPr/>
          <p:nvPr/>
        </p:nvSpPr>
        <p:spPr>
          <a:xfrm>
            <a:off x="6720840" y="4217229"/>
            <a:ext cx="4937760" cy="384048"/>
          </a:xfrm>
          <a:prstGeom prst="rect">
            <a:avLst/>
          </a:prstGeom>
          <a:noFill/>
          <a:ln/>
        </p:spPr>
        <p:txBody>
          <a:bodyPr wrap="square" lIns="0" tIns="0" rIns="0" bIns="0" rtlCol="0" anchor="ctr"/>
          <a:lstStyle/>
          <a:p>
            <a:r>
              <a:rPr lang="en-US" sz="1350">
                <a:solidFill>
                  <a:srgbClr val="16264A"/>
                </a:solidFill>
                <a:ea typeface="+mn-lt"/>
                <a:cs typeface="+mn-lt"/>
              </a:rPr>
              <a:t>Code files and notebooks</a:t>
            </a:r>
            <a:endParaRPr lang="en-US"/>
          </a:p>
        </p:txBody>
      </p:sp>
      <p:sp>
        <p:nvSpPr>
          <p:cNvPr id="22" name="Text 10">
            <a:extLst>
              <a:ext uri="{FF2B5EF4-FFF2-40B4-BE49-F238E27FC236}">
                <a16:creationId xmlns:a16="http://schemas.microsoft.com/office/drawing/2014/main" id="{0EC4C5B2-15C8-9830-BEB9-D30AA8642A4F}"/>
              </a:ext>
            </a:extLst>
          </p:cNvPr>
          <p:cNvSpPr/>
          <p:nvPr/>
        </p:nvSpPr>
        <p:spPr>
          <a:xfrm>
            <a:off x="6720840" y="4729293"/>
            <a:ext cx="4937760" cy="384048"/>
          </a:xfrm>
          <a:prstGeom prst="rect">
            <a:avLst/>
          </a:prstGeom>
          <a:noFill/>
          <a:ln/>
        </p:spPr>
        <p:txBody>
          <a:bodyPr wrap="square" lIns="0" tIns="0" rIns="0" bIns="0" rtlCol="0" anchor="ctr"/>
          <a:lstStyle/>
          <a:p>
            <a:r>
              <a:rPr lang="en-US" sz="1350">
                <a:solidFill>
                  <a:srgbClr val="16264A"/>
                </a:solidFill>
                <a:ea typeface="+mn-lt"/>
                <a:cs typeface="+mn-lt"/>
              </a:rPr>
              <a:t>Reference links and guides</a:t>
            </a:r>
            <a:endParaRPr lang="en-US"/>
          </a:p>
        </p:txBody>
      </p:sp>
      <p:pic>
        <p:nvPicPr>
          <p:cNvPr id="24" name="Image 2" descr="/home/claude/dhs/assets2/icons/check.png">
            <a:extLst>
              <a:ext uri="{FF2B5EF4-FFF2-40B4-BE49-F238E27FC236}">
                <a16:creationId xmlns:a16="http://schemas.microsoft.com/office/drawing/2014/main" id="{A736BCF1-B1BD-F919-4CF5-70C524BCE06F}"/>
              </a:ext>
            </a:extLst>
          </p:cNvPr>
          <p:cNvPicPr>
            <a:picLocks noChangeAspect="1"/>
          </p:cNvPicPr>
          <p:nvPr/>
        </p:nvPicPr>
        <p:blipFill>
          <a:blip r:embed="rId4"/>
          <a:stretch>
            <a:fillRect/>
          </a:stretch>
        </p:blipFill>
        <p:spPr>
          <a:xfrm>
            <a:off x="6355080" y="3293805"/>
            <a:ext cx="256032" cy="256032"/>
          </a:xfrm>
          <a:prstGeom prst="rect">
            <a:avLst/>
          </a:prstGeom>
        </p:spPr>
      </p:pic>
      <p:pic>
        <p:nvPicPr>
          <p:cNvPr id="26" name="Image 3" descr="/home/claude/dhs/assets2/icons/check.png">
            <a:extLst>
              <a:ext uri="{FF2B5EF4-FFF2-40B4-BE49-F238E27FC236}">
                <a16:creationId xmlns:a16="http://schemas.microsoft.com/office/drawing/2014/main" id="{0FB1345D-BE3E-1A48-2B3E-C7C2665562EA}"/>
              </a:ext>
            </a:extLst>
          </p:cNvPr>
          <p:cNvPicPr>
            <a:picLocks noChangeAspect="1"/>
          </p:cNvPicPr>
          <p:nvPr/>
        </p:nvPicPr>
        <p:blipFill>
          <a:blip r:embed="rId4"/>
          <a:stretch>
            <a:fillRect/>
          </a:stretch>
        </p:blipFill>
        <p:spPr>
          <a:xfrm>
            <a:off x="6355080" y="3805869"/>
            <a:ext cx="256032" cy="256032"/>
          </a:xfrm>
          <a:prstGeom prst="rect">
            <a:avLst/>
          </a:prstGeom>
        </p:spPr>
      </p:pic>
      <p:pic>
        <p:nvPicPr>
          <p:cNvPr id="28" name="Image 4" descr="/home/claude/dhs/assets2/icons/check.png">
            <a:extLst>
              <a:ext uri="{FF2B5EF4-FFF2-40B4-BE49-F238E27FC236}">
                <a16:creationId xmlns:a16="http://schemas.microsoft.com/office/drawing/2014/main" id="{D6DAF8CF-3713-EC4A-31C6-7AA871186A27}"/>
              </a:ext>
            </a:extLst>
          </p:cNvPr>
          <p:cNvPicPr>
            <a:picLocks noChangeAspect="1"/>
          </p:cNvPicPr>
          <p:nvPr/>
        </p:nvPicPr>
        <p:blipFill>
          <a:blip r:embed="rId4"/>
          <a:stretch>
            <a:fillRect/>
          </a:stretch>
        </p:blipFill>
        <p:spPr>
          <a:xfrm>
            <a:off x="6355080" y="4317933"/>
            <a:ext cx="256032" cy="256032"/>
          </a:xfrm>
          <a:prstGeom prst="rect">
            <a:avLst/>
          </a:prstGeom>
        </p:spPr>
      </p:pic>
      <p:pic>
        <p:nvPicPr>
          <p:cNvPr id="34" name="Image 4" descr="/home/claude/dhs/assets2/icons/check.png">
            <a:extLst>
              <a:ext uri="{FF2B5EF4-FFF2-40B4-BE49-F238E27FC236}">
                <a16:creationId xmlns:a16="http://schemas.microsoft.com/office/drawing/2014/main" id="{829EED07-4649-C3DE-548A-814E2E52F108}"/>
              </a:ext>
            </a:extLst>
          </p:cNvPr>
          <p:cNvPicPr>
            <a:picLocks noChangeAspect="1"/>
          </p:cNvPicPr>
          <p:nvPr/>
        </p:nvPicPr>
        <p:blipFill>
          <a:blip r:embed="rId4"/>
          <a:stretch>
            <a:fillRect/>
          </a:stretch>
        </p:blipFill>
        <p:spPr>
          <a:xfrm>
            <a:off x="6355080" y="4794184"/>
            <a:ext cx="256032" cy="256032"/>
          </a:xfrm>
          <a:prstGeom prst="rect">
            <a:avLst/>
          </a:prstGeom>
        </p:spPr>
      </p:pic>
      <p:pic>
        <p:nvPicPr>
          <p:cNvPr id="6" name="Picture 5">
            <a:extLst>
              <a:ext uri="{FF2B5EF4-FFF2-40B4-BE49-F238E27FC236}">
                <a16:creationId xmlns:a16="http://schemas.microsoft.com/office/drawing/2014/main" id="{C23710D2-7B9B-1D4A-DA9A-54B91DF8AF67}"/>
              </a:ext>
            </a:extLst>
          </p:cNvPr>
          <p:cNvPicPr>
            <a:picLocks noChangeAspect="1"/>
          </p:cNvPicPr>
          <p:nvPr/>
        </p:nvPicPr>
        <p:blipFill>
          <a:blip r:embed="rId5"/>
          <a:stretch>
            <a:fillRect/>
          </a:stretch>
        </p:blipFill>
        <p:spPr>
          <a:xfrm>
            <a:off x="2033543" y="1883677"/>
            <a:ext cx="3324700" cy="3324700"/>
          </a:xfrm>
          <a:prstGeom prst="rect">
            <a:avLst/>
          </a:prstGeom>
          <a:ln w="38100">
            <a:solidFill>
              <a:srgbClr val="1FB6A6"/>
            </a:solidFill>
          </a:ln>
        </p:spPr>
      </p:pic>
    </p:spTree>
    <p:extLst>
      <p:ext uri="{BB962C8B-B14F-4D97-AF65-F5344CB8AC3E}">
        <p14:creationId xmlns:p14="http://schemas.microsoft.com/office/powerpoint/2010/main" val="27951665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8353E66-2C3D-021D-932A-3827A5F2079E}"/>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0AD5D684-2EF9-847D-F618-E91B2F6639CA}"/>
              </a:ext>
            </a:extLst>
          </p:cNvPr>
          <p:cNvPicPr>
            <a:picLocks noChangeAspect="1"/>
          </p:cNvPicPr>
          <p:nvPr/>
        </p:nvPicPr>
        <p:blipFill>
          <a:blip r:embed="rId3"/>
          <a:stretch>
            <a:fillRect/>
          </a:stretch>
        </p:blipFill>
        <p:spPr>
          <a:xfrm>
            <a:off x="661160" y="1325880"/>
            <a:ext cx="10866632" cy="4915191"/>
          </a:xfrm>
          <a:prstGeom prst="rect">
            <a:avLst/>
          </a:prstGeom>
        </p:spPr>
      </p:pic>
      <p:sp>
        <p:nvSpPr>
          <p:cNvPr id="2" name="Shape 0">
            <a:extLst>
              <a:ext uri="{FF2B5EF4-FFF2-40B4-BE49-F238E27FC236}">
                <a16:creationId xmlns:a16="http://schemas.microsoft.com/office/drawing/2014/main" id="{6F263F21-27DF-2C6C-F51B-E5B8D42BB806}"/>
              </a:ext>
            </a:extLst>
          </p:cNvPr>
          <p:cNvSpPr/>
          <p:nvPr/>
        </p:nvSpPr>
        <p:spPr>
          <a:xfrm>
            <a:off x="502920" y="548640"/>
            <a:ext cx="82296" cy="603504"/>
          </a:xfrm>
          <a:prstGeom prst="rect">
            <a:avLst/>
          </a:prstGeom>
          <a:solidFill>
            <a:srgbClr val="FE7202"/>
          </a:solidFill>
          <a:ln/>
        </p:spPr>
        <p:txBody>
          <a:bodyPr/>
          <a:lstStyle/>
          <a:p>
            <a:endParaRPr lang="en-US"/>
          </a:p>
        </p:txBody>
      </p:sp>
      <p:sp>
        <p:nvSpPr>
          <p:cNvPr id="3" name="Text 1">
            <a:extLst>
              <a:ext uri="{FF2B5EF4-FFF2-40B4-BE49-F238E27FC236}">
                <a16:creationId xmlns:a16="http://schemas.microsoft.com/office/drawing/2014/main" id="{B185E7E2-1074-DA4A-7BC1-2557DAA699D5}"/>
              </a:ext>
            </a:extLst>
          </p:cNvPr>
          <p:cNvSpPr/>
          <p:nvPr/>
        </p:nvSpPr>
        <p:spPr>
          <a:xfrm>
            <a:off x="731520" y="502920"/>
            <a:ext cx="10058400" cy="713232"/>
          </a:xfrm>
          <a:prstGeom prst="rect">
            <a:avLst/>
          </a:prstGeom>
          <a:noFill/>
          <a:ln/>
        </p:spPr>
        <p:txBody>
          <a:bodyPr wrap="square" lIns="0" tIns="0" rIns="0" bIns="0" rtlCol="0" anchor="ctr"/>
          <a:lstStyle/>
          <a:p>
            <a:pPr marL="0" indent="0">
              <a:buNone/>
            </a:pPr>
            <a:r>
              <a:rPr lang="en-US" sz="2900" b="1" dirty="0">
                <a:solidFill>
                  <a:srgbClr val="0F2247"/>
                </a:solidFill>
                <a:latin typeface="Arial" pitchFamily="34" charset="0"/>
                <a:ea typeface="Arial" pitchFamily="34" charset="-122"/>
                <a:cs typeface="Arial" pitchFamily="34" charset="-120"/>
              </a:rPr>
              <a:t>Agenda</a:t>
            </a:r>
            <a:endParaRPr lang="en-US" sz="2900" dirty="0"/>
          </a:p>
        </p:txBody>
      </p:sp>
      <p:sp>
        <p:nvSpPr>
          <p:cNvPr id="4" name="Shape 2">
            <a:extLst>
              <a:ext uri="{FF2B5EF4-FFF2-40B4-BE49-F238E27FC236}">
                <a16:creationId xmlns:a16="http://schemas.microsoft.com/office/drawing/2014/main" id="{DD9037FC-3E4D-88AF-2991-C3E905839D2F}"/>
              </a:ext>
            </a:extLst>
          </p:cNvPr>
          <p:cNvSpPr/>
          <p:nvPr/>
        </p:nvSpPr>
        <p:spPr>
          <a:xfrm>
            <a:off x="502920" y="1325880"/>
            <a:ext cx="11183112" cy="27432"/>
          </a:xfrm>
          <a:prstGeom prst="rect">
            <a:avLst/>
          </a:prstGeom>
          <a:solidFill>
            <a:srgbClr val="FE7202"/>
          </a:solidFill>
          <a:ln/>
        </p:spPr>
        <p:txBody>
          <a:bodyPr/>
          <a:lstStyle/>
          <a:p>
            <a:endParaRPr lang="en-US"/>
          </a:p>
        </p:txBody>
      </p:sp>
      <p:sp>
        <p:nvSpPr>
          <p:cNvPr id="11" name="Text 7">
            <a:extLst>
              <a:ext uri="{FF2B5EF4-FFF2-40B4-BE49-F238E27FC236}">
                <a16:creationId xmlns:a16="http://schemas.microsoft.com/office/drawing/2014/main" id="{A18DD974-75D0-F457-9A67-3260761ED2BC}"/>
              </a:ext>
            </a:extLst>
          </p:cNvPr>
          <p:cNvSpPr/>
          <p:nvPr/>
        </p:nvSpPr>
        <p:spPr>
          <a:xfrm>
            <a:off x="0" y="6419088"/>
            <a:ext cx="12191695" cy="320040"/>
          </a:xfrm>
          <a:prstGeom prst="rect">
            <a:avLst/>
          </a:prstGeom>
          <a:noFill/>
          <a:ln/>
        </p:spPr>
        <p:txBody>
          <a:bodyPr wrap="square" lIns="0" tIns="0" rIns="0" bIns="0" rtlCol="0" anchor="ctr"/>
          <a:lstStyle/>
          <a:p>
            <a:pPr marL="0" indent="0" algn="ctr">
              <a:buNone/>
            </a:pPr>
            <a:r>
              <a:rPr lang="en-US" sz="950" kern="0" spc="200">
                <a:solidFill>
                  <a:srgbClr val="8A93A8"/>
                </a:solidFill>
                <a:latin typeface="Arial" pitchFamily="34" charset="0"/>
                <a:ea typeface="Arial" pitchFamily="34" charset="-122"/>
                <a:cs typeface="Arial" pitchFamily="34" charset="-120"/>
              </a:rPr>
              <a:t>D A T A H A C K   S U M M I T   2 0 2 6</a:t>
            </a:r>
            <a:endParaRPr lang="en-US" sz="950"/>
          </a:p>
        </p:txBody>
      </p:sp>
      <p:pic>
        <p:nvPicPr>
          <p:cNvPr id="12" name="Picture 11" descr="preencoded.png">
            <a:extLst>
              <a:ext uri="{FF2B5EF4-FFF2-40B4-BE49-F238E27FC236}">
                <a16:creationId xmlns:a16="http://schemas.microsoft.com/office/drawing/2014/main" id="{7C1D2AA1-183B-C935-4824-BD0CE85D7C0C}"/>
              </a:ext>
            </a:extLst>
          </p:cNvPr>
          <p:cNvPicPr>
            <a:picLocks noChangeAspect="1"/>
          </p:cNvPicPr>
          <p:nvPr/>
        </p:nvPicPr>
        <p:blipFill>
          <a:blip r:embed="rId4"/>
          <a:srcRect b="-176"/>
          <a:stretch>
            <a:fillRect/>
          </a:stretch>
        </p:blipFill>
        <p:spPr>
          <a:xfrm>
            <a:off x="10792419" y="367621"/>
            <a:ext cx="852695" cy="852309"/>
          </a:xfrm>
          <a:prstGeom prst="rect">
            <a:avLst/>
          </a:prstGeom>
        </p:spPr>
      </p:pic>
    </p:spTree>
    <p:extLst>
      <p:ext uri="{BB962C8B-B14F-4D97-AF65-F5344CB8AC3E}">
        <p14:creationId xmlns:p14="http://schemas.microsoft.com/office/powerpoint/2010/main" val="13940169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502920" y="1417320"/>
            <a:ext cx="2926080" cy="1554480"/>
          </a:xfrm>
          <a:prstGeom prst="rect">
            <a:avLst/>
          </a:prstGeom>
          <a:noFill/>
          <a:ln/>
        </p:spPr>
        <p:txBody>
          <a:bodyPr wrap="square" lIns="0" tIns="0" rIns="0" bIns="0" rtlCol="0" anchor="ctr"/>
          <a:lstStyle/>
          <a:p>
            <a:pPr marL="0" indent="0">
              <a:buNone/>
            </a:pPr>
            <a:r>
              <a:rPr lang="en-US" sz="10400" b="1" dirty="0">
                <a:solidFill>
                  <a:srgbClr val="2D7FF9"/>
                </a:solidFill>
                <a:latin typeface="Arial" pitchFamily="34" charset="0"/>
                <a:ea typeface="Arial" pitchFamily="34" charset="-122"/>
                <a:cs typeface="Arial" pitchFamily="34" charset="-120"/>
              </a:rPr>
              <a:t>01</a:t>
            </a:r>
            <a:endParaRPr lang="en-US" sz="10400" dirty="0"/>
          </a:p>
        </p:txBody>
      </p:sp>
      <p:sp>
        <p:nvSpPr>
          <p:cNvPr id="4" name="Text 1"/>
          <p:cNvSpPr/>
          <p:nvPr/>
        </p:nvSpPr>
        <p:spPr>
          <a:xfrm>
            <a:off x="530352" y="3063240"/>
            <a:ext cx="4572000" cy="292608"/>
          </a:xfrm>
          <a:prstGeom prst="rect">
            <a:avLst/>
          </a:prstGeom>
          <a:noFill/>
          <a:ln/>
        </p:spPr>
        <p:txBody>
          <a:bodyPr wrap="square" lIns="0" tIns="0" rIns="0" bIns="0" rtlCol="0" anchor="ctr"/>
          <a:lstStyle/>
          <a:p>
            <a:pPr marL="0" indent="0">
              <a:buNone/>
            </a:pPr>
            <a:r>
              <a:rPr lang="en-US" sz="1300" b="1" kern="0" spc="400" dirty="0">
                <a:solidFill>
                  <a:srgbClr val="1FB6A6"/>
                </a:solidFill>
                <a:latin typeface="Arial" pitchFamily="34" charset="0"/>
                <a:ea typeface="Arial" pitchFamily="34" charset="-122"/>
                <a:cs typeface="Arial" pitchFamily="34" charset="-120"/>
              </a:rPr>
              <a:t>CONTEXT</a:t>
            </a:r>
            <a:endParaRPr lang="en-US" sz="1300" dirty="0"/>
          </a:p>
        </p:txBody>
      </p:sp>
      <p:sp>
        <p:nvSpPr>
          <p:cNvPr id="5" name="Text 2"/>
          <p:cNvSpPr/>
          <p:nvPr/>
        </p:nvSpPr>
        <p:spPr>
          <a:xfrm>
            <a:off x="502920" y="3429000"/>
            <a:ext cx="7947692" cy="1097280"/>
          </a:xfrm>
          <a:prstGeom prst="rect">
            <a:avLst/>
          </a:prstGeom>
          <a:noFill/>
          <a:ln/>
        </p:spPr>
        <p:txBody>
          <a:bodyPr wrap="square" lIns="0" tIns="0" rIns="0" bIns="0" rtlCol="0" anchor="ctr"/>
          <a:lstStyle/>
          <a:p>
            <a:pPr marL="0" indent="0">
              <a:lnSpc>
                <a:spcPct val="100000"/>
              </a:lnSpc>
              <a:buNone/>
            </a:pPr>
            <a:r>
              <a:rPr lang="en-US" sz="4200" b="1" dirty="0">
                <a:solidFill>
                  <a:srgbClr val="FFFFFF"/>
                </a:solidFill>
                <a:latin typeface="Arial" pitchFamily="34" charset="0"/>
                <a:ea typeface="Arial" pitchFamily="34" charset="-122"/>
                <a:cs typeface="Arial" pitchFamily="34" charset="-120"/>
              </a:rPr>
              <a:t>Agent Observability &amp; Evaluation (AOE)​</a:t>
            </a:r>
            <a:endParaRPr lang="en-US" sz="4200" dirty="0"/>
          </a:p>
        </p:txBody>
      </p:sp>
      <p:sp>
        <p:nvSpPr>
          <p:cNvPr id="7" name="Text 4"/>
          <p:cNvSpPr/>
          <p:nvPr/>
        </p:nvSpPr>
        <p:spPr>
          <a:xfrm>
            <a:off x="502920" y="6400800"/>
            <a:ext cx="7315200" cy="320040"/>
          </a:xfrm>
          <a:prstGeom prst="rect">
            <a:avLst/>
          </a:prstGeom>
          <a:noFill/>
          <a:ln/>
        </p:spPr>
        <p:txBody>
          <a:bodyPr wrap="square" lIns="0" tIns="0" rIns="0" bIns="0" rtlCol="0" anchor="ctr"/>
          <a:lstStyle/>
          <a:p>
            <a:pPr marL="0" indent="0">
              <a:buNone/>
            </a:pPr>
            <a:r>
              <a:rPr lang="en-US" sz="1100">
                <a:solidFill>
                  <a:srgbClr val="9AA4C0"/>
                </a:solidFill>
                <a:latin typeface="Calibri" pitchFamily="34" charset="0"/>
                <a:ea typeface="Calibri" pitchFamily="34" charset="-122"/>
                <a:cs typeface="Calibri" pitchFamily="34" charset="-120"/>
              </a:rPr>
              <a:t>August 05–08, 2026  ·  The Leela Bhartiya City, Bengaluru</a:t>
            </a:r>
            <a:endParaRPr lang="en-US" sz="1100"/>
          </a:p>
        </p:txBody>
      </p:sp>
      <p:sp>
        <p:nvSpPr>
          <p:cNvPr id="8" name="Text 5"/>
          <p:cNvSpPr/>
          <p:nvPr/>
        </p:nvSpPr>
        <p:spPr>
          <a:xfrm>
            <a:off x="8450612" y="6533848"/>
            <a:ext cx="3456432" cy="320040"/>
          </a:xfrm>
          <a:prstGeom prst="rect">
            <a:avLst/>
          </a:prstGeom>
          <a:noFill/>
          <a:ln/>
        </p:spPr>
        <p:txBody>
          <a:bodyPr wrap="square" lIns="0" tIns="0" rIns="0" bIns="0" rtlCol="0" anchor="ctr"/>
          <a:lstStyle/>
          <a:p>
            <a:pPr algn="r"/>
            <a:r>
              <a:rPr lang="en-US" sz="1300" b="1">
                <a:solidFill>
                  <a:srgbClr val="3886F0"/>
                </a:solidFill>
                <a:latin typeface="Arial"/>
                <a:ea typeface="+mn-lt"/>
                <a:cs typeface="Arial"/>
              </a:rPr>
              <a:t>Human</a:t>
            </a:r>
            <a:r>
              <a:rPr lang="en-US" sz="1300">
                <a:solidFill>
                  <a:srgbClr val="777799"/>
                </a:solidFill>
                <a:latin typeface="Arial"/>
                <a:ea typeface="+mn-lt"/>
                <a:cs typeface="Arial"/>
              </a:rPr>
              <a:t> × </a:t>
            </a:r>
            <a:r>
              <a:rPr lang="en-US" sz="1300" b="1">
                <a:solidFill>
                  <a:srgbClr val="17B4AC"/>
                </a:solidFill>
                <a:latin typeface="Arial"/>
                <a:ea typeface="+mn-lt"/>
                <a:cs typeface="Arial"/>
              </a:rPr>
              <a:t>AI</a:t>
            </a:r>
            <a:endParaRPr lang="en-US" sz="1300">
              <a:solidFill>
                <a:srgbClr val="17B4AC"/>
              </a:solidFill>
              <a:latin typeface="Arial"/>
              <a:ea typeface="+mn-lt"/>
              <a:cs typeface="Arial"/>
            </a:endParaRPr>
          </a:p>
          <a:p>
            <a:pPr algn="r"/>
            <a:endParaRPr lang="en-US" sz="1300" b="1">
              <a:solidFill>
                <a:srgbClr val="FFFFFF"/>
              </a:solidFill>
              <a:latin typeface="Arial"/>
              <a:ea typeface="Calibri"/>
              <a:cs typeface="Arial"/>
            </a:endParaRPr>
          </a:p>
        </p:txBody>
      </p:sp>
      <p:pic>
        <p:nvPicPr>
          <p:cNvPr id="10" name="Picture 9" descr="preencoded.png">
            <a:extLst>
              <a:ext uri="{FF2B5EF4-FFF2-40B4-BE49-F238E27FC236}">
                <a16:creationId xmlns:a16="http://schemas.microsoft.com/office/drawing/2014/main" id="{B0152DA7-943D-E4FD-C21F-6FED3C2829A1}"/>
              </a:ext>
            </a:extLst>
          </p:cNvPr>
          <p:cNvPicPr>
            <a:picLocks noChangeAspect="1"/>
          </p:cNvPicPr>
          <p:nvPr/>
        </p:nvPicPr>
        <p:blipFill>
          <a:blip r:embed="rId4"/>
          <a:srcRect b="-176"/>
          <a:stretch>
            <a:fillRect/>
          </a:stretch>
        </p:blipFill>
        <p:spPr>
          <a:xfrm>
            <a:off x="6704013" y="481013"/>
            <a:ext cx="5483224" cy="5460161"/>
          </a:xfrm>
          <a:prstGeom prst="rect">
            <a:avLst/>
          </a:prstGeom>
        </p:spPr>
      </p:pic>
      <p:sp>
        <p:nvSpPr>
          <p:cNvPr id="2" name="Text 2">
            <a:extLst>
              <a:ext uri="{FF2B5EF4-FFF2-40B4-BE49-F238E27FC236}">
                <a16:creationId xmlns:a16="http://schemas.microsoft.com/office/drawing/2014/main" id="{C8502C5B-2921-C229-D4B8-81A1ED62C99C}"/>
              </a:ext>
            </a:extLst>
          </p:cNvPr>
          <p:cNvSpPr/>
          <p:nvPr/>
        </p:nvSpPr>
        <p:spPr>
          <a:xfrm>
            <a:off x="502920" y="4366260"/>
            <a:ext cx="7947692" cy="1097280"/>
          </a:xfrm>
          <a:prstGeom prst="rect">
            <a:avLst/>
          </a:prstGeom>
          <a:noFill/>
          <a:ln/>
        </p:spPr>
        <p:txBody>
          <a:bodyPr wrap="square" lIns="0" tIns="0" rIns="0" bIns="0" rtlCol="0" anchor="ctr"/>
          <a:lstStyle/>
          <a:p>
            <a:pPr marL="0" indent="0">
              <a:lnSpc>
                <a:spcPct val="100000"/>
              </a:lnSpc>
              <a:buNone/>
            </a:pPr>
            <a:r>
              <a:rPr lang="en-US" sz="1600" dirty="0">
                <a:solidFill>
                  <a:srgbClr val="FFFFFF"/>
                </a:solidFill>
                <a:latin typeface="Arial" pitchFamily="34" charset="0"/>
                <a:ea typeface="Arial" pitchFamily="34" charset="-122"/>
                <a:cs typeface="Arial" pitchFamily="34" charset="-120"/>
              </a:rPr>
              <a:t>Why agentic systems break traditional ML evaluation.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548640"/>
            <a:ext cx="82296" cy="603504"/>
          </a:xfrm>
          <a:prstGeom prst="rect">
            <a:avLst/>
          </a:prstGeom>
          <a:solidFill>
            <a:srgbClr val="FE7202"/>
          </a:solidFill>
          <a:ln/>
        </p:spPr>
        <p:txBody>
          <a:bodyPr/>
          <a:lstStyle/>
          <a:p>
            <a:endParaRPr lang="en-US"/>
          </a:p>
        </p:txBody>
      </p:sp>
      <p:sp>
        <p:nvSpPr>
          <p:cNvPr id="3" name="Text 1"/>
          <p:cNvSpPr/>
          <p:nvPr/>
        </p:nvSpPr>
        <p:spPr>
          <a:xfrm>
            <a:off x="731520" y="502920"/>
            <a:ext cx="10058400" cy="713232"/>
          </a:xfrm>
          <a:prstGeom prst="rect">
            <a:avLst/>
          </a:prstGeom>
          <a:noFill/>
          <a:ln/>
        </p:spPr>
        <p:txBody>
          <a:bodyPr wrap="square" lIns="0" tIns="0" rIns="0" bIns="0" rtlCol="0" anchor="ctr"/>
          <a:lstStyle/>
          <a:p>
            <a:pPr marL="0" indent="0">
              <a:buNone/>
            </a:pPr>
            <a:r>
              <a:rPr lang="en-US" sz="2900" b="1" dirty="0">
                <a:solidFill>
                  <a:srgbClr val="0F2247"/>
                </a:solidFill>
                <a:latin typeface="Arial" pitchFamily="34" charset="0"/>
                <a:ea typeface="Arial" pitchFamily="34" charset="-122"/>
                <a:cs typeface="Arial" pitchFamily="34" charset="-120"/>
              </a:rPr>
              <a:t>Agent Observability &amp; Evaluation (AOE)​</a:t>
            </a:r>
            <a:endParaRPr lang="en-US" sz="2900" dirty="0"/>
          </a:p>
        </p:txBody>
      </p:sp>
      <p:sp>
        <p:nvSpPr>
          <p:cNvPr id="4" name="Shape 2"/>
          <p:cNvSpPr/>
          <p:nvPr/>
        </p:nvSpPr>
        <p:spPr>
          <a:xfrm>
            <a:off x="502920" y="1325880"/>
            <a:ext cx="11183112" cy="27432"/>
          </a:xfrm>
          <a:prstGeom prst="rect">
            <a:avLst/>
          </a:prstGeom>
          <a:solidFill>
            <a:srgbClr val="FE7202"/>
          </a:solidFill>
          <a:ln/>
        </p:spPr>
        <p:txBody>
          <a:bodyPr/>
          <a:lstStyle/>
          <a:p>
            <a:endParaRPr lang="en-US"/>
          </a:p>
        </p:txBody>
      </p:sp>
      <p:sp>
        <p:nvSpPr>
          <p:cNvPr id="5" name="Text 3"/>
          <p:cNvSpPr/>
          <p:nvPr/>
        </p:nvSpPr>
        <p:spPr>
          <a:xfrm>
            <a:off x="512064" y="1417320"/>
            <a:ext cx="8686800" cy="411480"/>
          </a:xfrm>
          <a:prstGeom prst="rect">
            <a:avLst/>
          </a:prstGeom>
          <a:noFill/>
          <a:ln/>
        </p:spPr>
        <p:txBody>
          <a:bodyPr wrap="square" lIns="0" tIns="0" rIns="0" bIns="0" rtlCol="0" anchor="ctr"/>
          <a:lstStyle/>
          <a:p>
            <a:pPr marL="0" indent="0">
              <a:buNone/>
            </a:pPr>
            <a:r>
              <a:rPr lang="en-US" sz="1350" i="1" dirty="0">
                <a:solidFill>
                  <a:srgbClr val="8A93A8"/>
                </a:solidFill>
                <a:latin typeface="Calibri" pitchFamily="34" charset="0"/>
                <a:ea typeface="Calibri" pitchFamily="34" charset="-122"/>
                <a:cs typeface="Calibri" pitchFamily="34" charset="-120"/>
              </a:rPr>
              <a:t>Why is AOE more challenging than traditional ML systems? </a:t>
            </a:r>
          </a:p>
        </p:txBody>
      </p:sp>
      <p:sp>
        <p:nvSpPr>
          <p:cNvPr id="7" name="Text 5"/>
          <p:cNvSpPr/>
          <p:nvPr/>
        </p:nvSpPr>
        <p:spPr>
          <a:xfrm>
            <a:off x="514341" y="2237993"/>
            <a:ext cx="7406640" cy="301752"/>
          </a:xfrm>
          <a:prstGeom prst="rect">
            <a:avLst/>
          </a:prstGeom>
          <a:noFill/>
          <a:ln/>
        </p:spPr>
        <p:txBody>
          <a:bodyPr wrap="square" lIns="0" tIns="0" rIns="0" bIns="0" rtlCol="0" anchor="t"/>
          <a:lstStyle/>
          <a:p>
            <a:pPr marL="0" indent="0">
              <a:lnSpc>
                <a:spcPct val="112000"/>
              </a:lnSpc>
              <a:buNone/>
            </a:pPr>
            <a:r>
              <a:rPr lang="en-US" sz="1600" b="1" dirty="0">
                <a:solidFill>
                  <a:srgbClr val="0F2247"/>
                </a:solidFill>
                <a:latin typeface="Calibri" pitchFamily="34" charset="0"/>
                <a:ea typeface="Calibri" pitchFamily="34" charset="-122"/>
                <a:cs typeface="Calibri" pitchFamily="34" charset="-120"/>
              </a:rPr>
              <a:t>A traditional ML system has a single hop: input → model → output. ​</a:t>
            </a:r>
            <a:endParaRPr lang="en-US" sz="1600" dirty="0"/>
          </a:p>
        </p:txBody>
      </p:sp>
      <p:sp>
        <p:nvSpPr>
          <p:cNvPr id="9" name="Text 7"/>
          <p:cNvSpPr/>
          <p:nvPr/>
        </p:nvSpPr>
        <p:spPr>
          <a:xfrm>
            <a:off x="548209" y="5458968"/>
            <a:ext cx="7406640" cy="283464"/>
          </a:xfrm>
          <a:prstGeom prst="rect">
            <a:avLst/>
          </a:prstGeom>
          <a:noFill/>
          <a:ln/>
        </p:spPr>
        <p:txBody>
          <a:bodyPr wrap="square" lIns="0" tIns="0" rIns="0" bIns="0" rtlCol="0" anchor="t"/>
          <a:lstStyle/>
          <a:p>
            <a:pPr marL="0" indent="0">
              <a:lnSpc>
                <a:spcPct val="112000"/>
              </a:lnSpc>
              <a:buNone/>
            </a:pPr>
            <a:r>
              <a:rPr lang="en-US" sz="1300" dirty="0">
                <a:solidFill>
                  <a:srgbClr val="3A4866"/>
                </a:solidFill>
                <a:latin typeface="Calibri" pitchFamily="34" charset="0"/>
                <a:ea typeface="Calibri" pitchFamily="34" charset="-122"/>
                <a:cs typeface="Calibri" pitchFamily="34" charset="-120"/>
              </a:rPr>
              <a:t>Systems that plan, act and verify across multi-step workflows, humans in the loop.</a:t>
            </a:r>
            <a:endParaRPr lang="en-US" sz="1600" dirty="0"/>
          </a:p>
        </p:txBody>
      </p:sp>
      <p:sp>
        <p:nvSpPr>
          <p:cNvPr id="21" name="Text 18"/>
          <p:cNvSpPr/>
          <p:nvPr/>
        </p:nvSpPr>
        <p:spPr>
          <a:xfrm>
            <a:off x="0" y="6419088"/>
            <a:ext cx="12191695" cy="320040"/>
          </a:xfrm>
          <a:prstGeom prst="rect">
            <a:avLst/>
          </a:prstGeom>
          <a:noFill/>
          <a:ln/>
        </p:spPr>
        <p:txBody>
          <a:bodyPr wrap="square" lIns="0" tIns="0" rIns="0" bIns="0" rtlCol="0" anchor="ctr"/>
          <a:lstStyle/>
          <a:p>
            <a:pPr marL="0" indent="0" algn="ctr">
              <a:buNone/>
            </a:pPr>
            <a:r>
              <a:rPr lang="en-US" sz="950" kern="0" spc="200">
                <a:solidFill>
                  <a:srgbClr val="8A93A8"/>
                </a:solidFill>
                <a:latin typeface="Arial" pitchFamily="34" charset="0"/>
                <a:ea typeface="Arial" pitchFamily="34" charset="-122"/>
                <a:cs typeface="Arial" pitchFamily="34" charset="-120"/>
              </a:rPr>
              <a:t>D A T A H A C K   S U M M I T   2 0 2 6</a:t>
            </a:r>
            <a:endParaRPr lang="en-US" sz="950"/>
          </a:p>
        </p:txBody>
      </p:sp>
      <p:pic>
        <p:nvPicPr>
          <p:cNvPr id="23" name="Picture 22" descr="preencoded.png">
            <a:extLst>
              <a:ext uri="{FF2B5EF4-FFF2-40B4-BE49-F238E27FC236}">
                <a16:creationId xmlns:a16="http://schemas.microsoft.com/office/drawing/2014/main" id="{92BD9C5A-DB0A-BB9B-F72F-CE9A5CC207DD}"/>
              </a:ext>
            </a:extLst>
          </p:cNvPr>
          <p:cNvPicPr>
            <a:picLocks noChangeAspect="1"/>
          </p:cNvPicPr>
          <p:nvPr/>
        </p:nvPicPr>
        <p:blipFill>
          <a:blip r:embed="rId3"/>
          <a:srcRect b="-176"/>
          <a:stretch>
            <a:fillRect/>
          </a:stretch>
        </p:blipFill>
        <p:spPr>
          <a:xfrm>
            <a:off x="10792419" y="367621"/>
            <a:ext cx="852695" cy="852309"/>
          </a:xfrm>
          <a:prstGeom prst="rect">
            <a:avLst/>
          </a:prstGeom>
        </p:spPr>
      </p:pic>
      <p:pic>
        <p:nvPicPr>
          <p:cNvPr id="20" name="Picture 19">
            <a:extLst>
              <a:ext uri="{FF2B5EF4-FFF2-40B4-BE49-F238E27FC236}">
                <a16:creationId xmlns:a16="http://schemas.microsoft.com/office/drawing/2014/main" id="{479A3C2E-0071-67C9-305E-3017911E4F50}"/>
              </a:ext>
            </a:extLst>
          </p:cNvPr>
          <p:cNvPicPr>
            <a:picLocks noChangeAspect="1"/>
          </p:cNvPicPr>
          <p:nvPr/>
        </p:nvPicPr>
        <p:blipFill>
          <a:blip r:embed="rId4"/>
          <a:stretch>
            <a:fillRect/>
          </a:stretch>
        </p:blipFill>
        <p:spPr>
          <a:xfrm>
            <a:off x="1720426" y="2755737"/>
            <a:ext cx="8893571" cy="2476918"/>
          </a:xfrm>
          <a:prstGeom prst="rect">
            <a:avLst/>
          </a:prstGeom>
          <a:ln>
            <a:solidFill>
              <a:schemeClr val="bg1">
                <a:lumMod val="85000"/>
              </a:schemeClr>
            </a:solid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E59BD5B-6DDE-E54F-7383-45DD7878375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A6EF253-8C6D-BE65-7E00-E2DD5190BB17}"/>
              </a:ext>
            </a:extLst>
          </p:cNvPr>
          <p:cNvSpPr/>
          <p:nvPr/>
        </p:nvSpPr>
        <p:spPr>
          <a:xfrm>
            <a:off x="502920" y="548640"/>
            <a:ext cx="82296" cy="603504"/>
          </a:xfrm>
          <a:prstGeom prst="rect">
            <a:avLst/>
          </a:prstGeom>
          <a:solidFill>
            <a:srgbClr val="FE7202"/>
          </a:solidFill>
          <a:ln/>
        </p:spPr>
        <p:txBody>
          <a:bodyPr/>
          <a:lstStyle/>
          <a:p>
            <a:endParaRPr lang="en-US"/>
          </a:p>
        </p:txBody>
      </p:sp>
      <p:sp>
        <p:nvSpPr>
          <p:cNvPr id="3" name="Text 1">
            <a:extLst>
              <a:ext uri="{FF2B5EF4-FFF2-40B4-BE49-F238E27FC236}">
                <a16:creationId xmlns:a16="http://schemas.microsoft.com/office/drawing/2014/main" id="{2264AD2C-1B23-AB94-A938-98F42282D46F}"/>
              </a:ext>
            </a:extLst>
          </p:cNvPr>
          <p:cNvSpPr/>
          <p:nvPr/>
        </p:nvSpPr>
        <p:spPr>
          <a:xfrm>
            <a:off x="731520" y="502920"/>
            <a:ext cx="10058400" cy="713232"/>
          </a:xfrm>
          <a:prstGeom prst="rect">
            <a:avLst/>
          </a:prstGeom>
          <a:noFill/>
          <a:ln/>
        </p:spPr>
        <p:txBody>
          <a:bodyPr wrap="square" lIns="0" tIns="0" rIns="0" bIns="0" rtlCol="0" anchor="ctr"/>
          <a:lstStyle/>
          <a:p>
            <a:pPr marL="0" indent="0">
              <a:buNone/>
            </a:pPr>
            <a:r>
              <a:rPr lang="en-US" sz="2900" b="1" dirty="0">
                <a:solidFill>
                  <a:srgbClr val="0F2247"/>
                </a:solidFill>
                <a:latin typeface="Arial" pitchFamily="34" charset="0"/>
                <a:ea typeface="Arial" pitchFamily="34" charset="-122"/>
                <a:cs typeface="Arial" pitchFamily="34" charset="-120"/>
              </a:rPr>
              <a:t>Agent Observability &amp; Evaluation (AOE)​</a:t>
            </a:r>
            <a:endParaRPr lang="en-US" sz="2900" dirty="0"/>
          </a:p>
        </p:txBody>
      </p:sp>
      <p:sp>
        <p:nvSpPr>
          <p:cNvPr id="4" name="Shape 2">
            <a:extLst>
              <a:ext uri="{FF2B5EF4-FFF2-40B4-BE49-F238E27FC236}">
                <a16:creationId xmlns:a16="http://schemas.microsoft.com/office/drawing/2014/main" id="{2B637944-A041-B906-628D-879A753F2854}"/>
              </a:ext>
            </a:extLst>
          </p:cNvPr>
          <p:cNvSpPr/>
          <p:nvPr/>
        </p:nvSpPr>
        <p:spPr>
          <a:xfrm>
            <a:off x="502920" y="1325880"/>
            <a:ext cx="11183112" cy="27432"/>
          </a:xfrm>
          <a:prstGeom prst="rect">
            <a:avLst/>
          </a:prstGeom>
          <a:solidFill>
            <a:srgbClr val="FE7202"/>
          </a:solidFill>
          <a:ln/>
        </p:spPr>
        <p:txBody>
          <a:bodyPr/>
          <a:lstStyle/>
          <a:p>
            <a:endParaRPr lang="en-US"/>
          </a:p>
        </p:txBody>
      </p:sp>
      <p:sp>
        <p:nvSpPr>
          <p:cNvPr id="5" name="Text 3">
            <a:extLst>
              <a:ext uri="{FF2B5EF4-FFF2-40B4-BE49-F238E27FC236}">
                <a16:creationId xmlns:a16="http://schemas.microsoft.com/office/drawing/2014/main" id="{639E09CC-9244-F0DE-39AA-8B4CD2C395A0}"/>
              </a:ext>
            </a:extLst>
          </p:cNvPr>
          <p:cNvSpPr/>
          <p:nvPr/>
        </p:nvSpPr>
        <p:spPr>
          <a:xfrm>
            <a:off x="512064" y="1417320"/>
            <a:ext cx="8686800" cy="411480"/>
          </a:xfrm>
          <a:prstGeom prst="rect">
            <a:avLst/>
          </a:prstGeom>
          <a:noFill/>
          <a:ln/>
        </p:spPr>
        <p:txBody>
          <a:bodyPr wrap="square" lIns="0" tIns="0" rIns="0" bIns="0" rtlCol="0" anchor="ctr"/>
          <a:lstStyle/>
          <a:p>
            <a:pPr marL="0" indent="0">
              <a:buNone/>
            </a:pPr>
            <a:r>
              <a:rPr lang="en-US" sz="1350" i="1" dirty="0">
                <a:solidFill>
                  <a:srgbClr val="8A93A8"/>
                </a:solidFill>
                <a:latin typeface="Calibri" pitchFamily="34" charset="0"/>
                <a:ea typeface="Calibri" pitchFamily="34" charset="-122"/>
                <a:cs typeface="Calibri" pitchFamily="34" charset="-120"/>
              </a:rPr>
              <a:t>Why is AOE more challenging than traditional ML systems? </a:t>
            </a:r>
          </a:p>
        </p:txBody>
      </p:sp>
      <p:sp>
        <p:nvSpPr>
          <p:cNvPr id="7" name="Text 5">
            <a:extLst>
              <a:ext uri="{FF2B5EF4-FFF2-40B4-BE49-F238E27FC236}">
                <a16:creationId xmlns:a16="http://schemas.microsoft.com/office/drawing/2014/main" id="{3A42DB00-6CB9-CBDE-36A1-535FA789E5F6}"/>
              </a:ext>
            </a:extLst>
          </p:cNvPr>
          <p:cNvSpPr/>
          <p:nvPr/>
        </p:nvSpPr>
        <p:spPr>
          <a:xfrm>
            <a:off x="514341" y="2237993"/>
            <a:ext cx="9459392" cy="301752"/>
          </a:xfrm>
          <a:prstGeom prst="rect">
            <a:avLst/>
          </a:prstGeom>
          <a:noFill/>
          <a:ln/>
        </p:spPr>
        <p:txBody>
          <a:bodyPr wrap="square" lIns="0" tIns="0" rIns="0" bIns="0" rtlCol="0" anchor="t"/>
          <a:lstStyle/>
          <a:p>
            <a:pPr marL="0" indent="0">
              <a:lnSpc>
                <a:spcPct val="112000"/>
              </a:lnSpc>
              <a:buNone/>
            </a:pPr>
            <a:r>
              <a:rPr lang="en-US" sz="1600" b="1" dirty="0">
                <a:solidFill>
                  <a:srgbClr val="0F2247"/>
                </a:solidFill>
                <a:latin typeface="Calibri" pitchFamily="34" charset="0"/>
                <a:ea typeface="Calibri" pitchFamily="34" charset="-122"/>
                <a:cs typeface="Calibri" pitchFamily="34" charset="-120"/>
              </a:rPr>
              <a:t>An agentic system runs a trajectory: multiple LLM calls, tool calls, retries, and branches for producing an output.</a:t>
            </a:r>
          </a:p>
          <a:p>
            <a:pPr marL="0" indent="0">
              <a:lnSpc>
                <a:spcPct val="112000"/>
              </a:lnSpc>
              <a:buNone/>
            </a:pPr>
            <a:endParaRPr lang="en-US" sz="1600" b="1" dirty="0">
              <a:solidFill>
                <a:srgbClr val="0F2247"/>
              </a:solidFill>
              <a:latin typeface="Calibri" pitchFamily="34" charset="0"/>
              <a:ea typeface="Calibri" pitchFamily="34" charset="-122"/>
              <a:cs typeface="Calibri" pitchFamily="34" charset="-120"/>
            </a:endParaRPr>
          </a:p>
        </p:txBody>
      </p:sp>
      <p:sp>
        <p:nvSpPr>
          <p:cNvPr id="9" name="Text 7">
            <a:extLst>
              <a:ext uri="{FF2B5EF4-FFF2-40B4-BE49-F238E27FC236}">
                <a16:creationId xmlns:a16="http://schemas.microsoft.com/office/drawing/2014/main" id="{B20FE719-2241-A27C-7153-E686E71BBCAE}"/>
              </a:ext>
            </a:extLst>
          </p:cNvPr>
          <p:cNvSpPr/>
          <p:nvPr/>
        </p:nvSpPr>
        <p:spPr>
          <a:xfrm>
            <a:off x="585216" y="5691295"/>
            <a:ext cx="7406640" cy="283464"/>
          </a:xfrm>
          <a:prstGeom prst="rect">
            <a:avLst/>
          </a:prstGeom>
          <a:noFill/>
          <a:ln/>
        </p:spPr>
        <p:txBody>
          <a:bodyPr wrap="square" lIns="0" tIns="0" rIns="0" bIns="0" rtlCol="0" anchor="t"/>
          <a:lstStyle/>
          <a:p>
            <a:pPr>
              <a:lnSpc>
                <a:spcPct val="112000"/>
              </a:lnSpc>
            </a:pPr>
            <a:r>
              <a:rPr lang="en-US" sz="1300" dirty="0">
                <a:solidFill>
                  <a:srgbClr val="3A4866"/>
                </a:solidFill>
                <a:latin typeface="Calibri" pitchFamily="34" charset="0"/>
                <a:ea typeface="Calibri" pitchFamily="34" charset="-122"/>
                <a:cs typeface="Calibri" pitchFamily="34" charset="-120"/>
              </a:rPr>
              <a:t>It has N components </a:t>
            </a:r>
            <a:r>
              <a:rPr lang="en-GB" sz="1300" dirty="0">
                <a:solidFill>
                  <a:srgbClr val="3A4866"/>
                </a:solidFill>
                <a:latin typeface="Calibri" pitchFamily="34" charset="0"/>
                <a:cs typeface="Calibri" pitchFamily="34" charset="-120"/>
                <a:sym typeface="Wingdings" panose="05000000000000000000" pitchFamily="2" charset="2"/>
              </a:rPr>
              <a:t></a:t>
            </a:r>
            <a:r>
              <a:rPr lang="en-US" sz="1300" dirty="0">
                <a:solidFill>
                  <a:srgbClr val="3A4866"/>
                </a:solidFill>
                <a:latin typeface="Calibri" pitchFamily="34" charset="0"/>
                <a:ea typeface="Calibri" pitchFamily="34" charset="-122"/>
                <a:cs typeface="Calibri" pitchFamily="34" charset="-120"/>
              </a:rPr>
              <a:t> N failure modes </a:t>
            </a:r>
          </a:p>
          <a:p>
            <a:pPr marL="0" indent="0">
              <a:lnSpc>
                <a:spcPct val="112000"/>
              </a:lnSpc>
              <a:buNone/>
            </a:pPr>
            <a:endParaRPr lang="en-US" sz="1300" dirty="0">
              <a:solidFill>
                <a:srgbClr val="3A4866"/>
              </a:solidFill>
              <a:latin typeface="Calibri" pitchFamily="34" charset="0"/>
              <a:ea typeface="Calibri" pitchFamily="34" charset="-122"/>
              <a:cs typeface="Calibri" pitchFamily="34" charset="-120"/>
            </a:endParaRPr>
          </a:p>
        </p:txBody>
      </p:sp>
      <p:sp>
        <p:nvSpPr>
          <p:cNvPr id="21" name="Text 18">
            <a:extLst>
              <a:ext uri="{FF2B5EF4-FFF2-40B4-BE49-F238E27FC236}">
                <a16:creationId xmlns:a16="http://schemas.microsoft.com/office/drawing/2014/main" id="{6E8BFA52-877D-DDD3-F3C0-82821312023A}"/>
              </a:ext>
            </a:extLst>
          </p:cNvPr>
          <p:cNvSpPr/>
          <p:nvPr/>
        </p:nvSpPr>
        <p:spPr>
          <a:xfrm>
            <a:off x="305" y="6444012"/>
            <a:ext cx="12191695" cy="320040"/>
          </a:xfrm>
          <a:prstGeom prst="rect">
            <a:avLst/>
          </a:prstGeom>
          <a:noFill/>
          <a:ln/>
        </p:spPr>
        <p:txBody>
          <a:bodyPr wrap="square" lIns="0" tIns="0" rIns="0" bIns="0" rtlCol="0" anchor="ctr"/>
          <a:lstStyle/>
          <a:p>
            <a:pPr marL="0" indent="0" algn="ctr">
              <a:buNone/>
            </a:pPr>
            <a:r>
              <a:rPr lang="en-US" sz="950" kern="0" spc="200">
                <a:solidFill>
                  <a:srgbClr val="8A93A8"/>
                </a:solidFill>
                <a:latin typeface="Arial" pitchFamily="34" charset="0"/>
                <a:ea typeface="Arial" pitchFamily="34" charset="-122"/>
                <a:cs typeface="Arial" pitchFamily="34" charset="-120"/>
              </a:rPr>
              <a:t>D A T A H A C K   S U M M I T   2 0 2 6</a:t>
            </a:r>
            <a:endParaRPr lang="en-US" sz="950"/>
          </a:p>
        </p:txBody>
      </p:sp>
      <p:pic>
        <p:nvPicPr>
          <p:cNvPr id="23" name="Picture 22" descr="preencoded.png">
            <a:extLst>
              <a:ext uri="{FF2B5EF4-FFF2-40B4-BE49-F238E27FC236}">
                <a16:creationId xmlns:a16="http://schemas.microsoft.com/office/drawing/2014/main" id="{D6AB75C1-076F-E224-D35F-C2F7E04F78C4}"/>
              </a:ext>
            </a:extLst>
          </p:cNvPr>
          <p:cNvPicPr>
            <a:picLocks noChangeAspect="1"/>
          </p:cNvPicPr>
          <p:nvPr/>
        </p:nvPicPr>
        <p:blipFill>
          <a:blip r:embed="rId3"/>
          <a:srcRect b="-176"/>
          <a:stretch>
            <a:fillRect/>
          </a:stretch>
        </p:blipFill>
        <p:spPr>
          <a:xfrm>
            <a:off x="10792419" y="367621"/>
            <a:ext cx="852695" cy="852309"/>
          </a:xfrm>
          <a:prstGeom prst="rect">
            <a:avLst/>
          </a:prstGeom>
        </p:spPr>
      </p:pic>
      <p:pic>
        <p:nvPicPr>
          <p:cNvPr id="10" name="Picture 9">
            <a:extLst>
              <a:ext uri="{FF2B5EF4-FFF2-40B4-BE49-F238E27FC236}">
                <a16:creationId xmlns:a16="http://schemas.microsoft.com/office/drawing/2014/main" id="{8DC27062-2FCA-982A-FF3B-E24B57511596}"/>
              </a:ext>
            </a:extLst>
          </p:cNvPr>
          <p:cNvPicPr>
            <a:picLocks noChangeAspect="1"/>
          </p:cNvPicPr>
          <p:nvPr/>
        </p:nvPicPr>
        <p:blipFill>
          <a:blip r:embed="rId4"/>
          <a:stretch>
            <a:fillRect/>
          </a:stretch>
        </p:blipFill>
        <p:spPr>
          <a:xfrm>
            <a:off x="731520" y="2659887"/>
            <a:ext cx="10424564" cy="2872233"/>
          </a:xfrm>
          <a:prstGeom prst="rect">
            <a:avLst/>
          </a:prstGeom>
          <a:ln>
            <a:solidFill>
              <a:schemeClr val="bg2">
                <a:lumMod val="90000"/>
              </a:schemeClr>
            </a:solidFill>
          </a:ln>
        </p:spPr>
      </p:pic>
    </p:spTree>
    <p:extLst>
      <p:ext uri="{BB962C8B-B14F-4D97-AF65-F5344CB8AC3E}">
        <p14:creationId xmlns:p14="http://schemas.microsoft.com/office/powerpoint/2010/main" val="28951363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7CF1FDE-5DD7-CA4F-454E-D5C807CF061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A27C6DA-0971-1B2E-28E6-408F0A120895}"/>
              </a:ext>
            </a:extLst>
          </p:cNvPr>
          <p:cNvSpPr/>
          <p:nvPr/>
        </p:nvSpPr>
        <p:spPr>
          <a:xfrm>
            <a:off x="502920" y="548640"/>
            <a:ext cx="82296" cy="603504"/>
          </a:xfrm>
          <a:prstGeom prst="rect">
            <a:avLst/>
          </a:prstGeom>
          <a:solidFill>
            <a:srgbClr val="FE7202"/>
          </a:solidFill>
          <a:ln/>
        </p:spPr>
        <p:txBody>
          <a:bodyPr/>
          <a:lstStyle/>
          <a:p>
            <a:endParaRPr lang="en-US"/>
          </a:p>
        </p:txBody>
      </p:sp>
      <p:sp>
        <p:nvSpPr>
          <p:cNvPr id="3" name="Text 1">
            <a:extLst>
              <a:ext uri="{FF2B5EF4-FFF2-40B4-BE49-F238E27FC236}">
                <a16:creationId xmlns:a16="http://schemas.microsoft.com/office/drawing/2014/main" id="{674F55CC-0B2E-F596-1E2E-1DE6FC85E2CF}"/>
              </a:ext>
            </a:extLst>
          </p:cNvPr>
          <p:cNvSpPr/>
          <p:nvPr/>
        </p:nvSpPr>
        <p:spPr>
          <a:xfrm>
            <a:off x="731520" y="502920"/>
            <a:ext cx="10058400" cy="713232"/>
          </a:xfrm>
          <a:prstGeom prst="rect">
            <a:avLst/>
          </a:prstGeom>
          <a:noFill/>
          <a:ln/>
        </p:spPr>
        <p:txBody>
          <a:bodyPr wrap="square" lIns="0" tIns="0" rIns="0" bIns="0" rtlCol="0" anchor="ctr"/>
          <a:lstStyle/>
          <a:p>
            <a:pPr marL="0" indent="0">
              <a:buNone/>
            </a:pPr>
            <a:r>
              <a:rPr lang="en-US" sz="2900" b="1" dirty="0">
                <a:solidFill>
                  <a:srgbClr val="0F2247"/>
                </a:solidFill>
                <a:latin typeface="Arial" pitchFamily="34" charset="0"/>
                <a:ea typeface="Arial" pitchFamily="34" charset="-122"/>
                <a:cs typeface="Arial" pitchFamily="34" charset="-120"/>
              </a:rPr>
              <a:t>Agent Observability &amp; Evaluation (AOE)</a:t>
            </a:r>
          </a:p>
        </p:txBody>
      </p:sp>
      <p:sp>
        <p:nvSpPr>
          <p:cNvPr id="4" name="Shape 2">
            <a:extLst>
              <a:ext uri="{FF2B5EF4-FFF2-40B4-BE49-F238E27FC236}">
                <a16:creationId xmlns:a16="http://schemas.microsoft.com/office/drawing/2014/main" id="{B1D315A2-3B68-4616-FC7A-B9E0B19A57B4}"/>
              </a:ext>
            </a:extLst>
          </p:cNvPr>
          <p:cNvSpPr/>
          <p:nvPr/>
        </p:nvSpPr>
        <p:spPr>
          <a:xfrm>
            <a:off x="502920" y="1325880"/>
            <a:ext cx="11183112" cy="27432"/>
          </a:xfrm>
          <a:prstGeom prst="rect">
            <a:avLst/>
          </a:prstGeom>
          <a:solidFill>
            <a:srgbClr val="FE7202"/>
          </a:solidFill>
          <a:ln/>
        </p:spPr>
        <p:txBody>
          <a:bodyPr/>
          <a:lstStyle/>
          <a:p>
            <a:endParaRPr lang="en-US"/>
          </a:p>
        </p:txBody>
      </p:sp>
      <p:sp>
        <p:nvSpPr>
          <p:cNvPr id="5" name="Text 3">
            <a:extLst>
              <a:ext uri="{FF2B5EF4-FFF2-40B4-BE49-F238E27FC236}">
                <a16:creationId xmlns:a16="http://schemas.microsoft.com/office/drawing/2014/main" id="{49213A53-883A-16BB-BD13-14B2A9FB51C5}"/>
              </a:ext>
            </a:extLst>
          </p:cNvPr>
          <p:cNvSpPr/>
          <p:nvPr/>
        </p:nvSpPr>
        <p:spPr>
          <a:xfrm>
            <a:off x="512064" y="1417320"/>
            <a:ext cx="8686800" cy="411480"/>
          </a:xfrm>
          <a:prstGeom prst="rect">
            <a:avLst/>
          </a:prstGeom>
          <a:noFill/>
          <a:ln/>
        </p:spPr>
        <p:txBody>
          <a:bodyPr wrap="square" lIns="0" tIns="0" rIns="0" bIns="0" rtlCol="0" anchor="ctr"/>
          <a:lstStyle/>
          <a:p>
            <a:pPr marL="0" indent="0">
              <a:buNone/>
            </a:pPr>
            <a:r>
              <a:rPr lang="en-US" sz="1350" i="1" dirty="0">
                <a:solidFill>
                  <a:srgbClr val="8A93A8"/>
                </a:solidFill>
                <a:latin typeface="Calibri" pitchFamily="34" charset="0"/>
                <a:ea typeface="Calibri" pitchFamily="34" charset="-122"/>
                <a:cs typeface="Calibri" pitchFamily="34" charset="-120"/>
              </a:rPr>
              <a:t>Why this breaks traditional evaluation?</a:t>
            </a:r>
          </a:p>
        </p:txBody>
      </p:sp>
      <p:sp>
        <p:nvSpPr>
          <p:cNvPr id="6" name="Shape 4">
            <a:extLst>
              <a:ext uri="{FF2B5EF4-FFF2-40B4-BE49-F238E27FC236}">
                <a16:creationId xmlns:a16="http://schemas.microsoft.com/office/drawing/2014/main" id="{9735BA9F-69AB-F743-EDAA-A8A0788236EA}"/>
              </a:ext>
            </a:extLst>
          </p:cNvPr>
          <p:cNvSpPr/>
          <p:nvPr/>
        </p:nvSpPr>
        <p:spPr>
          <a:xfrm>
            <a:off x="566928" y="2103120"/>
            <a:ext cx="146304" cy="146304"/>
          </a:xfrm>
          <a:prstGeom prst="ellipse">
            <a:avLst/>
          </a:prstGeom>
          <a:solidFill>
            <a:srgbClr val="1FB6A6"/>
          </a:solidFill>
          <a:ln/>
        </p:spPr>
        <p:txBody>
          <a:bodyPr/>
          <a:lstStyle/>
          <a:p>
            <a:endParaRPr lang="en-US"/>
          </a:p>
        </p:txBody>
      </p:sp>
      <p:sp>
        <p:nvSpPr>
          <p:cNvPr id="7" name="Text 5">
            <a:extLst>
              <a:ext uri="{FF2B5EF4-FFF2-40B4-BE49-F238E27FC236}">
                <a16:creationId xmlns:a16="http://schemas.microsoft.com/office/drawing/2014/main" id="{8609B747-13D7-8DF1-5248-46F00BCC43CE}"/>
              </a:ext>
            </a:extLst>
          </p:cNvPr>
          <p:cNvSpPr/>
          <p:nvPr/>
        </p:nvSpPr>
        <p:spPr>
          <a:xfrm>
            <a:off x="914400" y="1984248"/>
            <a:ext cx="7406640" cy="868680"/>
          </a:xfrm>
          <a:prstGeom prst="rect">
            <a:avLst/>
          </a:prstGeom>
          <a:noFill/>
          <a:ln/>
        </p:spPr>
        <p:txBody>
          <a:bodyPr wrap="square" lIns="0" tIns="0" rIns="0" bIns="0" rtlCol="0" anchor="t"/>
          <a:lstStyle/>
          <a:p>
            <a:pPr marL="0" indent="0">
              <a:lnSpc>
                <a:spcPct val="112000"/>
              </a:lnSpc>
              <a:buNone/>
            </a:pPr>
            <a:r>
              <a:rPr lang="en-US" sz="1600" b="1" dirty="0">
                <a:solidFill>
                  <a:srgbClr val="0F2247"/>
                </a:solidFill>
                <a:latin typeface="Calibri" pitchFamily="34" charset="0"/>
                <a:ea typeface="Calibri" pitchFamily="34" charset="-122"/>
                <a:cs typeface="Calibri" pitchFamily="34" charset="-120"/>
              </a:rPr>
              <a:t>End-to-end metrics show failure without reasoning​
</a:t>
            </a:r>
            <a:r>
              <a:rPr lang="en-US" sz="1300" dirty="0">
                <a:solidFill>
                  <a:srgbClr val="3A4866"/>
                </a:solidFill>
                <a:latin typeface="Calibri" pitchFamily="34" charset="0"/>
                <a:ea typeface="Calibri" pitchFamily="34" charset="-122"/>
                <a:cs typeface="Calibri" pitchFamily="34" charset="-120"/>
              </a:rPr>
              <a:t>For example, task success rate dropped from 78% to 64% &gt;&gt; gives nothing actionable.</a:t>
            </a:r>
            <a:endParaRPr lang="en-US" sz="1600" dirty="0"/>
          </a:p>
        </p:txBody>
      </p:sp>
      <p:sp>
        <p:nvSpPr>
          <p:cNvPr id="8" name="Shape 6">
            <a:extLst>
              <a:ext uri="{FF2B5EF4-FFF2-40B4-BE49-F238E27FC236}">
                <a16:creationId xmlns:a16="http://schemas.microsoft.com/office/drawing/2014/main" id="{6D8C5E5D-2624-DB86-6D74-38D53E1627AF}"/>
              </a:ext>
            </a:extLst>
          </p:cNvPr>
          <p:cNvSpPr/>
          <p:nvPr/>
        </p:nvSpPr>
        <p:spPr>
          <a:xfrm>
            <a:off x="566928" y="3054096"/>
            <a:ext cx="146304" cy="146304"/>
          </a:xfrm>
          <a:prstGeom prst="ellipse">
            <a:avLst/>
          </a:prstGeom>
          <a:solidFill>
            <a:srgbClr val="2D7FF9"/>
          </a:solidFill>
          <a:ln/>
        </p:spPr>
        <p:txBody>
          <a:bodyPr/>
          <a:lstStyle/>
          <a:p>
            <a:endParaRPr lang="en-US"/>
          </a:p>
        </p:txBody>
      </p:sp>
      <p:sp>
        <p:nvSpPr>
          <p:cNvPr id="9" name="Text 7">
            <a:extLst>
              <a:ext uri="{FF2B5EF4-FFF2-40B4-BE49-F238E27FC236}">
                <a16:creationId xmlns:a16="http://schemas.microsoft.com/office/drawing/2014/main" id="{87FBF1F4-15B5-A306-0FC9-FA2AC2489B6A}"/>
              </a:ext>
            </a:extLst>
          </p:cNvPr>
          <p:cNvSpPr/>
          <p:nvPr/>
        </p:nvSpPr>
        <p:spPr>
          <a:xfrm>
            <a:off x="914400" y="2935224"/>
            <a:ext cx="7406640" cy="868680"/>
          </a:xfrm>
          <a:prstGeom prst="rect">
            <a:avLst/>
          </a:prstGeom>
          <a:noFill/>
          <a:ln/>
        </p:spPr>
        <p:txBody>
          <a:bodyPr wrap="square" lIns="0" tIns="0" rIns="0" bIns="0" rtlCol="0" anchor="t"/>
          <a:lstStyle/>
          <a:p>
            <a:pPr marL="0" indent="0">
              <a:lnSpc>
                <a:spcPct val="112000"/>
              </a:lnSpc>
              <a:buNone/>
            </a:pPr>
            <a:r>
              <a:rPr lang="en-US" sz="1600" b="1" dirty="0">
                <a:solidFill>
                  <a:srgbClr val="0F2247"/>
                </a:solidFill>
                <a:latin typeface="Calibri" pitchFamily="34" charset="0"/>
                <a:ea typeface="Calibri" pitchFamily="34" charset="-122"/>
                <a:cs typeface="Calibri" pitchFamily="34" charset="-120"/>
              </a:rPr>
              <a:t>Component-only metrics miss emergent </a:t>
            </a:r>
            <a:r>
              <a:rPr lang="en-US" sz="1600" b="1" dirty="0" err="1">
                <a:solidFill>
                  <a:srgbClr val="0F2247"/>
                </a:solidFill>
                <a:latin typeface="Calibri" pitchFamily="34" charset="0"/>
                <a:ea typeface="Calibri" pitchFamily="34" charset="-122"/>
                <a:cs typeface="Calibri" pitchFamily="34" charset="-120"/>
              </a:rPr>
              <a:t>behaviour</a:t>
            </a:r>
            <a:r>
              <a:rPr lang="en-US" sz="1600" b="1" dirty="0">
                <a:solidFill>
                  <a:srgbClr val="0F2247"/>
                </a:solidFill>
                <a:latin typeface="Calibri" pitchFamily="34" charset="0"/>
                <a:ea typeface="Calibri" pitchFamily="34" charset="-122"/>
                <a:cs typeface="Calibri" pitchFamily="34" charset="-120"/>
              </a:rPr>
              <a:t>. 
</a:t>
            </a:r>
            <a:r>
              <a:rPr lang="en-US" sz="1300" dirty="0">
                <a:solidFill>
                  <a:srgbClr val="3A4866"/>
                </a:solidFill>
                <a:latin typeface="Calibri" pitchFamily="34" charset="0"/>
                <a:ea typeface="Calibri" pitchFamily="34" charset="-122"/>
                <a:cs typeface="Calibri" pitchFamily="34" charset="-120"/>
              </a:rPr>
              <a:t>E.g., a tool that is individually 95% accurate can still cause cascade failures when chained together in a workflow.​</a:t>
            </a:r>
            <a:endParaRPr lang="en-US" sz="1600" dirty="0"/>
          </a:p>
        </p:txBody>
      </p:sp>
      <p:sp>
        <p:nvSpPr>
          <p:cNvPr id="10" name="Shape 8">
            <a:extLst>
              <a:ext uri="{FF2B5EF4-FFF2-40B4-BE49-F238E27FC236}">
                <a16:creationId xmlns:a16="http://schemas.microsoft.com/office/drawing/2014/main" id="{FEC2D5DB-C3AA-587F-CB36-202CF16DCC95}"/>
              </a:ext>
            </a:extLst>
          </p:cNvPr>
          <p:cNvSpPr/>
          <p:nvPr/>
        </p:nvSpPr>
        <p:spPr>
          <a:xfrm>
            <a:off x="566928" y="4005072"/>
            <a:ext cx="146304" cy="146304"/>
          </a:xfrm>
          <a:prstGeom prst="ellipse">
            <a:avLst/>
          </a:prstGeom>
          <a:solidFill>
            <a:srgbClr val="1FB6A6"/>
          </a:solidFill>
          <a:ln/>
        </p:spPr>
        <p:txBody>
          <a:bodyPr/>
          <a:lstStyle/>
          <a:p>
            <a:endParaRPr lang="en-US"/>
          </a:p>
        </p:txBody>
      </p:sp>
      <p:sp>
        <p:nvSpPr>
          <p:cNvPr id="11" name="Text 9">
            <a:extLst>
              <a:ext uri="{FF2B5EF4-FFF2-40B4-BE49-F238E27FC236}">
                <a16:creationId xmlns:a16="http://schemas.microsoft.com/office/drawing/2014/main" id="{A7B7B794-5A4D-51A0-4BCB-5C3B882E7749}"/>
              </a:ext>
            </a:extLst>
          </p:cNvPr>
          <p:cNvSpPr/>
          <p:nvPr/>
        </p:nvSpPr>
        <p:spPr>
          <a:xfrm>
            <a:off x="914400" y="3886200"/>
            <a:ext cx="7406640" cy="868680"/>
          </a:xfrm>
          <a:prstGeom prst="rect">
            <a:avLst/>
          </a:prstGeom>
          <a:noFill/>
          <a:ln/>
        </p:spPr>
        <p:txBody>
          <a:bodyPr wrap="square" lIns="0" tIns="0" rIns="0" bIns="0" rtlCol="0" anchor="t"/>
          <a:lstStyle/>
          <a:p>
            <a:pPr marL="0" indent="0">
              <a:lnSpc>
                <a:spcPct val="112000"/>
              </a:lnSpc>
              <a:buNone/>
            </a:pPr>
            <a:r>
              <a:rPr lang="en-US" sz="1600" b="1" dirty="0">
                <a:solidFill>
                  <a:srgbClr val="0F2247"/>
                </a:solidFill>
                <a:latin typeface="Calibri" pitchFamily="34" charset="0"/>
                <a:ea typeface="Calibri" pitchFamily="34" charset="-122"/>
                <a:cs typeface="Calibri" pitchFamily="34" charset="-120"/>
              </a:rPr>
              <a:t>Without a runtime visibility, debugging becomes a nightmare.
</a:t>
            </a:r>
            <a:r>
              <a:rPr lang="en-US" sz="1300" dirty="0">
                <a:solidFill>
                  <a:srgbClr val="3A4866"/>
                </a:solidFill>
                <a:latin typeface="Calibri" pitchFamily="34" charset="0"/>
                <a:ea typeface="Calibri" pitchFamily="34" charset="-122"/>
                <a:cs typeface="Calibri" pitchFamily="34" charset="-120"/>
              </a:rPr>
              <a:t>By the time the user complains, the trace is gone, the LLM is non-deterministic, and we cannot reproduce the failure.​</a:t>
            </a:r>
            <a:endParaRPr lang="en-US" sz="1600" dirty="0"/>
          </a:p>
        </p:txBody>
      </p:sp>
      <p:sp>
        <p:nvSpPr>
          <p:cNvPr id="21" name="Text 18">
            <a:extLst>
              <a:ext uri="{FF2B5EF4-FFF2-40B4-BE49-F238E27FC236}">
                <a16:creationId xmlns:a16="http://schemas.microsoft.com/office/drawing/2014/main" id="{4BAB23DA-2C15-3BD7-2EF9-55A28EF423D3}"/>
              </a:ext>
            </a:extLst>
          </p:cNvPr>
          <p:cNvSpPr/>
          <p:nvPr/>
        </p:nvSpPr>
        <p:spPr>
          <a:xfrm>
            <a:off x="0" y="6419088"/>
            <a:ext cx="12191695" cy="320040"/>
          </a:xfrm>
          <a:prstGeom prst="rect">
            <a:avLst/>
          </a:prstGeom>
          <a:noFill/>
          <a:ln/>
        </p:spPr>
        <p:txBody>
          <a:bodyPr wrap="square" lIns="0" tIns="0" rIns="0" bIns="0" rtlCol="0" anchor="ctr"/>
          <a:lstStyle/>
          <a:p>
            <a:pPr marL="0" indent="0" algn="ctr">
              <a:buNone/>
            </a:pPr>
            <a:r>
              <a:rPr lang="en-US" sz="950" kern="0" spc="200">
                <a:solidFill>
                  <a:srgbClr val="8A93A8"/>
                </a:solidFill>
                <a:latin typeface="Arial" pitchFamily="34" charset="0"/>
                <a:ea typeface="Arial" pitchFamily="34" charset="-122"/>
                <a:cs typeface="Arial" pitchFamily="34" charset="-120"/>
              </a:rPr>
              <a:t>D A T A H A C K   S U M M I T   2 0 2 6</a:t>
            </a:r>
            <a:endParaRPr lang="en-US" sz="950"/>
          </a:p>
        </p:txBody>
      </p:sp>
      <p:pic>
        <p:nvPicPr>
          <p:cNvPr id="23" name="Picture 22" descr="preencoded.png">
            <a:extLst>
              <a:ext uri="{FF2B5EF4-FFF2-40B4-BE49-F238E27FC236}">
                <a16:creationId xmlns:a16="http://schemas.microsoft.com/office/drawing/2014/main" id="{3BBB389E-8DA0-9ED2-0B11-ED509B77C56F}"/>
              </a:ext>
            </a:extLst>
          </p:cNvPr>
          <p:cNvPicPr>
            <a:picLocks noChangeAspect="1"/>
          </p:cNvPicPr>
          <p:nvPr/>
        </p:nvPicPr>
        <p:blipFill>
          <a:blip r:embed="rId3"/>
          <a:srcRect b="-176"/>
          <a:stretch>
            <a:fillRect/>
          </a:stretch>
        </p:blipFill>
        <p:spPr>
          <a:xfrm>
            <a:off x="10792419" y="367621"/>
            <a:ext cx="852695" cy="852309"/>
          </a:xfrm>
          <a:prstGeom prst="rect">
            <a:avLst/>
          </a:prstGeom>
        </p:spPr>
      </p:pic>
    </p:spTree>
    <p:extLst>
      <p:ext uri="{BB962C8B-B14F-4D97-AF65-F5344CB8AC3E}">
        <p14:creationId xmlns:p14="http://schemas.microsoft.com/office/powerpoint/2010/main" val="5326849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A6F6C74-D028-9720-5218-2FF6B5C792D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80EB7EC-FD25-5726-2319-8CA360637C8D}"/>
              </a:ext>
            </a:extLst>
          </p:cNvPr>
          <p:cNvSpPr/>
          <p:nvPr/>
        </p:nvSpPr>
        <p:spPr>
          <a:xfrm>
            <a:off x="502920" y="548640"/>
            <a:ext cx="82296" cy="603504"/>
          </a:xfrm>
          <a:prstGeom prst="rect">
            <a:avLst/>
          </a:prstGeom>
          <a:solidFill>
            <a:srgbClr val="FE7202"/>
          </a:solidFill>
          <a:ln/>
        </p:spPr>
        <p:txBody>
          <a:bodyPr/>
          <a:lstStyle/>
          <a:p>
            <a:endParaRPr lang="en-US"/>
          </a:p>
        </p:txBody>
      </p:sp>
      <p:sp>
        <p:nvSpPr>
          <p:cNvPr id="3" name="Text 1">
            <a:extLst>
              <a:ext uri="{FF2B5EF4-FFF2-40B4-BE49-F238E27FC236}">
                <a16:creationId xmlns:a16="http://schemas.microsoft.com/office/drawing/2014/main" id="{3120F01B-F490-16ED-173F-217456AEE293}"/>
              </a:ext>
            </a:extLst>
          </p:cNvPr>
          <p:cNvSpPr/>
          <p:nvPr/>
        </p:nvSpPr>
        <p:spPr>
          <a:xfrm>
            <a:off x="731520" y="502920"/>
            <a:ext cx="10058400" cy="713232"/>
          </a:xfrm>
          <a:prstGeom prst="rect">
            <a:avLst/>
          </a:prstGeom>
          <a:noFill/>
          <a:ln/>
        </p:spPr>
        <p:txBody>
          <a:bodyPr wrap="square" lIns="0" tIns="0" rIns="0" bIns="0" rtlCol="0" anchor="ctr"/>
          <a:lstStyle/>
          <a:p>
            <a:pPr marL="0" indent="0">
              <a:buNone/>
            </a:pPr>
            <a:r>
              <a:rPr lang="en-US" sz="2900" b="1" dirty="0">
                <a:solidFill>
                  <a:srgbClr val="0F2247"/>
                </a:solidFill>
                <a:latin typeface="Arial" pitchFamily="34" charset="0"/>
                <a:ea typeface="Arial" pitchFamily="34" charset="-122"/>
                <a:cs typeface="Arial" pitchFamily="34" charset="-120"/>
              </a:rPr>
              <a:t>Agent Observability &amp; Evaluation (AOE)</a:t>
            </a:r>
          </a:p>
        </p:txBody>
      </p:sp>
      <p:sp>
        <p:nvSpPr>
          <p:cNvPr id="4" name="Shape 2">
            <a:extLst>
              <a:ext uri="{FF2B5EF4-FFF2-40B4-BE49-F238E27FC236}">
                <a16:creationId xmlns:a16="http://schemas.microsoft.com/office/drawing/2014/main" id="{036CE25E-8FAD-6169-7B12-AFF29650C077}"/>
              </a:ext>
            </a:extLst>
          </p:cNvPr>
          <p:cNvSpPr/>
          <p:nvPr/>
        </p:nvSpPr>
        <p:spPr>
          <a:xfrm>
            <a:off x="502920" y="1325880"/>
            <a:ext cx="11183112" cy="27432"/>
          </a:xfrm>
          <a:prstGeom prst="rect">
            <a:avLst/>
          </a:prstGeom>
          <a:solidFill>
            <a:srgbClr val="FE7202"/>
          </a:solidFill>
          <a:ln/>
        </p:spPr>
        <p:txBody>
          <a:bodyPr/>
          <a:lstStyle/>
          <a:p>
            <a:endParaRPr lang="en-US"/>
          </a:p>
        </p:txBody>
      </p:sp>
      <p:pic>
        <p:nvPicPr>
          <p:cNvPr id="12" name="Picture 11" descr="preencoded.png">
            <a:extLst>
              <a:ext uri="{FF2B5EF4-FFF2-40B4-BE49-F238E27FC236}">
                <a16:creationId xmlns:a16="http://schemas.microsoft.com/office/drawing/2014/main" id="{35EFC7E9-FFAE-27D1-56FD-3F213E1367AA}"/>
              </a:ext>
            </a:extLst>
          </p:cNvPr>
          <p:cNvPicPr>
            <a:picLocks noChangeAspect="1"/>
          </p:cNvPicPr>
          <p:nvPr/>
        </p:nvPicPr>
        <p:blipFill>
          <a:blip r:embed="rId3"/>
          <a:srcRect b="-176"/>
          <a:stretch>
            <a:fillRect/>
          </a:stretch>
        </p:blipFill>
        <p:spPr>
          <a:xfrm>
            <a:off x="10792419" y="367621"/>
            <a:ext cx="852695" cy="852309"/>
          </a:xfrm>
          <a:prstGeom prst="rect">
            <a:avLst/>
          </a:prstGeom>
        </p:spPr>
      </p:pic>
      <p:grpSp>
        <p:nvGrpSpPr>
          <p:cNvPr id="8" name="Group 7">
            <a:extLst>
              <a:ext uri="{FF2B5EF4-FFF2-40B4-BE49-F238E27FC236}">
                <a16:creationId xmlns:a16="http://schemas.microsoft.com/office/drawing/2014/main" id="{F85C357F-592F-98A8-4F28-4A9AC348E093}"/>
              </a:ext>
            </a:extLst>
          </p:cNvPr>
          <p:cNvGrpSpPr/>
          <p:nvPr/>
        </p:nvGrpSpPr>
        <p:grpSpPr>
          <a:xfrm>
            <a:off x="0" y="1417319"/>
            <a:ext cx="12191695" cy="5321809"/>
            <a:chOff x="0" y="1417319"/>
            <a:chExt cx="12191695" cy="5321809"/>
          </a:xfrm>
        </p:grpSpPr>
        <p:pic>
          <p:nvPicPr>
            <p:cNvPr id="6" name="Picture 5">
              <a:extLst>
                <a:ext uri="{FF2B5EF4-FFF2-40B4-BE49-F238E27FC236}">
                  <a16:creationId xmlns:a16="http://schemas.microsoft.com/office/drawing/2014/main" id="{14F31690-9A8B-1438-1EF8-1A22A617B7A7}"/>
                </a:ext>
              </a:extLst>
            </p:cNvPr>
            <p:cNvPicPr>
              <a:picLocks noChangeAspect="1"/>
            </p:cNvPicPr>
            <p:nvPr/>
          </p:nvPicPr>
          <p:blipFill>
            <a:blip r:embed="rId4"/>
            <a:stretch>
              <a:fillRect/>
            </a:stretch>
          </p:blipFill>
          <p:spPr>
            <a:xfrm>
              <a:off x="777279" y="1417319"/>
              <a:ext cx="10867836" cy="5038345"/>
            </a:xfrm>
            <a:prstGeom prst="rect">
              <a:avLst/>
            </a:prstGeom>
          </p:spPr>
        </p:pic>
        <p:sp>
          <p:nvSpPr>
            <p:cNvPr id="11" name="Text 7">
              <a:extLst>
                <a:ext uri="{FF2B5EF4-FFF2-40B4-BE49-F238E27FC236}">
                  <a16:creationId xmlns:a16="http://schemas.microsoft.com/office/drawing/2014/main" id="{7D118E4F-2D67-E753-17E6-244B5916C1FA}"/>
                </a:ext>
              </a:extLst>
            </p:cNvPr>
            <p:cNvSpPr/>
            <p:nvPr/>
          </p:nvSpPr>
          <p:spPr>
            <a:xfrm>
              <a:off x="0" y="6419088"/>
              <a:ext cx="12191695" cy="320040"/>
            </a:xfrm>
            <a:prstGeom prst="rect">
              <a:avLst/>
            </a:prstGeom>
            <a:noFill/>
            <a:ln/>
          </p:spPr>
          <p:txBody>
            <a:bodyPr wrap="square" lIns="0" tIns="0" rIns="0" bIns="0" rtlCol="0" anchor="ctr"/>
            <a:lstStyle/>
            <a:p>
              <a:pPr marL="0" indent="0" algn="ctr">
                <a:buNone/>
              </a:pPr>
              <a:r>
                <a:rPr lang="en-US" sz="950" kern="0" spc="200">
                  <a:solidFill>
                    <a:srgbClr val="8A93A8"/>
                  </a:solidFill>
                  <a:latin typeface="Arial" pitchFamily="34" charset="0"/>
                  <a:ea typeface="Arial" pitchFamily="34" charset="-122"/>
                  <a:cs typeface="Arial" pitchFamily="34" charset="-120"/>
                </a:rPr>
                <a:t>D A T A H A C K   S U M M I T   2 0 2 6</a:t>
              </a:r>
              <a:endParaRPr lang="en-US" sz="950"/>
            </a:p>
          </p:txBody>
        </p:sp>
        <p:sp>
          <p:nvSpPr>
            <p:cNvPr id="13" name="Text 3">
              <a:extLst>
                <a:ext uri="{FF2B5EF4-FFF2-40B4-BE49-F238E27FC236}">
                  <a16:creationId xmlns:a16="http://schemas.microsoft.com/office/drawing/2014/main" id="{453C5BBF-207D-99E3-0D67-8BD22CE7382B}"/>
                </a:ext>
              </a:extLst>
            </p:cNvPr>
            <p:cNvSpPr/>
            <p:nvPr/>
          </p:nvSpPr>
          <p:spPr>
            <a:xfrm>
              <a:off x="512064" y="1417320"/>
              <a:ext cx="8686800" cy="411480"/>
            </a:xfrm>
            <a:prstGeom prst="rect">
              <a:avLst/>
            </a:prstGeom>
            <a:noFill/>
            <a:ln/>
          </p:spPr>
          <p:txBody>
            <a:bodyPr wrap="square" lIns="0" tIns="0" rIns="0" bIns="0" rtlCol="0" anchor="ctr"/>
            <a:lstStyle/>
            <a:p>
              <a:pPr marL="0" indent="0">
                <a:buNone/>
              </a:pPr>
              <a:r>
                <a:rPr lang="en-US" sz="1350" i="1" dirty="0">
                  <a:solidFill>
                    <a:srgbClr val="8A93A8"/>
                  </a:solidFill>
                  <a:latin typeface="Calibri" pitchFamily="34" charset="0"/>
                  <a:ea typeface="Calibri" pitchFamily="34" charset="-122"/>
                  <a:cs typeface="Calibri" pitchFamily="34" charset="-120"/>
                </a:rPr>
                <a:t>AOE matrix for traditional ML vs Agentic Systems</a:t>
              </a:r>
            </a:p>
          </p:txBody>
        </p:sp>
        <p:sp>
          <p:nvSpPr>
            <p:cNvPr id="7" name="Rectangle 6">
              <a:extLst>
                <a:ext uri="{FF2B5EF4-FFF2-40B4-BE49-F238E27FC236}">
                  <a16:creationId xmlns:a16="http://schemas.microsoft.com/office/drawing/2014/main" id="{8B855BC1-27E3-DF55-C64B-3A2D3D28D99D}"/>
                </a:ext>
              </a:extLst>
            </p:cNvPr>
            <p:cNvSpPr/>
            <p:nvPr/>
          </p:nvSpPr>
          <p:spPr>
            <a:xfrm>
              <a:off x="8655627" y="3730336"/>
              <a:ext cx="2774373" cy="153120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grpSp>
    </p:spTree>
    <p:extLst>
      <p:ext uri="{BB962C8B-B14F-4D97-AF65-F5344CB8AC3E}">
        <p14:creationId xmlns:p14="http://schemas.microsoft.com/office/powerpoint/2010/main" val="29002639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A5800-842C-DEE4-C577-A7BEC75238B6}"/>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E3CEC2B6-4719-83B2-B40C-249162136B5F}"/>
              </a:ext>
            </a:extLst>
          </p:cNvPr>
          <p:cNvPicPr>
            <a:picLocks noChangeAspect="1"/>
          </p:cNvPicPr>
          <p:nvPr/>
        </p:nvPicPr>
        <p:blipFill>
          <a:blip r:embed="rId3"/>
          <a:stretch>
            <a:fillRect/>
          </a:stretch>
        </p:blipFill>
        <p:spPr>
          <a:xfrm>
            <a:off x="777279" y="1417319"/>
            <a:ext cx="10867836" cy="5038345"/>
          </a:xfrm>
          <a:prstGeom prst="rect">
            <a:avLst/>
          </a:prstGeom>
        </p:spPr>
      </p:pic>
      <p:sp>
        <p:nvSpPr>
          <p:cNvPr id="2" name="Shape 0">
            <a:extLst>
              <a:ext uri="{FF2B5EF4-FFF2-40B4-BE49-F238E27FC236}">
                <a16:creationId xmlns:a16="http://schemas.microsoft.com/office/drawing/2014/main" id="{01897F1A-4A8C-CD14-A3E7-19BB345C8F20}"/>
              </a:ext>
            </a:extLst>
          </p:cNvPr>
          <p:cNvSpPr/>
          <p:nvPr/>
        </p:nvSpPr>
        <p:spPr>
          <a:xfrm>
            <a:off x="502920" y="548640"/>
            <a:ext cx="82296" cy="603504"/>
          </a:xfrm>
          <a:prstGeom prst="rect">
            <a:avLst/>
          </a:prstGeom>
          <a:solidFill>
            <a:srgbClr val="FE7202"/>
          </a:solidFill>
          <a:ln/>
        </p:spPr>
        <p:txBody>
          <a:bodyPr/>
          <a:lstStyle/>
          <a:p>
            <a:endParaRPr lang="en-US"/>
          </a:p>
        </p:txBody>
      </p:sp>
      <p:sp>
        <p:nvSpPr>
          <p:cNvPr id="3" name="Text 1">
            <a:extLst>
              <a:ext uri="{FF2B5EF4-FFF2-40B4-BE49-F238E27FC236}">
                <a16:creationId xmlns:a16="http://schemas.microsoft.com/office/drawing/2014/main" id="{D74674E5-792D-D10F-9596-F47AA8E3457A}"/>
              </a:ext>
            </a:extLst>
          </p:cNvPr>
          <p:cNvSpPr/>
          <p:nvPr/>
        </p:nvSpPr>
        <p:spPr>
          <a:xfrm>
            <a:off x="731520" y="502920"/>
            <a:ext cx="10058400" cy="713232"/>
          </a:xfrm>
          <a:prstGeom prst="rect">
            <a:avLst/>
          </a:prstGeom>
          <a:noFill/>
          <a:ln/>
        </p:spPr>
        <p:txBody>
          <a:bodyPr wrap="square" lIns="0" tIns="0" rIns="0" bIns="0" rtlCol="0" anchor="ctr"/>
          <a:lstStyle/>
          <a:p>
            <a:pPr marL="0" indent="0">
              <a:buNone/>
            </a:pPr>
            <a:r>
              <a:rPr lang="en-US" sz="2900" b="1" dirty="0">
                <a:solidFill>
                  <a:srgbClr val="0F2247"/>
                </a:solidFill>
                <a:latin typeface="Arial" pitchFamily="34" charset="0"/>
                <a:ea typeface="Arial" pitchFamily="34" charset="-122"/>
                <a:cs typeface="Arial" pitchFamily="34" charset="-120"/>
              </a:rPr>
              <a:t>Agent Observability &amp; Evaluation (AOE)</a:t>
            </a:r>
          </a:p>
        </p:txBody>
      </p:sp>
      <p:sp>
        <p:nvSpPr>
          <p:cNvPr id="4" name="Shape 2">
            <a:extLst>
              <a:ext uri="{FF2B5EF4-FFF2-40B4-BE49-F238E27FC236}">
                <a16:creationId xmlns:a16="http://schemas.microsoft.com/office/drawing/2014/main" id="{5FFF4FBE-E7ED-7516-ED02-332CEC73BB51}"/>
              </a:ext>
            </a:extLst>
          </p:cNvPr>
          <p:cNvSpPr/>
          <p:nvPr/>
        </p:nvSpPr>
        <p:spPr>
          <a:xfrm>
            <a:off x="502920" y="1325880"/>
            <a:ext cx="11183112" cy="27432"/>
          </a:xfrm>
          <a:prstGeom prst="rect">
            <a:avLst/>
          </a:prstGeom>
          <a:solidFill>
            <a:srgbClr val="FE7202"/>
          </a:solidFill>
          <a:ln/>
        </p:spPr>
        <p:txBody>
          <a:bodyPr/>
          <a:lstStyle/>
          <a:p>
            <a:endParaRPr lang="en-US"/>
          </a:p>
        </p:txBody>
      </p:sp>
      <p:sp>
        <p:nvSpPr>
          <p:cNvPr id="11" name="Text 7">
            <a:extLst>
              <a:ext uri="{FF2B5EF4-FFF2-40B4-BE49-F238E27FC236}">
                <a16:creationId xmlns:a16="http://schemas.microsoft.com/office/drawing/2014/main" id="{B959B7AA-65A4-673F-CDFA-F8EAAA4B5427}"/>
              </a:ext>
            </a:extLst>
          </p:cNvPr>
          <p:cNvSpPr/>
          <p:nvPr/>
        </p:nvSpPr>
        <p:spPr>
          <a:xfrm>
            <a:off x="0" y="6419088"/>
            <a:ext cx="12191695" cy="320040"/>
          </a:xfrm>
          <a:prstGeom prst="rect">
            <a:avLst/>
          </a:prstGeom>
          <a:noFill/>
          <a:ln/>
        </p:spPr>
        <p:txBody>
          <a:bodyPr wrap="square" lIns="0" tIns="0" rIns="0" bIns="0" rtlCol="0" anchor="ctr"/>
          <a:lstStyle/>
          <a:p>
            <a:pPr marL="0" indent="0" algn="ctr">
              <a:buNone/>
            </a:pPr>
            <a:r>
              <a:rPr lang="en-US" sz="950" kern="0" spc="200">
                <a:solidFill>
                  <a:srgbClr val="8A93A8"/>
                </a:solidFill>
                <a:latin typeface="Arial" pitchFamily="34" charset="0"/>
                <a:ea typeface="Arial" pitchFamily="34" charset="-122"/>
                <a:cs typeface="Arial" pitchFamily="34" charset="-120"/>
              </a:rPr>
              <a:t>D A T A H A C K   S U M M I T   2 0 2 6</a:t>
            </a:r>
            <a:endParaRPr lang="en-US" sz="950"/>
          </a:p>
        </p:txBody>
      </p:sp>
      <p:pic>
        <p:nvPicPr>
          <p:cNvPr id="12" name="Picture 11" descr="preencoded.png">
            <a:extLst>
              <a:ext uri="{FF2B5EF4-FFF2-40B4-BE49-F238E27FC236}">
                <a16:creationId xmlns:a16="http://schemas.microsoft.com/office/drawing/2014/main" id="{1A4BDE44-2CD3-EAF1-C257-3C4A2E3924F5}"/>
              </a:ext>
            </a:extLst>
          </p:cNvPr>
          <p:cNvPicPr>
            <a:picLocks noChangeAspect="1"/>
          </p:cNvPicPr>
          <p:nvPr/>
        </p:nvPicPr>
        <p:blipFill>
          <a:blip r:embed="rId4"/>
          <a:srcRect b="-176"/>
          <a:stretch>
            <a:fillRect/>
          </a:stretch>
        </p:blipFill>
        <p:spPr>
          <a:xfrm>
            <a:off x="10792419" y="367621"/>
            <a:ext cx="852695" cy="852309"/>
          </a:xfrm>
          <a:prstGeom prst="rect">
            <a:avLst/>
          </a:prstGeom>
        </p:spPr>
      </p:pic>
      <p:sp>
        <p:nvSpPr>
          <p:cNvPr id="13" name="Text 3">
            <a:extLst>
              <a:ext uri="{FF2B5EF4-FFF2-40B4-BE49-F238E27FC236}">
                <a16:creationId xmlns:a16="http://schemas.microsoft.com/office/drawing/2014/main" id="{9BBC1E1B-7C3E-0AB8-3A88-A71CC18E8BD9}"/>
              </a:ext>
            </a:extLst>
          </p:cNvPr>
          <p:cNvSpPr/>
          <p:nvPr/>
        </p:nvSpPr>
        <p:spPr>
          <a:xfrm>
            <a:off x="512064" y="1417320"/>
            <a:ext cx="8686800" cy="411480"/>
          </a:xfrm>
          <a:prstGeom prst="rect">
            <a:avLst/>
          </a:prstGeom>
          <a:noFill/>
          <a:ln/>
        </p:spPr>
        <p:txBody>
          <a:bodyPr wrap="square" lIns="0" tIns="0" rIns="0" bIns="0" rtlCol="0" anchor="ctr"/>
          <a:lstStyle/>
          <a:p>
            <a:pPr marL="0" indent="0">
              <a:buNone/>
            </a:pPr>
            <a:r>
              <a:rPr lang="en-US" sz="1350" i="1" dirty="0">
                <a:solidFill>
                  <a:srgbClr val="8A93A8"/>
                </a:solidFill>
                <a:latin typeface="Calibri" pitchFamily="34" charset="0"/>
                <a:ea typeface="Calibri" pitchFamily="34" charset="-122"/>
                <a:cs typeface="Calibri" pitchFamily="34" charset="-120"/>
              </a:rPr>
              <a:t>AOE matrix for traditional ML vs Agentic Systems</a:t>
            </a:r>
          </a:p>
        </p:txBody>
      </p:sp>
      <p:sp>
        <p:nvSpPr>
          <p:cNvPr id="7" name="Rounded Rectangle 15">
            <a:extLst>
              <a:ext uri="{FF2B5EF4-FFF2-40B4-BE49-F238E27FC236}">
                <a16:creationId xmlns:a16="http://schemas.microsoft.com/office/drawing/2014/main" id="{344CD104-30E3-B7E4-22D4-6F09900C4DA9}"/>
              </a:ext>
            </a:extLst>
          </p:cNvPr>
          <p:cNvSpPr/>
          <p:nvPr/>
        </p:nvSpPr>
        <p:spPr>
          <a:xfrm>
            <a:off x="1194955" y="3688773"/>
            <a:ext cx="10219766" cy="1751907"/>
          </a:xfrm>
          <a:prstGeom prst="roundRect">
            <a:avLst>
              <a:gd name="adj" fmla="val 6972"/>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284075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AE4587C-48B3-6FB4-0842-0FD3101F61A4}"/>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5B76CD54-88EE-B5CE-1CC9-7BC7957A4A95}"/>
              </a:ext>
            </a:extLst>
          </p:cNvPr>
          <p:cNvSpPr/>
          <p:nvPr/>
        </p:nvSpPr>
        <p:spPr>
          <a:xfrm>
            <a:off x="502920" y="1417320"/>
            <a:ext cx="2926080" cy="1554480"/>
          </a:xfrm>
          <a:prstGeom prst="rect">
            <a:avLst/>
          </a:prstGeom>
          <a:noFill/>
          <a:ln/>
        </p:spPr>
        <p:txBody>
          <a:bodyPr wrap="square" lIns="0" tIns="0" rIns="0" bIns="0" rtlCol="0" anchor="ctr"/>
          <a:lstStyle/>
          <a:p>
            <a:pPr marL="0" indent="0">
              <a:buNone/>
            </a:pPr>
            <a:r>
              <a:rPr lang="en-US" sz="10400" b="1" dirty="0">
                <a:solidFill>
                  <a:srgbClr val="2D7FF9"/>
                </a:solidFill>
                <a:latin typeface="Arial" pitchFamily="34" charset="0"/>
                <a:ea typeface="Arial" pitchFamily="34" charset="-122"/>
                <a:cs typeface="Arial" pitchFamily="34" charset="-120"/>
              </a:rPr>
              <a:t>02</a:t>
            </a:r>
            <a:endParaRPr lang="en-US" sz="10400" dirty="0"/>
          </a:p>
        </p:txBody>
      </p:sp>
      <p:sp>
        <p:nvSpPr>
          <p:cNvPr id="4" name="Text 1">
            <a:extLst>
              <a:ext uri="{FF2B5EF4-FFF2-40B4-BE49-F238E27FC236}">
                <a16:creationId xmlns:a16="http://schemas.microsoft.com/office/drawing/2014/main" id="{1390E8CE-0EDA-4036-F1BB-66B56ACE23EE}"/>
              </a:ext>
            </a:extLst>
          </p:cNvPr>
          <p:cNvSpPr/>
          <p:nvPr/>
        </p:nvSpPr>
        <p:spPr>
          <a:xfrm>
            <a:off x="530352" y="3063240"/>
            <a:ext cx="4572000" cy="292608"/>
          </a:xfrm>
          <a:prstGeom prst="rect">
            <a:avLst/>
          </a:prstGeom>
          <a:noFill/>
          <a:ln/>
        </p:spPr>
        <p:txBody>
          <a:bodyPr wrap="square" lIns="0" tIns="0" rIns="0" bIns="0" rtlCol="0" anchor="ctr"/>
          <a:lstStyle/>
          <a:p>
            <a:pPr marL="0" indent="0">
              <a:buNone/>
            </a:pPr>
            <a:r>
              <a:rPr lang="en-US" sz="1300" b="1" kern="0" spc="400" dirty="0">
                <a:solidFill>
                  <a:srgbClr val="1FB6A6"/>
                </a:solidFill>
                <a:latin typeface="Arial" pitchFamily="34" charset="0"/>
                <a:cs typeface="Arial" pitchFamily="34" charset="-120"/>
              </a:rPr>
              <a:t>FRAMEWORK</a:t>
            </a:r>
            <a:endParaRPr lang="en-US" sz="1300" dirty="0"/>
          </a:p>
        </p:txBody>
      </p:sp>
      <p:sp>
        <p:nvSpPr>
          <p:cNvPr id="5" name="Text 2">
            <a:extLst>
              <a:ext uri="{FF2B5EF4-FFF2-40B4-BE49-F238E27FC236}">
                <a16:creationId xmlns:a16="http://schemas.microsoft.com/office/drawing/2014/main" id="{5ECE0715-59FA-57D1-C406-4D210724F85A}"/>
              </a:ext>
            </a:extLst>
          </p:cNvPr>
          <p:cNvSpPr/>
          <p:nvPr/>
        </p:nvSpPr>
        <p:spPr>
          <a:xfrm>
            <a:off x="502920" y="3429000"/>
            <a:ext cx="7540413" cy="1097280"/>
          </a:xfrm>
          <a:prstGeom prst="rect">
            <a:avLst/>
          </a:prstGeom>
          <a:noFill/>
          <a:ln/>
        </p:spPr>
        <p:txBody>
          <a:bodyPr wrap="square" lIns="0" tIns="0" rIns="0" bIns="0" rtlCol="0" anchor="ctr"/>
          <a:lstStyle/>
          <a:p>
            <a:pPr marL="0" indent="0">
              <a:lnSpc>
                <a:spcPct val="100000"/>
              </a:lnSpc>
              <a:buNone/>
            </a:pPr>
            <a:r>
              <a:rPr lang="en-US" sz="4200" b="1" dirty="0">
                <a:solidFill>
                  <a:srgbClr val="FFFFFF"/>
                </a:solidFill>
                <a:latin typeface="Arial" pitchFamily="34" charset="0"/>
                <a:ea typeface="Arial" pitchFamily="34" charset="-122"/>
                <a:cs typeface="Arial" pitchFamily="34" charset="-120"/>
              </a:rPr>
              <a:t>A Multi-Layered Framework for AOE</a:t>
            </a:r>
            <a:endParaRPr lang="en-US" sz="4200" dirty="0"/>
          </a:p>
        </p:txBody>
      </p:sp>
      <p:sp>
        <p:nvSpPr>
          <p:cNvPr id="7" name="Text 4">
            <a:extLst>
              <a:ext uri="{FF2B5EF4-FFF2-40B4-BE49-F238E27FC236}">
                <a16:creationId xmlns:a16="http://schemas.microsoft.com/office/drawing/2014/main" id="{56C0CD9C-E42D-2212-4ACB-2C675160B04E}"/>
              </a:ext>
            </a:extLst>
          </p:cNvPr>
          <p:cNvSpPr/>
          <p:nvPr/>
        </p:nvSpPr>
        <p:spPr>
          <a:xfrm>
            <a:off x="502920" y="6400800"/>
            <a:ext cx="7315200" cy="320040"/>
          </a:xfrm>
          <a:prstGeom prst="rect">
            <a:avLst/>
          </a:prstGeom>
          <a:noFill/>
          <a:ln/>
        </p:spPr>
        <p:txBody>
          <a:bodyPr wrap="square" lIns="0" tIns="0" rIns="0" bIns="0" rtlCol="0" anchor="ctr"/>
          <a:lstStyle/>
          <a:p>
            <a:pPr marL="0" indent="0">
              <a:buNone/>
            </a:pPr>
            <a:r>
              <a:rPr lang="en-US" sz="1100">
                <a:solidFill>
                  <a:srgbClr val="9AA4C0"/>
                </a:solidFill>
                <a:latin typeface="Calibri" pitchFamily="34" charset="0"/>
                <a:ea typeface="Calibri" pitchFamily="34" charset="-122"/>
                <a:cs typeface="Calibri" pitchFamily="34" charset="-120"/>
              </a:rPr>
              <a:t>August 05–08, 2026  ·  The Leela Bhartiya City, Bengaluru</a:t>
            </a:r>
            <a:endParaRPr lang="en-US" sz="1100"/>
          </a:p>
        </p:txBody>
      </p:sp>
      <p:sp>
        <p:nvSpPr>
          <p:cNvPr id="8" name="Text 5">
            <a:extLst>
              <a:ext uri="{FF2B5EF4-FFF2-40B4-BE49-F238E27FC236}">
                <a16:creationId xmlns:a16="http://schemas.microsoft.com/office/drawing/2014/main" id="{A4E10B43-E037-ECB5-71E9-A39C63CCCB19}"/>
              </a:ext>
            </a:extLst>
          </p:cNvPr>
          <p:cNvSpPr/>
          <p:nvPr/>
        </p:nvSpPr>
        <p:spPr>
          <a:xfrm>
            <a:off x="8450612" y="6533848"/>
            <a:ext cx="3456432" cy="320040"/>
          </a:xfrm>
          <a:prstGeom prst="rect">
            <a:avLst/>
          </a:prstGeom>
          <a:noFill/>
          <a:ln/>
        </p:spPr>
        <p:txBody>
          <a:bodyPr wrap="square" lIns="0" tIns="0" rIns="0" bIns="0" rtlCol="0" anchor="ctr"/>
          <a:lstStyle/>
          <a:p>
            <a:pPr algn="r"/>
            <a:r>
              <a:rPr lang="en-US" sz="1300" b="1">
                <a:solidFill>
                  <a:srgbClr val="3886F0"/>
                </a:solidFill>
                <a:latin typeface="Arial"/>
                <a:ea typeface="+mn-lt"/>
                <a:cs typeface="Arial"/>
              </a:rPr>
              <a:t>Human</a:t>
            </a:r>
            <a:r>
              <a:rPr lang="en-US" sz="1300">
                <a:solidFill>
                  <a:srgbClr val="777799"/>
                </a:solidFill>
                <a:latin typeface="Arial"/>
                <a:ea typeface="+mn-lt"/>
                <a:cs typeface="Arial"/>
              </a:rPr>
              <a:t> × </a:t>
            </a:r>
            <a:r>
              <a:rPr lang="en-US" sz="1300" b="1">
                <a:solidFill>
                  <a:srgbClr val="17B4AC"/>
                </a:solidFill>
                <a:latin typeface="Arial"/>
                <a:ea typeface="+mn-lt"/>
                <a:cs typeface="Arial"/>
              </a:rPr>
              <a:t>AI</a:t>
            </a:r>
            <a:endParaRPr lang="en-US" sz="1300">
              <a:solidFill>
                <a:srgbClr val="17B4AC"/>
              </a:solidFill>
              <a:latin typeface="Arial"/>
              <a:ea typeface="+mn-lt"/>
              <a:cs typeface="Arial"/>
            </a:endParaRPr>
          </a:p>
          <a:p>
            <a:pPr algn="r"/>
            <a:endParaRPr lang="en-US" sz="1300" b="1">
              <a:solidFill>
                <a:srgbClr val="FFFFFF"/>
              </a:solidFill>
              <a:latin typeface="Arial"/>
              <a:ea typeface="Calibri"/>
              <a:cs typeface="Arial"/>
            </a:endParaRPr>
          </a:p>
        </p:txBody>
      </p:sp>
      <p:pic>
        <p:nvPicPr>
          <p:cNvPr id="10" name="Picture 9" descr="preencoded.png">
            <a:extLst>
              <a:ext uri="{FF2B5EF4-FFF2-40B4-BE49-F238E27FC236}">
                <a16:creationId xmlns:a16="http://schemas.microsoft.com/office/drawing/2014/main" id="{7B5114EA-EDDD-0AD1-B00A-C0805F25B417}"/>
              </a:ext>
            </a:extLst>
          </p:cNvPr>
          <p:cNvPicPr>
            <a:picLocks noChangeAspect="1"/>
          </p:cNvPicPr>
          <p:nvPr/>
        </p:nvPicPr>
        <p:blipFill>
          <a:blip r:embed="rId4"/>
          <a:srcRect b="-176"/>
          <a:stretch>
            <a:fillRect/>
          </a:stretch>
        </p:blipFill>
        <p:spPr>
          <a:xfrm>
            <a:off x="6704013" y="481013"/>
            <a:ext cx="5483224" cy="5460161"/>
          </a:xfrm>
          <a:prstGeom prst="rect">
            <a:avLst/>
          </a:prstGeom>
        </p:spPr>
      </p:pic>
    </p:spTree>
    <p:extLst>
      <p:ext uri="{BB962C8B-B14F-4D97-AF65-F5344CB8AC3E}">
        <p14:creationId xmlns:p14="http://schemas.microsoft.com/office/powerpoint/2010/main" val="16741091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2B9A91F-6161-3AED-760F-E7D14A177EC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698022D-36FD-BE46-DE6C-3CAED105F508}"/>
              </a:ext>
            </a:extLst>
          </p:cNvPr>
          <p:cNvPicPr>
            <a:picLocks noChangeAspect="1"/>
          </p:cNvPicPr>
          <p:nvPr/>
        </p:nvPicPr>
        <p:blipFill>
          <a:blip r:embed="rId3"/>
          <a:stretch>
            <a:fillRect/>
          </a:stretch>
        </p:blipFill>
        <p:spPr>
          <a:xfrm>
            <a:off x="1975181" y="1339596"/>
            <a:ext cx="8013541" cy="5191051"/>
          </a:xfrm>
          <a:prstGeom prst="rect">
            <a:avLst/>
          </a:prstGeom>
          <a:ln>
            <a:solidFill>
              <a:schemeClr val="bg1"/>
            </a:solidFill>
          </a:ln>
        </p:spPr>
      </p:pic>
      <p:sp>
        <p:nvSpPr>
          <p:cNvPr id="2" name="Shape 0">
            <a:extLst>
              <a:ext uri="{FF2B5EF4-FFF2-40B4-BE49-F238E27FC236}">
                <a16:creationId xmlns:a16="http://schemas.microsoft.com/office/drawing/2014/main" id="{638D2144-D861-61BE-423C-0A908370BBF5}"/>
              </a:ext>
            </a:extLst>
          </p:cNvPr>
          <p:cNvSpPr/>
          <p:nvPr/>
        </p:nvSpPr>
        <p:spPr>
          <a:xfrm>
            <a:off x="502920" y="548640"/>
            <a:ext cx="82296" cy="603504"/>
          </a:xfrm>
          <a:prstGeom prst="rect">
            <a:avLst/>
          </a:prstGeom>
          <a:solidFill>
            <a:srgbClr val="FE7202"/>
          </a:solidFill>
          <a:ln/>
        </p:spPr>
        <p:txBody>
          <a:bodyPr/>
          <a:lstStyle/>
          <a:p>
            <a:endParaRPr lang="en-US"/>
          </a:p>
        </p:txBody>
      </p:sp>
      <p:sp>
        <p:nvSpPr>
          <p:cNvPr id="3" name="Text 1">
            <a:extLst>
              <a:ext uri="{FF2B5EF4-FFF2-40B4-BE49-F238E27FC236}">
                <a16:creationId xmlns:a16="http://schemas.microsoft.com/office/drawing/2014/main" id="{28F2DB50-32AF-22DB-0661-470444F773E9}"/>
              </a:ext>
            </a:extLst>
          </p:cNvPr>
          <p:cNvSpPr/>
          <p:nvPr/>
        </p:nvSpPr>
        <p:spPr>
          <a:xfrm>
            <a:off x="731520" y="502920"/>
            <a:ext cx="10058400" cy="713232"/>
          </a:xfrm>
          <a:prstGeom prst="rect">
            <a:avLst/>
          </a:prstGeom>
          <a:noFill/>
          <a:ln/>
        </p:spPr>
        <p:txBody>
          <a:bodyPr wrap="square" lIns="0" tIns="0" rIns="0" bIns="0" rtlCol="0" anchor="ctr"/>
          <a:lstStyle/>
          <a:p>
            <a:pPr marL="0" indent="0">
              <a:buNone/>
            </a:pPr>
            <a:r>
              <a:rPr lang="en-US" sz="2900" b="1" dirty="0">
                <a:solidFill>
                  <a:srgbClr val="0F2247"/>
                </a:solidFill>
                <a:latin typeface="Arial" pitchFamily="34" charset="0"/>
                <a:ea typeface="Arial" pitchFamily="34" charset="-122"/>
                <a:cs typeface="Arial" pitchFamily="34" charset="-120"/>
              </a:rPr>
              <a:t>A Multi-Layered Framework</a:t>
            </a:r>
          </a:p>
        </p:txBody>
      </p:sp>
      <p:sp>
        <p:nvSpPr>
          <p:cNvPr id="4" name="Shape 2">
            <a:extLst>
              <a:ext uri="{FF2B5EF4-FFF2-40B4-BE49-F238E27FC236}">
                <a16:creationId xmlns:a16="http://schemas.microsoft.com/office/drawing/2014/main" id="{6D0423D5-11F9-4B56-CF61-4738B47CEC7E}"/>
              </a:ext>
            </a:extLst>
          </p:cNvPr>
          <p:cNvSpPr/>
          <p:nvPr/>
        </p:nvSpPr>
        <p:spPr>
          <a:xfrm>
            <a:off x="502920" y="1325880"/>
            <a:ext cx="11183112" cy="27432"/>
          </a:xfrm>
          <a:prstGeom prst="rect">
            <a:avLst/>
          </a:prstGeom>
          <a:solidFill>
            <a:srgbClr val="FE7202"/>
          </a:solidFill>
          <a:ln/>
        </p:spPr>
        <p:txBody>
          <a:bodyPr/>
          <a:lstStyle/>
          <a:p>
            <a:endParaRPr lang="en-US"/>
          </a:p>
        </p:txBody>
      </p:sp>
      <p:sp>
        <p:nvSpPr>
          <p:cNvPr id="11" name="Text 7">
            <a:extLst>
              <a:ext uri="{FF2B5EF4-FFF2-40B4-BE49-F238E27FC236}">
                <a16:creationId xmlns:a16="http://schemas.microsoft.com/office/drawing/2014/main" id="{6160D53F-C8F7-4F0F-882B-76816B20D431}"/>
              </a:ext>
            </a:extLst>
          </p:cNvPr>
          <p:cNvSpPr/>
          <p:nvPr/>
        </p:nvSpPr>
        <p:spPr>
          <a:xfrm>
            <a:off x="0" y="6419088"/>
            <a:ext cx="12191695" cy="320040"/>
          </a:xfrm>
          <a:prstGeom prst="rect">
            <a:avLst/>
          </a:prstGeom>
          <a:noFill/>
          <a:ln/>
        </p:spPr>
        <p:txBody>
          <a:bodyPr wrap="square" lIns="0" tIns="0" rIns="0" bIns="0" rtlCol="0" anchor="ctr"/>
          <a:lstStyle/>
          <a:p>
            <a:pPr marL="0" indent="0" algn="ctr">
              <a:buNone/>
            </a:pPr>
            <a:r>
              <a:rPr lang="en-US" sz="950" kern="0" spc="200">
                <a:solidFill>
                  <a:srgbClr val="8A93A8"/>
                </a:solidFill>
                <a:latin typeface="Arial" pitchFamily="34" charset="0"/>
                <a:ea typeface="Arial" pitchFamily="34" charset="-122"/>
                <a:cs typeface="Arial" pitchFamily="34" charset="-120"/>
              </a:rPr>
              <a:t>D A T A H A C K   S U M M I T   2 0 2 6</a:t>
            </a:r>
            <a:endParaRPr lang="en-US" sz="950"/>
          </a:p>
        </p:txBody>
      </p:sp>
      <p:pic>
        <p:nvPicPr>
          <p:cNvPr id="12" name="Picture 11" descr="preencoded.png">
            <a:extLst>
              <a:ext uri="{FF2B5EF4-FFF2-40B4-BE49-F238E27FC236}">
                <a16:creationId xmlns:a16="http://schemas.microsoft.com/office/drawing/2014/main" id="{0940D18C-9A81-29D8-4474-BCEAD3B322BC}"/>
              </a:ext>
            </a:extLst>
          </p:cNvPr>
          <p:cNvPicPr>
            <a:picLocks noChangeAspect="1"/>
          </p:cNvPicPr>
          <p:nvPr/>
        </p:nvPicPr>
        <p:blipFill>
          <a:blip r:embed="rId4"/>
          <a:srcRect b="-176"/>
          <a:stretch>
            <a:fillRect/>
          </a:stretch>
        </p:blipFill>
        <p:spPr>
          <a:xfrm>
            <a:off x="10792419" y="367621"/>
            <a:ext cx="852695" cy="852309"/>
          </a:xfrm>
          <a:prstGeom prst="rect">
            <a:avLst/>
          </a:prstGeom>
        </p:spPr>
      </p:pic>
      <p:pic>
        <p:nvPicPr>
          <p:cNvPr id="7" name="Picture 6">
            <a:extLst>
              <a:ext uri="{FF2B5EF4-FFF2-40B4-BE49-F238E27FC236}">
                <a16:creationId xmlns:a16="http://schemas.microsoft.com/office/drawing/2014/main" id="{932C7970-D43F-E883-BD72-E999BA3DF156}"/>
              </a:ext>
            </a:extLst>
          </p:cNvPr>
          <p:cNvPicPr>
            <a:picLocks noChangeAspect="1"/>
          </p:cNvPicPr>
          <p:nvPr/>
        </p:nvPicPr>
        <p:blipFill>
          <a:blip r:embed="rId5"/>
          <a:stretch>
            <a:fillRect/>
          </a:stretch>
        </p:blipFill>
        <p:spPr>
          <a:xfrm>
            <a:off x="1451945" y="1585752"/>
            <a:ext cx="8950090" cy="2425139"/>
          </a:xfrm>
          <a:prstGeom prst="rect">
            <a:avLst/>
          </a:prstGeom>
        </p:spPr>
      </p:pic>
      <p:pic>
        <p:nvPicPr>
          <p:cNvPr id="9" name="Picture 8">
            <a:extLst>
              <a:ext uri="{FF2B5EF4-FFF2-40B4-BE49-F238E27FC236}">
                <a16:creationId xmlns:a16="http://schemas.microsoft.com/office/drawing/2014/main" id="{9F61F60F-3B21-5483-5E24-CB46C2AAA758}"/>
              </a:ext>
            </a:extLst>
          </p:cNvPr>
          <p:cNvPicPr>
            <a:picLocks noChangeAspect="1"/>
          </p:cNvPicPr>
          <p:nvPr/>
        </p:nvPicPr>
        <p:blipFill>
          <a:blip r:embed="rId6"/>
          <a:stretch>
            <a:fillRect/>
          </a:stretch>
        </p:blipFill>
        <p:spPr>
          <a:xfrm>
            <a:off x="1561866" y="4243331"/>
            <a:ext cx="8840169" cy="2457399"/>
          </a:xfrm>
          <a:prstGeom prst="rect">
            <a:avLst/>
          </a:prstGeom>
        </p:spPr>
      </p:pic>
    </p:spTree>
    <p:extLst>
      <p:ext uri="{BB962C8B-B14F-4D97-AF65-F5344CB8AC3E}">
        <p14:creationId xmlns:p14="http://schemas.microsoft.com/office/powerpoint/2010/main" val="1132403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11971D3-3CC2-99B7-2B8A-52FB01049514}"/>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82D66C00-7FE4-3B2A-3044-00B84DA4492E}"/>
              </a:ext>
            </a:extLst>
          </p:cNvPr>
          <p:cNvPicPr>
            <a:picLocks noChangeAspect="1"/>
          </p:cNvPicPr>
          <p:nvPr/>
        </p:nvPicPr>
        <p:blipFill>
          <a:blip r:embed="rId3"/>
          <a:stretch>
            <a:fillRect/>
          </a:stretch>
        </p:blipFill>
        <p:spPr>
          <a:xfrm>
            <a:off x="731520" y="3169227"/>
            <a:ext cx="10375840" cy="3313869"/>
          </a:xfrm>
          <a:prstGeom prst="rect">
            <a:avLst/>
          </a:prstGeom>
        </p:spPr>
      </p:pic>
      <p:sp>
        <p:nvSpPr>
          <p:cNvPr id="2" name="Shape 0">
            <a:extLst>
              <a:ext uri="{FF2B5EF4-FFF2-40B4-BE49-F238E27FC236}">
                <a16:creationId xmlns:a16="http://schemas.microsoft.com/office/drawing/2014/main" id="{9D109306-E28B-30C2-FF54-F11C840AD382}"/>
              </a:ext>
            </a:extLst>
          </p:cNvPr>
          <p:cNvSpPr/>
          <p:nvPr/>
        </p:nvSpPr>
        <p:spPr>
          <a:xfrm>
            <a:off x="502920" y="548640"/>
            <a:ext cx="82296" cy="603504"/>
          </a:xfrm>
          <a:prstGeom prst="rect">
            <a:avLst/>
          </a:prstGeom>
          <a:solidFill>
            <a:srgbClr val="FE7202"/>
          </a:solidFill>
          <a:ln/>
        </p:spPr>
        <p:txBody>
          <a:bodyPr/>
          <a:lstStyle/>
          <a:p>
            <a:endParaRPr lang="en-US"/>
          </a:p>
        </p:txBody>
      </p:sp>
      <p:sp>
        <p:nvSpPr>
          <p:cNvPr id="3" name="Text 1">
            <a:extLst>
              <a:ext uri="{FF2B5EF4-FFF2-40B4-BE49-F238E27FC236}">
                <a16:creationId xmlns:a16="http://schemas.microsoft.com/office/drawing/2014/main" id="{10287EAA-5390-94F8-9500-7C954B1843BB}"/>
              </a:ext>
            </a:extLst>
          </p:cNvPr>
          <p:cNvSpPr/>
          <p:nvPr/>
        </p:nvSpPr>
        <p:spPr>
          <a:xfrm>
            <a:off x="731520" y="502920"/>
            <a:ext cx="10058400" cy="713232"/>
          </a:xfrm>
          <a:prstGeom prst="rect">
            <a:avLst/>
          </a:prstGeom>
          <a:noFill/>
          <a:ln/>
        </p:spPr>
        <p:txBody>
          <a:bodyPr wrap="square" lIns="0" tIns="0" rIns="0" bIns="0" rtlCol="0" anchor="ctr"/>
          <a:lstStyle/>
          <a:p>
            <a:pPr marL="0" indent="0">
              <a:buNone/>
            </a:pPr>
            <a:r>
              <a:rPr lang="en-US" sz="2900" b="1" dirty="0">
                <a:solidFill>
                  <a:srgbClr val="0F2247"/>
                </a:solidFill>
                <a:latin typeface="Arial" pitchFamily="34" charset="0"/>
                <a:ea typeface="Arial" pitchFamily="34" charset="-122"/>
                <a:cs typeface="Arial" pitchFamily="34" charset="-120"/>
              </a:rPr>
              <a:t>Stack 1: Evaluation Layers</a:t>
            </a:r>
          </a:p>
        </p:txBody>
      </p:sp>
      <p:sp>
        <p:nvSpPr>
          <p:cNvPr id="4" name="Shape 2">
            <a:extLst>
              <a:ext uri="{FF2B5EF4-FFF2-40B4-BE49-F238E27FC236}">
                <a16:creationId xmlns:a16="http://schemas.microsoft.com/office/drawing/2014/main" id="{D234AB2C-B8A3-71B2-80BD-B09A835A4722}"/>
              </a:ext>
            </a:extLst>
          </p:cNvPr>
          <p:cNvSpPr/>
          <p:nvPr/>
        </p:nvSpPr>
        <p:spPr>
          <a:xfrm>
            <a:off x="502920" y="1325880"/>
            <a:ext cx="11183112" cy="27432"/>
          </a:xfrm>
          <a:prstGeom prst="rect">
            <a:avLst/>
          </a:prstGeom>
          <a:solidFill>
            <a:srgbClr val="FE7202"/>
          </a:solidFill>
          <a:ln/>
        </p:spPr>
        <p:txBody>
          <a:bodyPr/>
          <a:lstStyle/>
          <a:p>
            <a:endParaRPr lang="en-US"/>
          </a:p>
        </p:txBody>
      </p:sp>
      <p:sp>
        <p:nvSpPr>
          <p:cNvPr id="6" name="Shape 4">
            <a:extLst>
              <a:ext uri="{FF2B5EF4-FFF2-40B4-BE49-F238E27FC236}">
                <a16:creationId xmlns:a16="http://schemas.microsoft.com/office/drawing/2014/main" id="{40FF3B7F-18FE-CEE9-2010-7DABD61941B9}"/>
              </a:ext>
            </a:extLst>
          </p:cNvPr>
          <p:cNvSpPr/>
          <p:nvPr/>
        </p:nvSpPr>
        <p:spPr>
          <a:xfrm>
            <a:off x="585216" y="1578134"/>
            <a:ext cx="146304" cy="146304"/>
          </a:xfrm>
          <a:prstGeom prst="ellipse">
            <a:avLst/>
          </a:prstGeom>
          <a:solidFill>
            <a:srgbClr val="1FB6A6"/>
          </a:solidFill>
          <a:ln/>
        </p:spPr>
        <p:txBody>
          <a:bodyPr/>
          <a:lstStyle/>
          <a:p>
            <a:endParaRPr lang="en-US"/>
          </a:p>
        </p:txBody>
      </p:sp>
      <p:sp>
        <p:nvSpPr>
          <p:cNvPr id="7" name="Text 5">
            <a:extLst>
              <a:ext uri="{FF2B5EF4-FFF2-40B4-BE49-F238E27FC236}">
                <a16:creationId xmlns:a16="http://schemas.microsoft.com/office/drawing/2014/main" id="{38F31EBC-7517-09D2-0C1B-35CDB44BDB3A}"/>
              </a:ext>
            </a:extLst>
          </p:cNvPr>
          <p:cNvSpPr/>
          <p:nvPr/>
        </p:nvSpPr>
        <p:spPr>
          <a:xfrm>
            <a:off x="932687" y="1459262"/>
            <a:ext cx="8728364" cy="868680"/>
          </a:xfrm>
          <a:prstGeom prst="rect">
            <a:avLst/>
          </a:prstGeom>
          <a:noFill/>
          <a:ln/>
        </p:spPr>
        <p:txBody>
          <a:bodyPr wrap="square" lIns="0" tIns="0" rIns="0" bIns="0" rtlCol="0" anchor="t"/>
          <a:lstStyle/>
          <a:p>
            <a:pPr marL="0" indent="0">
              <a:lnSpc>
                <a:spcPct val="112000"/>
              </a:lnSpc>
              <a:buNone/>
            </a:pPr>
            <a:r>
              <a:rPr lang="en-US" sz="1600" b="1" dirty="0">
                <a:solidFill>
                  <a:srgbClr val="0F2247"/>
                </a:solidFill>
                <a:latin typeface="Calibri" pitchFamily="34" charset="0"/>
                <a:ea typeface="Calibri" pitchFamily="34" charset="-122"/>
                <a:cs typeface="Calibri" pitchFamily="34" charset="-120"/>
              </a:rPr>
              <a:t>Layer 1 gives the macro view of the agentic system for overall evaluation.
</a:t>
            </a:r>
            <a:r>
              <a:rPr lang="en-US" sz="1300" dirty="0">
                <a:solidFill>
                  <a:srgbClr val="3A4866"/>
                </a:solidFill>
                <a:latin typeface="Calibri" pitchFamily="34" charset="0"/>
                <a:ea typeface="Calibri" pitchFamily="34" charset="-122"/>
                <a:cs typeface="Calibri" pitchFamily="34" charset="-120"/>
              </a:rPr>
              <a:t>E.g., A travel-planning agent is evaluated on both the quality of the itinerary and its ability to successfully complete bookings.</a:t>
            </a:r>
          </a:p>
        </p:txBody>
      </p:sp>
      <p:sp>
        <p:nvSpPr>
          <p:cNvPr id="8" name="Shape 6">
            <a:extLst>
              <a:ext uri="{FF2B5EF4-FFF2-40B4-BE49-F238E27FC236}">
                <a16:creationId xmlns:a16="http://schemas.microsoft.com/office/drawing/2014/main" id="{C01FAA9B-F901-BA67-E84A-B6A5425F2419}"/>
              </a:ext>
            </a:extLst>
          </p:cNvPr>
          <p:cNvSpPr/>
          <p:nvPr/>
        </p:nvSpPr>
        <p:spPr>
          <a:xfrm>
            <a:off x="585216" y="2252022"/>
            <a:ext cx="146304" cy="146304"/>
          </a:xfrm>
          <a:prstGeom prst="ellipse">
            <a:avLst/>
          </a:prstGeom>
          <a:solidFill>
            <a:srgbClr val="2D7FF9"/>
          </a:solidFill>
          <a:ln/>
        </p:spPr>
        <p:txBody>
          <a:bodyPr/>
          <a:lstStyle/>
          <a:p>
            <a:endParaRPr lang="en-US"/>
          </a:p>
        </p:txBody>
      </p:sp>
      <p:sp>
        <p:nvSpPr>
          <p:cNvPr id="9" name="Text 7">
            <a:extLst>
              <a:ext uri="{FF2B5EF4-FFF2-40B4-BE49-F238E27FC236}">
                <a16:creationId xmlns:a16="http://schemas.microsoft.com/office/drawing/2014/main" id="{121D0639-5812-17A6-7DB8-ADE4424A94FD}"/>
              </a:ext>
            </a:extLst>
          </p:cNvPr>
          <p:cNvSpPr/>
          <p:nvPr/>
        </p:nvSpPr>
        <p:spPr>
          <a:xfrm>
            <a:off x="932687" y="2133150"/>
            <a:ext cx="8728363" cy="1109586"/>
          </a:xfrm>
          <a:prstGeom prst="rect">
            <a:avLst/>
          </a:prstGeom>
          <a:noFill/>
          <a:ln/>
        </p:spPr>
        <p:txBody>
          <a:bodyPr wrap="square" lIns="0" tIns="0" rIns="0" bIns="0" rtlCol="0" anchor="t"/>
          <a:lstStyle/>
          <a:p>
            <a:pPr marL="0" indent="0">
              <a:lnSpc>
                <a:spcPct val="112000"/>
              </a:lnSpc>
              <a:buNone/>
            </a:pPr>
            <a:r>
              <a:rPr lang="en-US" sz="1600" b="1" dirty="0">
                <a:solidFill>
                  <a:srgbClr val="0F2247"/>
                </a:solidFill>
                <a:latin typeface="Calibri" pitchFamily="34" charset="0"/>
                <a:ea typeface="Calibri" pitchFamily="34" charset="-122"/>
                <a:cs typeface="Calibri" pitchFamily="34" charset="-120"/>
              </a:rPr>
              <a:t>Layer 2 gives the micro view of the system that tells us how good the agentic system is in terms of planning, reasoning and execution.
</a:t>
            </a:r>
            <a:r>
              <a:rPr lang="en-US" sz="1300" dirty="0">
                <a:solidFill>
                  <a:srgbClr val="3A4866"/>
                </a:solidFill>
                <a:latin typeface="Calibri" pitchFamily="34" charset="0"/>
                <a:ea typeface="Calibri" pitchFamily="34" charset="-122"/>
                <a:cs typeface="Calibri" pitchFamily="34" charset="-120"/>
              </a:rPr>
              <a:t>A travel-planning agent is evaluated on whether it selected the right tools, followed the user prompts correctly, and made the bookings correctly with the right specifications.</a:t>
            </a:r>
          </a:p>
          <a:p>
            <a:pPr marL="0" indent="0">
              <a:lnSpc>
                <a:spcPct val="112000"/>
              </a:lnSpc>
              <a:buNone/>
            </a:pPr>
            <a:endParaRPr lang="en-US" sz="1300" dirty="0">
              <a:solidFill>
                <a:srgbClr val="3A4866"/>
              </a:solidFill>
              <a:latin typeface="Calibri" pitchFamily="34" charset="0"/>
              <a:ea typeface="Calibri" pitchFamily="34" charset="-122"/>
              <a:cs typeface="Calibri" pitchFamily="34" charset="-120"/>
            </a:endParaRPr>
          </a:p>
        </p:txBody>
      </p:sp>
      <p:sp>
        <p:nvSpPr>
          <p:cNvPr id="21" name="Text 18">
            <a:extLst>
              <a:ext uri="{FF2B5EF4-FFF2-40B4-BE49-F238E27FC236}">
                <a16:creationId xmlns:a16="http://schemas.microsoft.com/office/drawing/2014/main" id="{270C8AD1-AD6C-81D0-F0F6-EF32BA9BF101}"/>
              </a:ext>
            </a:extLst>
          </p:cNvPr>
          <p:cNvSpPr/>
          <p:nvPr/>
        </p:nvSpPr>
        <p:spPr>
          <a:xfrm>
            <a:off x="0" y="6419088"/>
            <a:ext cx="12191695" cy="320040"/>
          </a:xfrm>
          <a:prstGeom prst="rect">
            <a:avLst/>
          </a:prstGeom>
          <a:noFill/>
          <a:ln/>
        </p:spPr>
        <p:txBody>
          <a:bodyPr wrap="square" lIns="0" tIns="0" rIns="0" bIns="0" rtlCol="0" anchor="ctr"/>
          <a:lstStyle/>
          <a:p>
            <a:pPr marL="0" indent="0" algn="ctr">
              <a:buNone/>
            </a:pPr>
            <a:r>
              <a:rPr lang="en-US" sz="950" kern="0" spc="200">
                <a:solidFill>
                  <a:srgbClr val="8A93A8"/>
                </a:solidFill>
                <a:latin typeface="Arial" pitchFamily="34" charset="0"/>
                <a:ea typeface="Arial" pitchFamily="34" charset="-122"/>
                <a:cs typeface="Arial" pitchFamily="34" charset="-120"/>
              </a:rPr>
              <a:t>D A T A H A C K   S U M M I T   2 0 2 6</a:t>
            </a:r>
            <a:endParaRPr lang="en-US" sz="950"/>
          </a:p>
        </p:txBody>
      </p:sp>
      <p:pic>
        <p:nvPicPr>
          <p:cNvPr id="23" name="Picture 22" descr="preencoded.png">
            <a:extLst>
              <a:ext uri="{FF2B5EF4-FFF2-40B4-BE49-F238E27FC236}">
                <a16:creationId xmlns:a16="http://schemas.microsoft.com/office/drawing/2014/main" id="{701940D1-3505-1956-A858-18060D577292}"/>
              </a:ext>
            </a:extLst>
          </p:cNvPr>
          <p:cNvPicPr>
            <a:picLocks noChangeAspect="1"/>
          </p:cNvPicPr>
          <p:nvPr/>
        </p:nvPicPr>
        <p:blipFill>
          <a:blip r:embed="rId4"/>
          <a:srcRect b="-176"/>
          <a:stretch>
            <a:fillRect/>
          </a:stretch>
        </p:blipFill>
        <p:spPr>
          <a:xfrm>
            <a:off x="10792419" y="367621"/>
            <a:ext cx="852695" cy="852309"/>
          </a:xfrm>
          <a:prstGeom prst="rect">
            <a:avLst/>
          </a:prstGeom>
        </p:spPr>
      </p:pic>
    </p:spTree>
    <p:extLst>
      <p:ext uri="{BB962C8B-B14F-4D97-AF65-F5344CB8AC3E}">
        <p14:creationId xmlns:p14="http://schemas.microsoft.com/office/powerpoint/2010/main" val="13883399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8B3AF3E-CF58-FADD-0836-C9B964E29FF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355B955-AD4C-5F6D-C2BD-99338AAE579D}"/>
              </a:ext>
            </a:extLst>
          </p:cNvPr>
          <p:cNvSpPr/>
          <p:nvPr/>
        </p:nvSpPr>
        <p:spPr>
          <a:xfrm>
            <a:off x="502920" y="548640"/>
            <a:ext cx="82296" cy="603504"/>
          </a:xfrm>
          <a:prstGeom prst="rect">
            <a:avLst/>
          </a:prstGeom>
          <a:solidFill>
            <a:srgbClr val="FE7202"/>
          </a:solidFill>
          <a:ln/>
        </p:spPr>
        <p:txBody>
          <a:bodyPr/>
          <a:lstStyle/>
          <a:p>
            <a:endParaRPr lang="en-US"/>
          </a:p>
        </p:txBody>
      </p:sp>
      <p:sp>
        <p:nvSpPr>
          <p:cNvPr id="3" name="Text 1">
            <a:extLst>
              <a:ext uri="{FF2B5EF4-FFF2-40B4-BE49-F238E27FC236}">
                <a16:creationId xmlns:a16="http://schemas.microsoft.com/office/drawing/2014/main" id="{DC6E8BEE-DFE4-D9D4-F315-A0ED78AE3426}"/>
              </a:ext>
            </a:extLst>
          </p:cNvPr>
          <p:cNvSpPr/>
          <p:nvPr/>
        </p:nvSpPr>
        <p:spPr>
          <a:xfrm>
            <a:off x="731520" y="502920"/>
            <a:ext cx="10058400" cy="713232"/>
          </a:xfrm>
          <a:prstGeom prst="rect">
            <a:avLst/>
          </a:prstGeom>
          <a:noFill/>
          <a:ln/>
        </p:spPr>
        <p:txBody>
          <a:bodyPr wrap="square" lIns="0" tIns="0" rIns="0" bIns="0" rtlCol="0" anchor="ctr"/>
          <a:lstStyle/>
          <a:p>
            <a:pPr marL="0" indent="0">
              <a:buNone/>
            </a:pPr>
            <a:r>
              <a:rPr lang="en-US" sz="2900" b="1" dirty="0">
                <a:solidFill>
                  <a:srgbClr val="0F2247"/>
                </a:solidFill>
                <a:latin typeface="Arial" pitchFamily="34" charset="0"/>
                <a:ea typeface="Arial" pitchFamily="34" charset="-122"/>
                <a:cs typeface="Arial" pitchFamily="34" charset="-120"/>
              </a:rPr>
              <a:t>Stack 2: Observability Layers</a:t>
            </a:r>
          </a:p>
        </p:txBody>
      </p:sp>
      <p:sp>
        <p:nvSpPr>
          <p:cNvPr id="4" name="Shape 2">
            <a:extLst>
              <a:ext uri="{FF2B5EF4-FFF2-40B4-BE49-F238E27FC236}">
                <a16:creationId xmlns:a16="http://schemas.microsoft.com/office/drawing/2014/main" id="{4C28AD63-D82A-BE12-6826-A2574A4081CB}"/>
              </a:ext>
            </a:extLst>
          </p:cNvPr>
          <p:cNvSpPr/>
          <p:nvPr/>
        </p:nvSpPr>
        <p:spPr>
          <a:xfrm>
            <a:off x="502920" y="1325880"/>
            <a:ext cx="11183112" cy="27432"/>
          </a:xfrm>
          <a:prstGeom prst="rect">
            <a:avLst/>
          </a:prstGeom>
          <a:solidFill>
            <a:srgbClr val="FE7202"/>
          </a:solidFill>
          <a:ln/>
        </p:spPr>
        <p:txBody>
          <a:bodyPr/>
          <a:lstStyle/>
          <a:p>
            <a:endParaRPr lang="en-US"/>
          </a:p>
        </p:txBody>
      </p:sp>
      <p:sp>
        <p:nvSpPr>
          <p:cNvPr id="6" name="Shape 4">
            <a:extLst>
              <a:ext uri="{FF2B5EF4-FFF2-40B4-BE49-F238E27FC236}">
                <a16:creationId xmlns:a16="http://schemas.microsoft.com/office/drawing/2014/main" id="{B402BEE4-E660-A2B7-B056-F71689E5C86D}"/>
              </a:ext>
            </a:extLst>
          </p:cNvPr>
          <p:cNvSpPr/>
          <p:nvPr/>
        </p:nvSpPr>
        <p:spPr>
          <a:xfrm>
            <a:off x="566928" y="1578134"/>
            <a:ext cx="146304" cy="146304"/>
          </a:xfrm>
          <a:prstGeom prst="ellipse">
            <a:avLst/>
          </a:prstGeom>
          <a:solidFill>
            <a:srgbClr val="1FB6A6"/>
          </a:solidFill>
          <a:ln/>
        </p:spPr>
        <p:txBody>
          <a:bodyPr/>
          <a:lstStyle/>
          <a:p>
            <a:endParaRPr lang="en-US"/>
          </a:p>
        </p:txBody>
      </p:sp>
      <p:sp>
        <p:nvSpPr>
          <p:cNvPr id="7" name="Text 5">
            <a:extLst>
              <a:ext uri="{FF2B5EF4-FFF2-40B4-BE49-F238E27FC236}">
                <a16:creationId xmlns:a16="http://schemas.microsoft.com/office/drawing/2014/main" id="{94BFF4AA-96C3-E35C-1B0C-59381A5A227D}"/>
              </a:ext>
            </a:extLst>
          </p:cNvPr>
          <p:cNvSpPr/>
          <p:nvPr/>
        </p:nvSpPr>
        <p:spPr>
          <a:xfrm>
            <a:off x="914399" y="1459262"/>
            <a:ext cx="8728364" cy="868680"/>
          </a:xfrm>
          <a:prstGeom prst="rect">
            <a:avLst/>
          </a:prstGeom>
          <a:noFill/>
          <a:ln/>
        </p:spPr>
        <p:txBody>
          <a:bodyPr wrap="square" lIns="0" tIns="0" rIns="0" bIns="0" rtlCol="0" anchor="t"/>
          <a:lstStyle/>
          <a:p>
            <a:pPr marL="0" indent="0">
              <a:lnSpc>
                <a:spcPct val="112000"/>
              </a:lnSpc>
              <a:buNone/>
            </a:pPr>
            <a:r>
              <a:rPr lang="en-US" sz="1600" b="1" dirty="0">
                <a:solidFill>
                  <a:srgbClr val="0F2247"/>
                </a:solidFill>
                <a:latin typeface="Calibri" pitchFamily="34" charset="0"/>
                <a:ea typeface="Calibri" pitchFamily="34" charset="-122"/>
                <a:cs typeface="Calibri" pitchFamily="34" charset="-120"/>
              </a:rPr>
              <a:t>Layer 3 is about tracing each step of the agent.
</a:t>
            </a:r>
            <a:r>
              <a:rPr lang="en-US" sz="1300" dirty="0">
                <a:solidFill>
                  <a:srgbClr val="3A4866"/>
                </a:solidFill>
                <a:latin typeface="Calibri" pitchFamily="34" charset="0"/>
                <a:ea typeface="Calibri" pitchFamily="34" charset="-122"/>
                <a:cs typeface="Calibri" pitchFamily="34" charset="-120"/>
              </a:rPr>
              <a:t>E.g., Checking if the travel agents called the right tools in the right order</a:t>
            </a:r>
          </a:p>
          <a:p>
            <a:pPr marL="0" indent="0">
              <a:lnSpc>
                <a:spcPct val="112000"/>
              </a:lnSpc>
              <a:buNone/>
            </a:pPr>
            <a:endParaRPr lang="en-US" sz="1300" dirty="0">
              <a:solidFill>
                <a:srgbClr val="3A4866"/>
              </a:solidFill>
              <a:latin typeface="Calibri" pitchFamily="34" charset="0"/>
              <a:ea typeface="Calibri" pitchFamily="34" charset="-122"/>
              <a:cs typeface="Calibri" pitchFamily="34" charset="-120"/>
            </a:endParaRPr>
          </a:p>
        </p:txBody>
      </p:sp>
      <p:sp>
        <p:nvSpPr>
          <p:cNvPr id="8" name="Shape 6">
            <a:extLst>
              <a:ext uri="{FF2B5EF4-FFF2-40B4-BE49-F238E27FC236}">
                <a16:creationId xmlns:a16="http://schemas.microsoft.com/office/drawing/2014/main" id="{888AC82F-373F-3BC4-A121-CB542543D461}"/>
              </a:ext>
            </a:extLst>
          </p:cNvPr>
          <p:cNvSpPr/>
          <p:nvPr/>
        </p:nvSpPr>
        <p:spPr>
          <a:xfrm>
            <a:off x="566928" y="2252022"/>
            <a:ext cx="146304" cy="146304"/>
          </a:xfrm>
          <a:prstGeom prst="ellipse">
            <a:avLst/>
          </a:prstGeom>
          <a:solidFill>
            <a:srgbClr val="2D7FF9"/>
          </a:solidFill>
          <a:ln/>
        </p:spPr>
        <p:txBody>
          <a:bodyPr/>
          <a:lstStyle/>
          <a:p>
            <a:endParaRPr lang="en-US"/>
          </a:p>
        </p:txBody>
      </p:sp>
      <p:sp>
        <p:nvSpPr>
          <p:cNvPr id="9" name="Text 7">
            <a:extLst>
              <a:ext uri="{FF2B5EF4-FFF2-40B4-BE49-F238E27FC236}">
                <a16:creationId xmlns:a16="http://schemas.microsoft.com/office/drawing/2014/main" id="{87DF2919-3A49-D465-9513-FF20600F92CB}"/>
              </a:ext>
            </a:extLst>
          </p:cNvPr>
          <p:cNvSpPr/>
          <p:nvPr/>
        </p:nvSpPr>
        <p:spPr>
          <a:xfrm>
            <a:off x="914399" y="2133150"/>
            <a:ext cx="8728363" cy="1109586"/>
          </a:xfrm>
          <a:prstGeom prst="rect">
            <a:avLst/>
          </a:prstGeom>
          <a:noFill/>
          <a:ln/>
        </p:spPr>
        <p:txBody>
          <a:bodyPr wrap="square" lIns="0" tIns="0" rIns="0" bIns="0" rtlCol="0" anchor="t"/>
          <a:lstStyle/>
          <a:p>
            <a:pPr marL="0" indent="0">
              <a:lnSpc>
                <a:spcPct val="112000"/>
              </a:lnSpc>
              <a:buNone/>
            </a:pPr>
            <a:r>
              <a:rPr lang="en-US" sz="1600" b="1" dirty="0">
                <a:solidFill>
                  <a:srgbClr val="0F2247"/>
                </a:solidFill>
                <a:latin typeface="Calibri" pitchFamily="34" charset="0"/>
                <a:ea typeface="Calibri" pitchFamily="34" charset="-122"/>
                <a:cs typeface="Calibri" pitchFamily="34" charset="-120"/>
              </a:rPr>
              <a:t>Layer 4 gives visibility around what is coming and going to remote MCP servers. This is essential for context management
</a:t>
            </a:r>
            <a:r>
              <a:rPr lang="en-US" sz="1300" dirty="0">
                <a:solidFill>
                  <a:srgbClr val="3A4866"/>
                </a:solidFill>
                <a:latin typeface="Calibri" pitchFamily="34" charset="0"/>
                <a:ea typeface="Calibri" pitchFamily="34" charset="-122"/>
                <a:cs typeface="Calibri" pitchFamily="34" charset="-120"/>
              </a:rPr>
              <a:t>E.g., Tracking if the travel agents send the right passenger details when calling the reservation tool. </a:t>
            </a:r>
          </a:p>
        </p:txBody>
      </p:sp>
      <p:sp>
        <p:nvSpPr>
          <p:cNvPr id="21" name="Text 18">
            <a:extLst>
              <a:ext uri="{FF2B5EF4-FFF2-40B4-BE49-F238E27FC236}">
                <a16:creationId xmlns:a16="http://schemas.microsoft.com/office/drawing/2014/main" id="{28B3510B-4CD6-BDFD-E300-9927EE8DB041}"/>
              </a:ext>
            </a:extLst>
          </p:cNvPr>
          <p:cNvSpPr/>
          <p:nvPr/>
        </p:nvSpPr>
        <p:spPr>
          <a:xfrm>
            <a:off x="0" y="6419088"/>
            <a:ext cx="12191695" cy="320040"/>
          </a:xfrm>
          <a:prstGeom prst="rect">
            <a:avLst/>
          </a:prstGeom>
          <a:noFill/>
          <a:ln/>
        </p:spPr>
        <p:txBody>
          <a:bodyPr wrap="square" lIns="0" tIns="0" rIns="0" bIns="0" rtlCol="0" anchor="ctr"/>
          <a:lstStyle/>
          <a:p>
            <a:pPr marL="0" indent="0" algn="ctr">
              <a:buNone/>
            </a:pPr>
            <a:r>
              <a:rPr lang="en-US" sz="950" kern="0" spc="200">
                <a:solidFill>
                  <a:srgbClr val="8A93A8"/>
                </a:solidFill>
                <a:latin typeface="Arial" pitchFamily="34" charset="0"/>
                <a:ea typeface="Arial" pitchFamily="34" charset="-122"/>
                <a:cs typeface="Arial" pitchFamily="34" charset="-120"/>
              </a:rPr>
              <a:t>D A T A H A C K   S U M M I T   2 0 2 6</a:t>
            </a:r>
            <a:endParaRPr lang="en-US" sz="950"/>
          </a:p>
        </p:txBody>
      </p:sp>
      <p:pic>
        <p:nvPicPr>
          <p:cNvPr id="23" name="Picture 22" descr="preencoded.png">
            <a:extLst>
              <a:ext uri="{FF2B5EF4-FFF2-40B4-BE49-F238E27FC236}">
                <a16:creationId xmlns:a16="http://schemas.microsoft.com/office/drawing/2014/main" id="{1E4902A2-4B9F-5B85-046C-BFDB3F9FB07B}"/>
              </a:ext>
            </a:extLst>
          </p:cNvPr>
          <p:cNvPicPr>
            <a:picLocks noChangeAspect="1"/>
          </p:cNvPicPr>
          <p:nvPr/>
        </p:nvPicPr>
        <p:blipFill>
          <a:blip r:embed="rId3"/>
          <a:srcRect b="-176"/>
          <a:stretch>
            <a:fillRect/>
          </a:stretch>
        </p:blipFill>
        <p:spPr>
          <a:xfrm>
            <a:off x="10792419" y="367621"/>
            <a:ext cx="852695" cy="852309"/>
          </a:xfrm>
          <a:prstGeom prst="rect">
            <a:avLst/>
          </a:prstGeom>
        </p:spPr>
      </p:pic>
      <p:pic>
        <p:nvPicPr>
          <p:cNvPr id="11" name="Picture 10">
            <a:extLst>
              <a:ext uri="{FF2B5EF4-FFF2-40B4-BE49-F238E27FC236}">
                <a16:creationId xmlns:a16="http://schemas.microsoft.com/office/drawing/2014/main" id="{20F41853-753F-46A9-1BF6-59FC3B4CE13A}"/>
              </a:ext>
            </a:extLst>
          </p:cNvPr>
          <p:cNvPicPr>
            <a:picLocks noChangeAspect="1"/>
          </p:cNvPicPr>
          <p:nvPr/>
        </p:nvPicPr>
        <p:blipFill>
          <a:blip r:embed="rId4"/>
          <a:stretch>
            <a:fillRect/>
          </a:stretch>
        </p:blipFill>
        <p:spPr>
          <a:xfrm>
            <a:off x="544068" y="2979808"/>
            <a:ext cx="10906298" cy="3302120"/>
          </a:xfrm>
          <a:prstGeom prst="rect">
            <a:avLst/>
          </a:prstGeom>
        </p:spPr>
      </p:pic>
    </p:spTree>
    <p:extLst>
      <p:ext uri="{BB962C8B-B14F-4D97-AF65-F5344CB8AC3E}">
        <p14:creationId xmlns:p14="http://schemas.microsoft.com/office/powerpoint/2010/main" val="33471897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B19AAA0-F7E6-6667-F5D0-BFE8E20DB44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9FD6C9F-8DEB-54DD-DA65-BA0DBADE0AC2}"/>
              </a:ext>
            </a:extLst>
          </p:cNvPr>
          <p:cNvSpPr/>
          <p:nvPr/>
        </p:nvSpPr>
        <p:spPr>
          <a:xfrm>
            <a:off x="502920" y="548640"/>
            <a:ext cx="82296" cy="603504"/>
          </a:xfrm>
          <a:prstGeom prst="rect">
            <a:avLst/>
          </a:prstGeom>
          <a:solidFill>
            <a:srgbClr val="FE7202"/>
          </a:solidFill>
          <a:ln/>
        </p:spPr>
        <p:txBody>
          <a:bodyPr/>
          <a:lstStyle/>
          <a:p>
            <a:endParaRPr lang="en-US"/>
          </a:p>
        </p:txBody>
      </p:sp>
      <p:sp>
        <p:nvSpPr>
          <p:cNvPr id="3" name="Text 1">
            <a:extLst>
              <a:ext uri="{FF2B5EF4-FFF2-40B4-BE49-F238E27FC236}">
                <a16:creationId xmlns:a16="http://schemas.microsoft.com/office/drawing/2014/main" id="{7B585C82-3C42-579D-134A-9AFEDBE06949}"/>
              </a:ext>
            </a:extLst>
          </p:cNvPr>
          <p:cNvSpPr/>
          <p:nvPr/>
        </p:nvSpPr>
        <p:spPr>
          <a:xfrm>
            <a:off x="731520" y="502920"/>
            <a:ext cx="10058400" cy="713232"/>
          </a:xfrm>
          <a:prstGeom prst="rect">
            <a:avLst/>
          </a:prstGeom>
          <a:noFill/>
          <a:ln/>
        </p:spPr>
        <p:txBody>
          <a:bodyPr wrap="square" lIns="0" tIns="0" rIns="0" bIns="0" rtlCol="0" anchor="ctr"/>
          <a:lstStyle/>
          <a:p>
            <a:pPr marL="0" indent="0">
              <a:buNone/>
            </a:pPr>
            <a:r>
              <a:rPr lang="en-US" sz="2900" b="1" dirty="0">
                <a:solidFill>
                  <a:srgbClr val="0F2247"/>
                </a:solidFill>
                <a:latin typeface="Arial" pitchFamily="34" charset="0"/>
                <a:ea typeface="Arial" pitchFamily="34" charset="-122"/>
                <a:cs typeface="Arial" pitchFamily="34" charset="-120"/>
              </a:rPr>
              <a:t>Layer 1: E2E Eval</a:t>
            </a:r>
          </a:p>
        </p:txBody>
      </p:sp>
      <p:sp>
        <p:nvSpPr>
          <p:cNvPr id="4" name="Shape 2">
            <a:extLst>
              <a:ext uri="{FF2B5EF4-FFF2-40B4-BE49-F238E27FC236}">
                <a16:creationId xmlns:a16="http://schemas.microsoft.com/office/drawing/2014/main" id="{B3C4B672-7CFF-D484-50FA-9AF76CF0488E}"/>
              </a:ext>
            </a:extLst>
          </p:cNvPr>
          <p:cNvSpPr/>
          <p:nvPr/>
        </p:nvSpPr>
        <p:spPr>
          <a:xfrm>
            <a:off x="502920" y="1325880"/>
            <a:ext cx="11183112" cy="27432"/>
          </a:xfrm>
          <a:prstGeom prst="rect">
            <a:avLst/>
          </a:prstGeom>
          <a:solidFill>
            <a:srgbClr val="FE7202"/>
          </a:solidFill>
          <a:ln/>
        </p:spPr>
        <p:txBody>
          <a:bodyPr/>
          <a:lstStyle/>
          <a:p>
            <a:endParaRPr lang="en-US"/>
          </a:p>
        </p:txBody>
      </p:sp>
      <p:grpSp>
        <p:nvGrpSpPr>
          <p:cNvPr id="15" name="Group 14">
            <a:extLst>
              <a:ext uri="{FF2B5EF4-FFF2-40B4-BE49-F238E27FC236}">
                <a16:creationId xmlns:a16="http://schemas.microsoft.com/office/drawing/2014/main" id="{717B952F-9DBA-D62D-7BFC-F4FE106321BA}"/>
              </a:ext>
            </a:extLst>
          </p:cNvPr>
          <p:cNvGrpSpPr/>
          <p:nvPr/>
        </p:nvGrpSpPr>
        <p:grpSpPr>
          <a:xfrm>
            <a:off x="566928" y="1900667"/>
            <a:ext cx="9075834" cy="309232"/>
            <a:chOff x="566928" y="1771363"/>
            <a:chExt cx="9075834" cy="309232"/>
          </a:xfrm>
        </p:grpSpPr>
        <p:sp>
          <p:nvSpPr>
            <p:cNvPr id="6" name="Shape 4">
              <a:extLst>
                <a:ext uri="{FF2B5EF4-FFF2-40B4-BE49-F238E27FC236}">
                  <a16:creationId xmlns:a16="http://schemas.microsoft.com/office/drawing/2014/main" id="{75377295-12AA-49E4-01CF-689DF5DACAB8}"/>
                </a:ext>
              </a:extLst>
            </p:cNvPr>
            <p:cNvSpPr/>
            <p:nvPr/>
          </p:nvSpPr>
          <p:spPr>
            <a:xfrm>
              <a:off x="566928" y="1853734"/>
              <a:ext cx="146304" cy="146304"/>
            </a:xfrm>
            <a:prstGeom prst="ellipse">
              <a:avLst/>
            </a:prstGeom>
            <a:solidFill>
              <a:srgbClr val="1FB6A6"/>
            </a:solidFill>
            <a:ln/>
          </p:spPr>
          <p:txBody>
            <a:bodyPr/>
            <a:lstStyle/>
            <a:p>
              <a:endParaRPr lang="en-US" dirty="0"/>
            </a:p>
          </p:txBody>
        </p:sp>
        <p:sp>
          <p:nvSpPr>
            <p:cNvPr id="7" name="Text 5">
              <a:extLst>
                <a:ext uri="{FF2B5EF4-FFF2-40B4-BE49-F238E27FC236}">
                  <a16:creationId xmlns:a16="http://schemas.microsoft.com/office/drawing/2014/main" id="{E528257A-2811-6F31-E836-BC74BA8110C2}"/>
                </a:ext>
              </a:extLst>
            </p:cNvPr>
            <p:cNvSpPr/>
            <p:nvPr/>
          </p:nvSpPr>
          <p:spPr>
            <a:xfrm>
              <a:off x="914398" y="1771363"/>
              <a:ext cx="8728364" cy="309232"/>
            </a:xfrm>
            <a:prstGeom prst="rect">
              <a:avLst/>
            </a:prstGeom>
            <a:noFill/>
            <a:ln/>
          </p:spPr>
          <p:txBody>
            <a:bodyPr wrap="square" lIns="0" tIns="0" rIns="0" bIns="0" rtlCol="0" anchor="t"/>
            <a:lstStyle/>
            <a:p>
              <a:pPr marL="0" indent="0">
                <a:lnSpc>
                  <a:spcPct val="112000"/>
                </a:lnSpc>
                <a:buNone/>
              </a:pPr>
              <a:r>
                <a:rPr lang="en-US" sz="1600" dirty="0">
                  <a:solidFill>
                    <a:srgbClr val="0F2247"/>
                  </a:solidFill>
                  <a:latin typeface="Calibri" pitchFamily="34" charset="0"/>
                  <a:ea typeface="Calibri" pitchFamily="34" charset="-122"/>
                  <a:cs typeface="Calibri" pitchFamily="34" charset="-120"/>
                </a:rPr>
                <a:t>The idea is to treat the agent as a black box and score the outcome, not the internals.</a:t>
              </a:r>
            </a:p>
          </p:txBody>
        </p:sp>
      </p:grpSp>
      <p:grpSp>
        <p:nvGrpSpPr>
          <p:cNvPr id="14" name="Group 13">
            <a:extLst>
              <a:ext uri="{FF2B5EF4-FFF2-40B4-BE49-F238E27FC236}">
                <a16:creationId xmlns:a16="http://schemas.microsoft.com/office/drawing/2014/main" id="{F2785A2D-91DB-BE5A-5434-8E2AE4C933F6}"/>
              </a:ext>
            </a:extLst>
          </p:cNvPr>
          <p:cNvGrpSpPr/>
          <p:nvPr/>
        </p:nvGrpSpPr>
        <p:grpSpPr>
          <a:xfrm>
            <a:off x="566928" y="2296588"/>
            <a:ext cx="9075833" cy="309232"/>
            <a:chOff x="566928" y="2203909"/>
            <a:chExt cx="9075833" cy="309232"/>
          </a:xfrm>
        </p:grpSpPr>
        <p:sp>
          <p:nvSpPr>
            <p:cNvPr id="8" name="Shape 6">
              <a:extLst>
                <a:ext uri="{FF2B5EF4-FFF2-40B4-BE49-F238E27FC236}">
                  <a16:creationId xmlns:a16="http://schemas.microsoft.com/office/drawing/2014/main" id="{991B3420-5AA9-2EB4-2012-3D0D472063ED}"/>
                </a:ext>
              </a:extLst>
            </p:cNvPr>
            <p:cNvSpPr/>
            <p:nvPr/>
          </p:nvSpPr>
          <p:spPr>
            <a:xfrm>
              <a:off x="566928" y="2287478"/>
              <a:ext cx="146304" cy="146304"/>
            </a:xfrm>
            <a:prstGeom prst="ellipse">
              <a:avLst/>
            </a:prstGeom>
            <a:solidFill>
              <a:srgbClr val="2D7FF9"/>
            </a:solidFill>
            <a:ln/>
          </p:spPr>
          <p:txBody>
            <a:bodyPr/>
            <a:lstStyle/>
            <a:p>
              <a:endParaRPr lang="en-US"/>
            </a:p>
          </p:txBody>
        </p:sp>
        <p:sp>
          <p:nvSpPr>
            <p:cNvPr id="9" name="Text 7">
              <a:extLst>
                <a:ext uri="{FF2B5EF4-FFF2-40B4-BE49-F238E27FC236}">
                  <a16:creationId xmlns:a16="http://schemas.microsoft.com/office/drawing/2014/main" id="{8583DBE0-2F70-4474-8AC5-BAB3D6C09AE1}"/>
                </a:ext>
              </a:extLst>
            </p:cNvPr>
            <p:cNvSpPr/>
            <p:nvPr/>
          </p:nvSpPr>
          <p:spPr>
            <a:xfrm>
              <a:off x="914398" y="2203909"/>
              <a:ext cx="8728363" cy="309232"/>
            </a:xfrm>
            <a:prstGeom prst="rect">
              <a:avLst/>
            </a:prstGeom>
            <a:noFill/>
            <a:ln/>
          </p:spPr>
          <p:txBody>
            <a:bodyPr wrap="square" lIns="0" tIns="0" rIns="0" bIns="0" rtlCol="0" anchor="t"/>
            <a:lstStyle/>
            <a:p>
              <a:pPr marL="0" indent="0">
                <a:lnSpc>
                  <a:spcPct val="112000"/>
                </a:lnSpc>
                <a:buNone/>
              </a:pPr>
              <a:r>
                <a:rPr lang="en-US" sz="1600" dirty="0">
                  <a:solidFill>
                    <a:srgbClr val="0F2247"/>
                  </a:solidFill>
                  <a:latin typeface="Calibri" pitchFamily="34" charset="0"/>
                  <a:ea typeface="Calibri" pitchFamily="34" charset="-122"/>
                  <a:cs typeface="Calibri" pitchFamily="34" charset="-120"/>
                </a:rPr>
                <a:t>One input → one final observation: Did the agent do what was asked?</a:t>
              </a:r>
            </a:p>
          </p:txBody>
        </p:sp>
      </p:grpSp>
      <p:sp>
        <p:nvSpPr>
          <p:cNvPr id="21" name="Text 18">
            <a:extLst>
              <a:ext uri="{FF2B5EF4-FFF2-40B4-BE49-F238E27FC236}">
                <a16:creationId xmlns:a16="http://schemas.microsoft.com/office/drawing/2014/main" id="{D7D0C4FE-7DFB-C4F1-DACE-438AF96768E7}"/>
              </a:ext>
            </a:extLst>
          </p:cNvPr>
          <p:cNvSpPr/>
          <p:nvPr/>
        </p:nvSpPr>
        <p:spPr>
          <a:xfrm>
            <a:off x="0" y="6419088"/>
            <a:ext cx="12191695" cy="320040"/>
          </a:xfrm>
          <a:prstGeom prst="rect">
            <a:avLst/>
          </a:prstGeom>
          <a:noFill/>
          <a:ln/>
        </p:spPr>
        <p:txBody>
          <a:bodyPr wrap="square" lIns="0" tIns="0" rIns="0" bIns="0" rtlCol="0" anchor="ctr"/>
          <a:lstStyle/>
          <a:p>
            <a:pPr marL="0" indent="0" algn="ctr">
              <a:buNone/>
            </a:pPr>
            <a:r>
              <a:rPr lang="en-US" sz="950" kern="0" spc="200">
                <a:solidFill>
                  <a:srgbClr val="8A93A8"/>
                </a:solidFill>
                <a:latin typeface="Arial" pitchFamily="34" charset="0"/>
                <a:ea typeface="Arial" pitchFamily="34" charset="-122"/>
                <a:cs typeface="Arial" pitchFamily="34" charset="-120"/>
              </a:rPr>
              <a:t>D A T A H A C K   S U M M I T   2 0 2 6</a:t>
            </a:r>
            <a:endParaRPr lang="en-US" sz="950"/>
          </a:p>
        </p:txBody>
      </p:sp>
      <p:pic>
        <p:nvPicPr>
          <p:cNvPr id="23" name="Picture 22" descr="preencoded.png">
            <a:extLst>
              <a:ext uri="{FF2B5EF4-FFF2-40B4-BE49-F238E27FC236}">
                <a16:creationId xmlns:a16="http://schemas.microsoft.com/office/drawing/2014/main" id="{30D56588-EDAB-2FB5-3585-8CF5C13DADD1}"/>
              </a:ext>
            </a:extLst>
          </p:cNvPr>
          <p:cNvPicPr>
            <a:picLocks noChangeAspect="1"/>
          </p:cNvPicPr>
          <p:nvPr/>
        </p:nvPicPr>
        <p:blipFill>
          <a:blip r:embed="rId3"/>
          <a:srcRect b="-176"/>
          <a:stretch>
            <a:fillRect/>
          </a:stretch>
        </p:blipFill>
        <p:spPr>
          <a:xfrm>
            <a:off x="10792419" y="367621"/>
            <a:ext cx="852695" cy="852309"/>
          </a:xfrm>
          <a:prstGeom prst="rect">
            <a:avLst/>
          </a:prstGeom>
        </p:spPr>
      </p:pic>
      <p:sp>
        <p:nvSpPr>
          <p:cNvPr id="10" name="Text 3">
            <a:extLst>
              <a:ext uri="{FF2B5EF4-FFF2-40B4-BE49-F238E27FC236}">
                <a16:creationId xmlns:a16="http://schemas.microsoft.com/office/drawing/2014/main" id="{72CF143D-E956-4239-0CD7-5B7A077DD5A2}"/>
              </a:ext>
            </a:extLst>
          </p:cNvPr>
          <p:cNvSpPr/>
          <p:nvPr/>
        </p:nvSpPr>
        <p:spPr>
          <a:xfrm>
            <a:off x="512064" y="1306488"/>
            <a:ext cx="8686800" cy="411480"/>
          </a:xfrm>
          <a:prstGeom prst="rect">
            <a:avLst/>
          </a:prstGeom>
          <a:noFill/>
          <a:ln/>
        </p:spPr>
        <p:txBody>
          <a:bodyPr wrap="square" lIns="0" tIns="0" rIns="0" bIns="0" rtlCol="0" anchor="ctr"/>
          <a:lstStyle/>
          <a:p>
            <a:pPr marL="0" indent="0">
              <a:buNone/>
            </a:pPr>
            <a:r>
              <a:rPr lang="en-US" sz="1350" i="1" dirty="0">
                <a:solidFill>
                  <a:srgbClr val="8A93A8"/>
                </a:solidFill>
                <a:latin typeface="Calibri" pitchFamily="34" charset="0"/>
                <a:ea typeface="Calibri" pitchFamily="34" charset="-122"/>
                <a:cs typeface="Calibri" pitchFamily="34" charset="-120"/>
              </a:rPr>
              <a:t>What is End-to-End Evaluation?</a:t>
            </a:r>
          </a:p>
        </p:txBody>
      </p:sp>
      <p:grpSp>
        <p:nvGrpSpPr>
          <p:cNvPr id="13" name="Group 12">
            <a:extLst>
              <a:ext uri="{FF2B5EF4-FFF2-40B4-BE49-F238E27FC236}">
                <a16:creationId xmlns:a16="http://schemas.microsoft.com/office/drawing/2014/main" id="{3B30C079-1A27-CEC2-348D-5DA4BF14ECFA}"/>
              </a:ext>
            </a:extLst>
          </p:cNvPr>
          <p:cNvGrpSpPr/>
          <p:nvPr/>
        </p:nvGrpSpPr>
        <p:grpSpPr>
          <a:xfrm>
            <a:off x="566928" y="2692510"/>
            <a:ext cx="9075834" cy="309232"/>
            <a:chOff x="566928" y="2563206"/>
            <a:chExt cx="9075834" cy="309232"/>
          </a:xfrm>
        </p:grpSpPr>
        <p:sp>
          <p:nvSpPr>
            <p:cNvPr id="11" name="Shape 4">
              <a:extLst>
                <a:ext uri="{FF2B5EF4-FFF2-40B4-BE49-F238E27FC236}">
                  <a16:creationId xmlns:a16="http://schemas.microsoft.com/office/drawing/2014/main" id="{3FBB5A2A-ACEF-D479-5C33-AF549F128DBA}"/>
                </a:ext>
              </a:extLst>
            </p:cNvPr>
            <p:cNvSpPr/>
            <p:nvPr/>
          </p:nvSpPr>
          <p:spPr>
            <a:xfrm>
              <a:off x="566928" y="2645577"/>
              <a:ext cx="146304" cy="146304"/>
            </a:xfrm>
            <a:prstGeom prst="ellipse">
              <a:avLst/>
            </a:prstGeom>
            <a:solidFill>
              <a:srgbClr val="1FB6A6"/>
            </a:solidFill>
            <a:ln/>
          </p:spPr>
          <p:txBody>
            <a:bodyPr/>
            <a:lstStyle/>
            <a:p>
              <a:endParaRPr lang="en-US"/>
            </a:p>
          </p:txBody>
        </p:sp>
        <p:sp>
          <p:nvSpPr>
            <p:cNvPr id="12" name="Text 5">
              <a:extLst>
                <a:ext uri="{FF2B5EF4-FFF2-40B4-BE49-F238E27FC236}">
                  <a16:creationId xmlns:a16="http://schemas.microsoft.com/office/drawing/2014/main" id="{0C07D8F4-561C-E35E-88FC-4CBFDD3FDBF6}"/>
                </a:ext>
              </a:extLst>
            </p:cNvPr>
            <p:cNvSpPr/>
            <p:nvPr/>
          </p:nvSpPr>
          <p:spPr>
            <a:xfrm>
              <a:off x="914398" y="2563206"/>
              <a:ext cx="8728364" cy="309232"/>
            </a:xfrm>
            <a:prstGeom prst="rect">
              <a:avLst/>
            </a:prstGeom>
            <a:noFill/>
            <a:ln/>
          </p:spPr>
          <p:txBody>
            <a:bodyPr wrap="square" lIns="0" tIns="0" rIns="0" bIns="0" rtlCol="0" anchor="t"/>
            <a:lstStyle/>
            <a:p>
              <a:pPr marL="0" indent="0">
                <a:lnSpc>
                  <a:spcPct val="112000"/>
                </a:lnSpc>
                <a:buNone/>
              </a:pPr>
              <a:r>
                <a:rPr lang="en-US" sz="1600" dirty="0">
                  <a:solidFill>
                    <a:srgbClr val="0F2247"/>
                  </a:solidFill>
                  <a:latin typeface="Calibri" pitchFamily="34" charset="0"/>
                  <a:ea typeface="Calibri" pitchFamily="34" charset="-122"/>
                  <a:cs typeface="Calibri" pitchFamily="34" charset="-120"/>
                </a:rPr>
                <a:t>The closest proxy to user-perceived success.</a:t>
              </a:r>
            </a:p>
          </p:txBody>
        </p:sp>
      </p:grpSp>
      <p:pic>
        <p:nvPicPr>
          <p:cNvPr id="17" name="Picture 16">
            <a:extLst>
              <a:ext uri="{FF2B5EF4-FFF2-40B4-BE49-F238E27FC236}">
                <a16:creationId xmlns:a16="http://schemas.microsoft.com/office/drawing/2014/main" id="{1F843B6A-B849-19CE-791C-344C94C57E56}"/>
              </a:ext>
            </a:extLst>
          </p:cNvPr>
          <p:cNvPicPr>
            <a:picLocks noChangeAspect="1"/>
          </p:cNvPicPr>
          <p:nvPr/>
        </p:nvPicPr>
        <p:blipFill>
          <a:blip r:embed="rId4"/>
          <a:stretch>
            <a:fillRect/>
          </a:stretch>
        </p:blipFill>
        <p:spPr>
          <a:xfrm>
            <a:off x="47482" y="3039021"/>
            <a:ext cx="12093988" cy="3063505"/>
          </a:xfrm>
          <a:prstGeom prst="rect">
            <a:avLst/>
          </a:prstGeom>
        </p:spPr>
      </p:pic>
    </p:spTree>
    <p:extLst>
      <p:ext uri="{BB962C8B-B14F-4D97-AF65-F5344CB8AC3E}">
        <p14:creationId xmlns:p14="http://schemas.microsoft.com/office/powerpoint/2010/main" val="30741483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623F453-D0E2-F781-B439-7886AAB50F2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B6ECCB6-0F05-0ED9-E19D-E23064BC69B9}"/>
              </a:ext>
            </a:extLst>
          </p:cNvPr>
          <p:cNvSpPr/>
          <p:nvPr/>
        </p:nvSpPr>
        <p:spPr>
          <a:xfrm>
            <a:off x="502920" y="548640"/>
            <a:ext cx="82296" cy="603504"/>
          </a:xfrm>
          <a:prstGeom prst="rect">
            <a:avLst/>
          </a:prstGeom>
          <a:solidFill>
            <a:srgbClr val="FE7202"/>
          </a:solidFill>
          <a:ln/>
        </p:spPr>
        <p:txBody>
          <a:bodyPr/>
          <a:lstStyle/>
          <a:p>
            <a:endParaRPr lang="en-US"/>
          </a:p>
        </p:txBody>
      </p:sp>
      <p:sp>
        <p:nvSpPr>
          <p:cNvPr id="3" name="Text 1">
            <a:extLst>
              <a:ext uri="{FF2B5EF4-FFF2-40B4-BE49-F238E27FC236}">
                <a16:creationId xmlns:a16="http://schemas.microsoft.com/office/drawing/2014/main" id="{52BBA34A-90B7-6EDE-8851-D8BA1627D0B4}"/>
              </a:ext>
            </a:extLst>
          </p:cNvPr>
          <p:cNvSpPr/>
          <p:nvPr/>
        </p:nvSpPr>
        <p:spPr>
          <a:xfrm>
            <a:off x="731520" y="502920"/>
            <a:ext cx="10058400" cy="713232"/>
          </a:xfrm>
          <a:prstGeom prst="rect">
            <a:avLst/>
          </a:prstGeom>
          <a:noFill/>
          <a:ln/>
        </p:spPr>
        <p:txBody>
          <a:bodyPr wrap="square" lIns="0" tIns="0" rIns="0" bIns="0" rtlCol="0" anchor="ctr"/>
          <a:lstStyle/>
          <a:p>
            <a:pPr marL="0" indent="0">
              <a:buNone/>
            </a:pPr>
            <a:r>
              <a:rPr lang="en-US" sz="2900" b="1" dirty="0">
                <a:solidFill>
                  <a:srgbClr val="0F2247"/>
                </a:solidFill>
                <a:latin typeface="Arial" pitchFamily="34" charset="0"/>
                <a:ea typeface="Arial" pitchFamily="34" charset="-122"/>
                <a:cs typeface="Arial" pitchFamily="34" charset="-120"/>
              </a:rPr>
              <a:t>Layer 1: E2E Eval</a:t>
            </a:r>
          </a:p>
        </p:txBody>
      </p:sp>
      <p:sp>
        <p:nvSpPr>
          <p:cNvPr id="4" name="Shape 2">
            <a:extLst>
              <a:ext uri="{FF2B5EF4-FFF2-40B4-BE49-F238E27FC236}">
                <a16:creationId xmlns:a16="http://schemas.microsoft.com/office/drawing/2014/main" id="{44B720A7-F4A8-EA31-769F-7A1362BD444E}"/>
              </a:ext>
            </a:extLst>
          </p:cNvPr>
          <p:cNvSpPr/>
          <p:nvPr/>
        </p:nvSpPr>
        <p:spPr>
          <a:xfrm>
            <a:off x="502920" y="1325880"/>
            <a:ext cx="11183112" cy="27432"/>
          </a:xfrm>
          <a:prstGeom prst="rect">
            <a:avLst/>
          </a:prstGeom>
          <a:solidFill>
            <a:srgbClr val="FE7202"/>
          </a:solidFill>
          <a:ln/>
        </p:spPr>
        <p:txBody>
          <a:bodyPr/>
          <a:lstStyle/>
          <a:p>
            <a:endParaRPr lang="en-US"/>
          </a:p>
        </p:txBody>
      </p:sp>
      <p:sp>
        <p:nvSpPr>
          <p:cNvPr id="5" name="Text 3">
            <a:extLst>
              <a:ext uri="{FF2B5EF4-FFF2-40B4-BE49-F238E27FC236}">
                <a16:creationId xmlns:a16="http://schemas.microsoft.com/office/drawing/2014/main" id="{9F5511DC-9A2E-35A1-F7A5-38400E92DED6}"/>
              </a:ext>
            </a:extLst>
          </p:cNvPr>
          <p:cNvSpPr/>
          <p:nvPr/>
        </p:nvSpPr>
        <p:spPr>
          <a:xfrm>
            <a:off x="512064" y="1417320"/>
            <a:ext cx="8686800" cy="411480"/>
          </a:xfrm>
          <a:prstGeom prst="rect">
            <a:avLst/>
          </a:prstGeom>
          <a:noFill/>
          <a:ln/>
        </p:spPr>
        <p:txBody>
          <a:bodyPr wrap="square" lIns="0" tIns="0" rIns="0" bIns="0" rtlCol="0" anchor="ctr"/>
          <a:lstStyle/>
          <a:p>
            <a:pPr marL="0" indent="0">
              <a:buNone/>
            </a:pPr>
            <a:r>
              <a:rPr lang="en-US" sz="1350" i="1" dirty="0">
                <a:solidFill>
                  <a:srgbClr val="8A93A8"/>
                </a:solidFill>
                <a:latin typeface="Calibri" pitchFamily="34" charset="0"/>
                <a:ea typeface="Calibri" pitchFamily="34" charset="-122"/>
                <a:cs typeface="Calibri" pitchFamily="34" charset="-120"/>
              </a:rPr>
              <a:t>Why E2E Evaluation Matters?</a:t>
            </a:r>
          </a:p>
        </p:txBody>
      </p:sp>
      <p:sp>
        <p:nvSpPr>
          <p:cNvPr id="6" name="Shape 4">
            <a:extLst>
              <a:ext uri="{FF2B5EF4-FFF2-40B4-BE49-F238E27FC236}">
                <a16:creationId xmlns:a16="http://schemas.microsoft.com/office/drawing/2014/main" id="{C416E5D9-7113-B884-AFF2-5149C07A0E40}"/>
              </a:ext>
            </a:extLst>
          </p:cNvPr>
          <p:cNvSpPr/>
          <p:nvPr/>
        </p:nvSpPr>
        <p:spPr>
          <a:xfrm>
            <a:off x="566928" y="2038468"/>
            <a:ext cx="146304" cy="146304"/>
          </a:xfrm>
          <a:prstGeom prst="ellipse">
            <a:avLst/>
          </a:prstGeom>
          <a:solidFill>
            <a:srgbClr val="1FB6A6"/>
          </a:solidFill>
          <a:ln/>
        </p:spPr>
        <p:txBody>
          <a:bodyPr/>
          <a:lstStyle/>
          <a:p>
            <a:endParaRPr lang="en-US"/>
          </a:p>
        </p:txBody>
      </p:sp>
      <p:sp>
        <p:nvSpPr>
          <p:cNvPr id="7" name="Text 5">
            <a:extLst>
              <a:ext uri="{FF2B5EF4-FFF2-40B4-BE49-F238E27FC236}">
                <a16:creationId xmlns:a16="http://schemas.microsoft.com/office/drawing/2014/main" id="{D5FCB251-5243-3A8B-7AAC-1C04A768FB17}"/>
              </a:ext>
            </a:extLst>
          </p:cNvPr>
          <p:cNvSpPr/>
          <p:nvPr/>
        </p:nvSpPr>
        <p:spPr>
          <a:xfrm>
            <a:off x="914400" y="1919596"/>
            <a:ext cx="7406640" cy="868680"/>
          </a:xfrm>
          <a:prstGeom prst="rect">
            <a:avLst/>
          </a:prstGeom>
          <a:noFill/>
          <a:ln/>
        </p:spPr>
        <p:txBody>
          <a:bodyPr wrap="square" lIns="0" tIns="0" rIns="0" bIns="0" rtlCol="0" anchor="t"/>
          <a:lstStyle/>
          <a:p>
            <a:pPr marL="0" indent="0">
              <a:lnSpc>
                <a:spcPct val="112000"/>
              </a:lnSpc>
              <a:buNone/>
            </a:pPr>
            <a:r>
              <a:rPr lang="en-US" sz="1600" b="1" dirty="0">
                <a:solidFill>
                  <a:srgbClr val="0F2247"/>
                </a:solidFill>
                <a:latin typeface="Calibri" pitchFamily="34" charset="0"/>
                <a:ea typeface="Calibri" pitchFamily="34" charset="-122"/>
                <a:cs typeface="Calibri" pitchFamily="34" charset="-120"/>
              </a:rPr>
              <a:t>Captures emergent </a:t>
            </a:r>
            <a:r>
              <a:rPr lang="en-US" sz="1600" b="1" dirty="0" err="1">
                <a:solidFill>
                  <a:srgbClr val="0F2247"/>
                </a:solidFill>
                <a:latin typeface="Calibri" pitchFamily="34" charset="0"/>
                <a:ea typeface="Calibri" pitchFamily="34" charset="-122"/>
                <a:cs typeface="Calibri" pitchFamily="34" charset="-120"/>
              </a:rPr>
              <a:t>behaviour</a:t>
            </a:r>
            <a:r>
              <a:rPr lang="en-US" sz="1600" b="1" dirty="0">
                <a:solidFill>
                  <a:srgbClr val="0F2247"/>
                </a:solidFill>
                <a:latin typeface="Calibri" pitchFamily="34" charset="0"/>
                <a:ea typeface="Calibri" pitchFamily="34" charset="-122"/>
                <a:cs typeface="Calibri" pitchFamily="34" charset="-120"/>
              </a:rPr>
              <a:t>.
</a:t>
            </a:r>
            <a:r>
              <a:rPr lang="en-US" sz="1300" dirty="0">
                <a:solidFill>
                  <a:srgbClr val="3A4866"/>
                </a:solidFill>
                <a:latin typeface="Calibri" pitchFamily="34" charset="0"/>
                <a:ea typeface="Calibri" pitchFamily="34" charset="-122"/>
                <a:cs typeface="Calibri" pitchFamily="34" charset="-120"/>
              </a:rPr>
              <a:t>Every component can be "fine" and the system still broken.</a:t>
            </a:r>
          </a:p>
        </p:txBody>
      </p:sp>
      <p:sp>
        <p:nvSpPr>
          <p:cNvPr id="8" name="Shape 6">
            <a:extLst>
              <a:ext uri="{FF2B5EF4-FFF2-40B4-BE49-F238E27FC236}">
                <a16:creationId xmlns:a16="http://schemas.microsoft.com/office/drawing/2014/main" id="{58B2C443-BC9D-2D50-EF60-9D16B47BB545}"/>
              </a:ext>
            </a:extLst>
          </p:cNvPr>
          <p:cNvSpPr/>
          <p:nvPr/>
        </p:nvSpPr>
        <p:spPr>
          <a:xfrm>
            <a:off x="566928" y="2989444"/>
            <a:ext cx="146304" cy="146304"/>
          </a:xfrm>
          <a:prstGeom prst="ellipse">
            <a:avLst/>
          </a:prstGeom>
          <a:solidFill>
            <a:srgbClr val="2D7FF9"/>
          </a:solidFill>
          <a:ln/>
        </p:spPr>
        <p:txBody>
          <a:bodyPr/>
          <a:lstStyle/>
          <a:p>
            <a:endParaRPr lang="en-US"/>
          </a:p>
        </p:txBody>
      </p:sp>
      <p:sp>
        <p:nvSpPr>
          <p:cNvPr id="9" name="Text 7">
            <a:extLst>
              <a:ext uri="{FF2B5EF4-FFF2-40B4-BE49-F238E27FC236}">
                <a16:creationId xmlns:a16="http://schemas.microsoft.com/office/drawing/2014/main" id="{00D6429C-8B1D-1175-5E5A-F9C38807DBBF}"/>
              </a:ext>
            </a:extLst>
          </p:cNvPr>
          <p:cNvSpPr/>
          <p:nvPr/>
        </p:nvSpPr>
        <p:spPr>
          <a:xfrm>
            <a:off x="914400" y="2870572"/>
            <a:ext cx="7406640" cy="868680"/>
          </a:xfrm>
          <a:prstGeom prst="rect">
            <a:avLst/>
          </a:prstGeom>
          <a:noFill/>
          <a:ln/>
        </p:spPr>
        <p:txBody>
          <a:bodyPr wrap="square" lIns="0" tIns="0" rIns="0" bIns="0" rtlCol="0" anchor="t"/>
          <a:lstStyle/>
          <a:p>
            <a:pPr marL="0" indent="0">
              <a:lnSpc>
                <a:spcPct val="112000"/>
              </a:lnSpc>
              <a:buNone/>
            </a:pPr>
            <a:r>
              <a:rPr lang="en-US" sz="1600" b="1" dirty="0">
                <a:solidFill>
                  <a:srgbClr val="0F2247"/>
                </a:solidFill>
                <a:latin typeface="Calibri" pitchFamily="34" charset="0"/>
                <a:ea typeface="Calibri" pitchFamily="34" charset="-122"/>
                <a:cs typeface="Calibri" pitchFamily="34" charset="-120"/>
              </a:rPr>
              <a:t>Aligns to product, not pipeline.
</a:t>
            </a:r>
            <a:r>
              <a:rPr lang="en-US" sz="1300" dirty="0">
                <a:solidFill>
                  <a:srgbClr val="3A4866"/>
                </a:solidFill>
                <a:latin typeface="Calibri" pitchFamily="34" charset="0"/>
                <a:ea typeface="Calibri" pitchFamily="34" charset="-122"/>
                <a:cs typeface="Calibri" pitchFamily="34" charset="-120"/>
              </a:rPr>
              <a:t>Maps directly to a business outcome the team can rally around.</a:t>
            </a:r>
            <a:endParaRPr lang="en-US" sz="1600" dirty="0"/>
          </a:p>
        </p:txBody>
      </p:sp>
      <p:sp>
        <p:nvSpPr>
          <p:cNvPr id="10" name="Shape 8">
            <a:extLst>
              <a:ext uri="{FF2B5EF4-FFF2-40B4-BE49-F238E27FC236}">
                <a16:creationId xmlns:a16="http://schemas.microsoft.com/office/drawing/2014/main" id="{8E10AE7F-46B5-2C68-065C-5E015FA4E868}"/>
              </a:ext>
            </a:extLst>
          </p:cNvPr>
          <p:cNvSpPr/>
          <p:nvPr/>
        </p:nvSpPr>
        <p:spPr>
          <a:xfrm>
            <a:off x="566928" y="3940420"/>
            <a:ext cx="146304" cy="146304"/>
          </a:xfrm>
          <a:prstGeom prst="ellipse">
            <a:avLst/>
          </a:prstGeom>
          <a:solidFill>
            <a:srgbClr val="1FB6A6"/>
          </a:solidFill>
          <a:ln/>
        </p:spPr>
        <p:txBody>
          <a:bodyPr/>
          <a:lstStyle/>
          <a:p>
            <a:endParaRPr lang="en-US"/>
          </a:p>
        </p:txBody>
      </p:sp>
      <p:sp>
        <p:nvSpPr>
          <p:cNvPr id="11" name="Text 9">
            <a:extLst>
              <a:ext uri="{FF2B5EF4-FFF2-40B4-BE49-F238E27FC236}">
                <a16:creationId xmlns:a16="http://schemas.microsoft.com/office/drawing/2014/main" id="{F7BA5548-2D2D-9D15-AB52-9BEEB03B1550}"/>
              </a:ext>
            </a:extLst>
          </p:cNvPr>
          <p:cNvSpPr/>
          <p:nvPr/>
        </p:nvSpPr>
        <p:spPr>
          <a:xfrm>
            <a:off x="914400" y="3821548"/>
            <a:ext cx="7406640" cy="868680"/>
          </a:xfrm>
          <a:prstGeom prst="rect">
            <a:avLst/>
          </a:prstGeom>
          <a:noFill/>
          <a:ln/>
        </p:spPr>
        <p:txBody>
          <a:bodyPr wrap="square" lIns="0" tIns="0" rIns="0" bIns="0" rtlCol="0" anchor="t"/>
          <a:lstStyle/>
          <a:p>
            <a:pPr marL="0" indent="0">
              <a:lnSpc>
                <a:spcPct val="112000"/>
              </a:lnSpc>
              <a:buNone/>
            </a:pPr>
            <a:r>
              <a:rPr lang="en-US" sz="1600" b="1" dirty="0">
                <a:solidFill>
                  <a:srgbClr val="0F2247"/>
                </a:solidFill>
                <a:latin typeface="Calibri" pitchFamily="34" charset="0"/>
                <a:ea typeface="Calibri" pitchFamily="34" charset="-122"/>
                <a:cs typeface="Calibri" pitchFamily="34" charset="-120"/>
              </a:rPr>
              <a:t>The only fair way to compare agents. 
</a:t>
            </a:r>
            <a:r>
              <a:rPr lang="en-US" sz="1300" dirty="0">
                <a:solidFill>
                  <a:srgbClr val="3A4866"/>
                </a:solidFill>
                <a:latin typeface="Calibri" pitchFamily="34" charset="0"/>
                <a:ea typeface="Calibri" pitchFamily="34" charset="-122"/>
                <a:cs typeface="Calibri" pitchFamily="34" charset="-120"/>
              </a:rPr>
              <a:t>Different architectures, different components — same task, same verdict.</a:t>
            </a:r>
            <a:endParaRPr lang="en-US" sz="1600" dirty="0"/>
          </a:p>
        </p:txBody>
      </p:sp>
      <p:sp>
        <p:nvSpPr>
          <p:cNvPr id="12" name="Shape 10">
            <a:extLst>
              <a:ext uri="{FF2B5EF4-FFF2-40B4-BE49-F238E27FC236}">
                <a16:creationId xmlns:a16="http://schemas.microsoft.com/office/drawing/2014/main" id="{E2F77D6C-57C3-4C96-3302-2675A589FE88}"/>
              </a:ext>
            </a:extLst>
          </p:cNvPr>
          <p:cNvSpPr/>
          <p:nvPr/>
        </p:nvSpPr>
        <p:spPr>
          <a:xfrm>
            <a:off x="566928" y="4891396"/>
            <a:ext cx="146304" cy="146304"/>
          </a:xfrm>
          <a:prstGeom prst="ellipse">
            <a:avLst/>
          </a:prstGeom>
          <a:solidFill>
            <a:srgbClr val="2D7FF9"/>
          </a:solidFill>
          <a:ln/>
        </p:spPr>
        <p:txBody>
          <a:bodyPr/>
          <a:lstStyle/>
          <a:p>
            <a:endParaRPr lang="en-US"/>
          </a:p>
        </p:txBody>
      </p:sp>
      <p:sp>
        <p:nvSpPr>
          <p:cNvPr id="13" name="Text 11">
            <a:extLst>
              <a:ext uri="{FF2B5EF4-FFF2-40B4-BE49-F238E27FC236}">
                <a16:creationId xmlns:a16="http://schemas.microsoft.com/office/drawing/2014/main" id="{32ADE7F1-E7E7-816F-31C7-26D2C83A4011}"/>
              </a:ext>
            </a:extLst>
          </p:cNvPr>
          <p:cNvSpPr/>
          <p:nvPr/>
        </p:nvSpPr>
        <p:spPr>
          <a:xfrm>
            <a:off x="914400" y="4772524"/>
            <a:ext cx="7406640" cy="868680"/>
          </a:xfrm>
          <a:prstGeom prst="rect">
            <a:avLst/>
          </a:prstGeom>
          <a:noFill/>
          <a:ln/>
        </p:spPr>
        <p:txBody>
          <a:bodyPr wrap="square" lIns="0" tIns="0" rIns="0" bIns="0" rtlCol="0" anchor="t"/>
          <a:lstStyle/>
          <a:p>
            <a:pPr marL="0" indent="0">
              <a:lnSpc>
                <a:spcPct val="112000"/>
              </a:lnSpc>
              <a:buNone/>
            </a:pPr>
            <a:r>
              <a:rPr lang="en-US" sz="1600" b="1" dirty="0">
                <a:solidFill>
                  <a:srgbClr val="0F2247"/>
                </a:solidFill>
                <a:latin typeface="Calibri" pitchFamily="34" charset="0"/>
                <a:ea typeface="Calibri" pitchFamily="34" charset="-122"/>
                <a:cs typeface="Calibri" pitchFamily="34" charset="-120"/>
              </a:rPr>
              <a:t>Task regression net.
</a:t>
            </a:r>
            <a:r>
              <a:rPr lang="en-US" sz="1300" dirty="0">
                <a:solidFill>
                  <a:srgbClr val="3A4866"/>
                </a:solidFill>
                <a:latin typeface="Calibri" pitchFamily="34" charset="0"/>
                <a:ea typeface="Calibri" pitchFamily="34" charset="-122"/>
                <a:cs typeface="Calibri" pitchFamily="34" charset="-120"/>
              </a:rPr>
              <a:t>Any change anywhere in the stack shows up here first.</a:t>
            </a:r>
            <a:endParaRPr lang="en-US" sz="1600" dirty="0"/>
          </a:p>
        </p:txBody>
      </p:sp>
      <p:sp>
        <p:nvSpPr>
          <p:cNvPr id="21" name="Text 18">
            <a:extLst>
              <a:ext uri="{FF2B5EF4-FFF2-40B4-BE49-F238E27FC236}">
                <a16:creationId xmlns:a16="http://schemas.microsoft.com/office/drawing/2014/main" id="{3A458970-A2A6-22C7-173B-3B204A3DE435}"/>
              </a:ext>
            </a:extLst>
          </p:cNvPr>
          <p:cNvSpPr/>
          <p:nvPr/>
        </p:nvSpPr>
        <p:spPr>
          <a:xfrm>
            <a:off x="0" y="6419088"/>
            <a:ext cx="12191695" cy="320040"/>
          </a:xfrm>
          <a:prstGeom prst="rect">
            <a:avLst/>
          </a:prstGeom>
          <a:noFill/>
          <a:ln/>
        </p:spPr>
        <p:txBody>
          <a:bodyPr wrap="square" lIns="0" tIns="0" rIns="0" bIns="0" rtlCol="0" anchor="ctr"/>
          <a:lstStyle/>
          <a:p>
            <a:pPr marL="0" indent="0" algn="ctr">
              <a:buNone/>
            </a:pPr>
            <a:r>
              <a:rPr lang="en-US" sz="950" kern="0" spc="200">
                <a:solidFill>
                  <a:srgbClr val="8A93A8"/>
                </a:solidFill>
                <a:latin typeface="Arial" pitchFamily="34" charset="0"/>
                <a:ea typeface="Arial" pitchFamily="34" charset="-122"/>
                <a:cs typeface="Arial" pitchFamily="34" charset="-120"/>
              </a:rPr>
              <a:t>D A T A H A C K   S U M M I T   2 0 2 6</a:t>
            </a:r>
            <a:endParaRPr lang="en-US" sz="950"/>
          </a:p>
        </p:txBody>
      </p:sp>
      <p:pic>
        <p:nvPicPr>
          <p:cNvPr id="23" name="Picture 22" descr="preencoded.png">
            <a:extLst>
              <a:ext uri="{FF2B5EF4-FFF2-40B4-BE49-F238E27FC236}">
                <a16:creationId xmlns:a16="http://schemas.microsoft.com/office/drawing/2014/main" id="{7172AF4D-10F9-9FC3-3A48-BB424824BF3C}"/>
              </a:ext>
            </a:extLst>
          </p:cNvPr>
          <p:cNvPicPr>
            <a:picLocks noChangeAspect="1"/>
          </p:cNvPicPr>
          <p:nvPr/>
        </p:nvPicPr>
        <p:blipFill>
          <a:blip r:embed="rId3"/>
          <a:srcRect b="-176"/>
          <a:stretch>
            <a:fillRect/>
          </a:stretch>
        </p:blipFill>
        <p:spPr>
          <a:xfrm>
            <a:off x="10792419" y="367621"/>
            <a:ext cx="852695" cy="852309"/>
          </a:xfrm>
          <a:prstGeom prst="rect">
            <a:avLst/>
          </a:prstGeom>
        </p:spPr>
      </p:pic>
      <p:sp>
        <p:nvSpPr>
          <p:cNvPr id="20" name="Shape 8">
            <a:extLst>
              <a:ext uri="{FF2B5EF4-FFF2-40B4-BE49-F238E27FC236}">
                <a16:creationId xmlns:a16="http://schemas.microsoft.com/office/drawing/2014/main" id="{9E5E6C73-02D5-60FB-F681-6375E0C14476}"/>
              </a:ext>
            </a:extLst>
          </p:cNvPr>
          <p:cNvSpPr/>
          <p:nvPr/>
        </p:nvSpPr>
        <p:spPr>
          <a:xfrm>
            <a:off x="566928" y="5842372"/>
            <a:ext cx="146304" cy="146304"/>
          </a:xfrm>
          <a:prstGeom prst="ellipse">
            <a:avLst/>
          </a:prstGeom>
          <a:solidFill>
            <a:srgbClr val="1FB6A6"/>
          </a:solidFill>
          <a:ln/>
        </p:spPr>
        <p:txBody>
          <a:bodyPr/>
          <a:lstStyle/>
          <a:p>
            <a:endParaRPr lang="en-US"/>
          </a:p>
        </p:txBody>
      </p:sp>
      <p:sp>
        <p:nvSpPr>
          <p:cNvPr id="22" name="Text 9">
            <a:extLst>
              <a:ext uri="{FF2B5EF4-FFF2-40B4-BE49-F238E27FC236}">
                <a16:creationId xmlns:a16="http://schemas.microsoft.com/office/drawing/2014/main" id="{E100C82D-830B-22C1-334F-1889C515787C}"/>
              </a:ext>
            </a:extLst>
          </p:cNvPr>
          <p:cNvSpPr/>
          <p:nvPr/>
        </p:nvSpPr>
        <p:spPr>
          <a:xfrm>
            <a:off x="914400" y="5723500"/>
            <a:ext cx="7406640" cy="868680"/>
          </a:xfrm>
          <a:prstGeom prst="rect">
            <a:avLst/>
          </a:prstGeom>
          <a:noFill/>
          <a:ln/>
        </p:spPr>
        <p:txBody>
          <a:bodyPr wrap="square" lIns="0" tIns="0" rIns="0" bIns="0" rtlCol="0" anchor="t"/>
          <a:lstStyle/>
          <a:p>
            <a:pPr marL="0" indent="0">
              <a:lnSpc>
                <a:spcPct val="112000"/>
              </a:lnSpc>
              <a:buNone/>
            </a:pPr>
            <a:r>
              <a:rPr lang="en-US" sz="1600" b="1" dirty="0">
                <a:solidFill>
                  <a:srgbClr val="0F2247"/>
                </a:solidFill>
                <a:latin typeface="Calibri" pitchFamily="34" charset="0"/>
                <a:ea typeface="Calibri" pitchFamily="34" charset="-122"/>
                <a:cs typeface="Calibri" pitchFamily="34" charset="-120"/>
              </a:rPr>
              <a:t>The baseline that justifies everything else. 
</a:t>
            </a:r>
            <a:r>
              <a:rPr lang="en-US" sz="1300" dirty="0">
                <a:solidFill>
                  <a:srgbClr val="3A4866"/>
                </a:solidFill>
                <a:latin typeface="Calibri" pitchFamily="34" charset="0"/>
                <a:ea typeface="Calibri" pitchFamily="34" charset="-122"/>
                <a:cs typeface="Calibri" pitchFamily="34" charset="-120"/>
              </a:rPr>
              <a:t>Without it, lower-layer metrics are local optima with no anchor.</a:t>
            </a:r>
            <a:endParaRPr lang="en-US" sz="1600" dirty="0"/>
          </a:p>
        </p:txBody>
      </p:sp>
    </p:spTree>
    <p:extLst>
      <p:ext uri="{BB962C8B-B14F-4D97-AF65-F5344CB8AC3E}">
        <p14:creationId xmlns:p14="http://schemas.microsoft.com/office/powerpoint/2010/main" val="28973224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A63813F-CD97-B0C1-92FC-7B664F67399A}"/>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BE1BC0A5-0AF9-BAB9-B835-8864DE74381F}"/>
              </a:ext>
            </a:extLst>
          </p:cNvPr>
          <p:cNvPicPr>
            <a:picLocks noChangeAspect="1"/>
          </p:cNvPicPr>
          <p:nvPr/>
        </p:nvPicPr>
        <p:blipFill>
          <a:blip r:embed="rId3"/>
          <a:stretch>
            <a:fillRect/>
          </a:stretch>
        </p:blipFill>
        <p:spPr>
          <a:xfrm>
            <a:off x="686295" y="1632710"/>
            <a:ext cx="10958819" cy="4850386"/>
          </a:xfrm>
          <a:prstGeom prst="rect">
            <a:avLst/>
          </a:prstGeom>
        </p:spPr>
      </p:pic>
      <p:sp>
        <p:nvSpPr>
          <p:cNvPr id="2" name="Shape 0">
            <a:extLst>
              <a:ext uri="{FF2B5EF4-FFF2-40B4-BE49-F238E27FC236}">
                <a16:creationId xmlns:a16="http://schemas.microsoft.com/office/drawing/2014/main" id="{5531F9AD-22F7-0052-824B-931F2A991641}"/>
              </a:ext>
            </a:extLst>
          </p:cNvPr>
          <p:cNvSpPr/>
          <p:nvPr/>
        </p:nvSpPr>
        <p:spPr>
          <a:xfrm>
            <a:off x="502920" y="548640"/>
            <a:ext cx="82296" cy="603504"/>
          </a:xfrm>
          <a:prstGeom prst="rect">
            <a:avLst/>
          </a:prstGeom>
          <a:solidFill>
            <a:srgbClr val="FE7202"/>
          </a:solidFill>
          <a:ln/>
        </p:spPr>
        <p:txBody>
          <a:bodyPr/>
          <a:lstStyle/>
          <a:p>
            <a:endParaRPr lang="en-US"/>
          </a:p>
        </p:txBody>
      </p:sp>
      <p:sp>
        <p:nvSpPr>
          <p:cNvPr id="3" name="Text 1">
            <a:extLst>
              <a:ext uri="{FF2B5EF4-FFF2-40B4-BE49-F238E27FC236}">
                <a16:creationId xmlns:a16="http://schemas.microsoft.com/office/drawing/2014/main" id="{B72F3CE2-7E71-D2AD-37A1-A5D9ACEBF579}"/>
              </a:ext>
            </a:extLst>
          </p:cNvPr>
          <p:cNvSpPr/>
          <p:nvPr/>
        </p:nvSpPr>
        <p:spPr>
          <a:xfrm>
            <a:off x="731520" y="502920"/>
            <a:ext cx="10058400" cy="713232"/>
          </a:xfrm>
          <a:prstGeom prst="rect">
            <a:avLst/>
          </a:prstGeom>
          <a:noFill/>
          <a:ln/>
        </p:spPr>
        <p:txBody>
          <a:bodyPr wrap="square" lIns="0" tIns="0" rIns="0" bIns="0" rtlCol="0" anchor="ctr"/>
          <a:lstStyle/>
          <a:p>
            <a:pPr marL="0" indent="0">
              <a:buNone/>
            </a:pPr>
            <a:r>
              <a:rPr lang="en-US" sz="2900" b="1" dirty="0">
                <a:solidFill>
                  <a:srgbClr val="0F2247"/>
                </a:solidFill>
                <a:latin typeface="Arial" pitchFamily="34" charset="0"/>
                <a:ea typeface="Arial" pitchFamily="34" charset="-122"/>
                <a:cs typeface="Arial" pitchFamily="34" charset="-120"/>
              </a:rPr>
              <a:t>Layer 1: E2E Eval</a:t>
            </a:r>
          </a:p>
        </p:txBody>
      </p:sp>
      <p:sp>
        <p:nvSpPr>
          <p:cNvPr id="4" name="Shape 2">
            <a:extLst>
              <a:ext uri="{FF2B5EF4-FFF2-40B4-BE49-F238E27FC236}">
                <a16:creationId xmlns:a16="http://schemas.microsoft.com/office/drawing/2014/main" id="{3C8F24EA-C8BB-3051-A998-48F912CA34B5}"/>
              </a:ext>
            </a:extLst>
          </p:cNvPr>
          <p:cNvSpPr/>
          <p:nvPr/>
        </p:nvSpPr>
        <p:spPr>
          <a:xfrm>
            <a:off x="502920" y="1325880"/>
            <a:ext cx="11183112" cy="27432"/>
          </a:xfrm>
          <a:prstGeom prst="rect">
            <a:avLst/>
          </a:prstGeom>
          <a:solidFill>
            <a:srgbClr val="FE7202"/>
          </a:solidFill>
          <a:ln/>
        </p:spPr>
        <p:txBody>
          <a:bodyPr/>
          <a:lstStyle/>
          <a:p>
            <a:endParaRPr lang="en-US"/>
          </a:p>
        </p:txBody>
      </p:sp>
      <p:sp>
        <p:nvSpPr>
          <p:cNvPr id="11" name="Text 7">
            <a:extLst>
              <a:ext uri="{FF2B5EF4-FFF2-40B4-BE49-F238E27FC236}">
                <a16:creationId xmlns:a16="http://schemas.microsoft.com/office/drawing/2014/main" id="{7B348C00-0E47-872E-C177-024C0E877138}"/>
              </a:ext>
            </a:extLst>
          </p:cNvPr>
          <p:cNvSpPr/>
          <p:nvPr/>
        </p:nvSpPr>
        <p:spPr>
          <a:xfrm>
            <a:off x="0" y="6419088"/>
            <a:ext cx="12191695" cy="320040"/>
          </a:xfrm>
          <a:prstGeom prst="rect">
            <a:avLst/>
          </a:prstGeom>
          <a:noFill/>
          <a:ln/>
        </p:spPr>
        <p:txBody>
          <a:bodyPr wrap="square" lIns="0" tIns="0" rIns="0" bIns="0" rtlCol="0" anchor="ctr"/>
          <a:lstStyle/>
          <a:p>
            <a:pPr marL="0" indent="0" algn="ctr">
              <a:buNone/>
            </a:pPr>
            <a:r>
              <a:rPr lang="en-US" sz="950" kern="0" spc="200">
                <a:solidFill>
                  <a:srgbClr val="8A93A8"/>
                </a:solidFill>
                <a:latin typeface="Arial" pitchFamily="34" charset="0"/>
                <a:ea typeface="Arial" pitchFamily="34" charset="-122"/>
                <a:cs typeface="Arial" pitchFamily="34" charset="-120"/>
              </a:rPr>
              <a:t>D A T A H A C K   S U M M I T   2 0 2 6</a:t>
            </a:r>
            <a:endParaRPr lang="en-US" sz="950"/>
          </a:p>
        </p:txBody>
      </p:sp>
      <p:pic>
        <p:nvPicPr>
          <p:cNvPr id="12" name="Picture 11" descr="preencoded.png">
            <a:extLst>
              <a:ext uri="{FF2B5EF4-FFF2-40B4-BE49-F238E27FC236}">
                <a16:creationId xmlns:a16="http://schemas.microsoft.com/office/drawing/2014/main" id="{4DF8C55F-3ADB-F1DB-D7EC-CFF946201DA9}"/>
              </a:ext>
            </a:extLst>
          </p:cNvPr>
          <p:cNvPicPr>
            <a:picLocks noChangeAspect="1"/>
          </p:cNvPicPr>
          <p:nvPr/>
        </p:nvPicPr>
        <p:blipFill>
          <a:blip r:embed="rId4"/>
          <a:srcRect b="-176"/>
          <a:stretch>
            <a:fillRect/>
          </a:stretch>
        </p:blipFill>
        <p:spPr>
          <a:xfrm>
            <a:off x="10792419" y="367621"/>
            <a:ext cx="852695" cy="852309"/>
          </a:xfrm>
          <a:prstGeom prst="rect">
            <a:avLst/>
          </a:prstGeom>
        </p:spPr>
      </p:pic>
      <p:sp>
        <p:nvSpPr>
          <p:cNvPr id="13" name="Text 3">
            <a:extLst>
              <a:ext uri="{FF2B5EF4-FFF2-40B4-BE49-F238E27FC236}">
                <a16:creationId xmlns:a16="http://schemas.microsoft.com/office/drawing/2014/main" id="{FF44E5DD-A4FC-0AA5-F0E7-B983A69C783C}"/>
              </a:ext>
            </a:extLst>
          </p:cNvPr>
          <p:cNvSpPr/>
          <p:nvPr/>
        </p:nvSpPr>
        <p:spPr>
          <a:xfrm>
            <a:off x="502920" y="1289810"/>
            <a:ext cx="8686800" cy="411480"/>
          </a:xfrm>
          <a:prstGeom prst="rect">
            <a:avLst/>
          </a:prstGeom>
          <a:noFill/>
          <a:ln/>
        </p:spPr>
        <p:txBody>
          <a:bodyPr wrap="square" lIns="0" tIns="0" rIns="0" bIns="0" rtlCol="0" anchor="ctr"/>
          <a:lstStyle/>
          <a:p>
            <a:pPr marL="0" indent="0">
              <a:buNone/>
            </a:pPr>
            <a:r>
              <a:rPr lang="en-US" sz="1350" i="1" dirty="0">
                <a:solidFill>
                  <a:srgbClr val="8A93A8"/>
                </a:solidFill>
                <a:latin typeface="Calibri" pitchFamily="34" charset="0"/>
                <a:ea typeface="Calibri" pitchFamily="34" charset="-122"/>
                <a:cs typeface="Calibri" pitchFamily="34" charset="-120"/>
              </a:rPr>
              <a:t>Offline Eval with Golden Datasets</a:t>
            </a:r>
          </a:p>
        </p:txBody>
      </p:sp>
    </p:spTree>
    <p:extLst>
      <p:ext uri="{BB962C8B-B14F-4D97-AF65-F5344CB8AC3E}">
        <p14:creationId xmlns:p14="http://schemas.microsoft.com/office/powerpoint/2010/main" val="37273411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B88FDD7-3D46-C6DD-9F34-BBF2CF028A7F}"/>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6FFBBFE9-A6C3-0306-D7C6-BBFC3F4F6C72}"/>
              </a:ext>
            </a:extLst>
          </p:cNvPr>
          <p:cNvPicPr>
            <a:picLocks noChangeAspect="1"/>
          </p:cNvPicPr>
          <p:nvPr/>
        </p:nvPicPr>
        <p:blipFill>
          <a:blip r:embed="rId3"/>
          <a:stretch>
            <a:fillRect/>
          </a:stretch>
        </p:blipFill>
        <p:spPr>
          <a:xfrm>
            <a:off x="700756" y="1527842"/>
            <a:ext cx="10787440" cy="5169722"/>
          </a:xfrm>
          <a:prstGeom prst="rect">
            <a:avLst/>
          </a:prstGeom>
        </p:spPr>
      </p:pic>
      <p:sp>
        <p:nvSpPr>
          <p:cNvPr id="2" name="Shape 0">
            <a:extLst>
              <a:ext uri="{FF2B5EF4-FFF2-40B4-BE49-F238E27FC236}">
                <a16:creationId xmlns:a16="http://schemas.microsoft.com/office/drawing/2014/main" id="{E5762C8C-A8EF-7555-10D4-61B088407111}"/>
              </a:ext>
            </a:extLst>
          </p:cNvPr>
          <p:cNvSpPr/>
          <p:nvPr/>
        </p:nvSpPr>
        <p:spPr>
          <a:xfrm>
            <a:off x="502920" y="548640"/>
            <a:ext cx="82296" cy="603504"/>
          </a:xfrm>
          <a:prstGeom prst="rect">
            <a:avLst/>
          </a:prstGeom>
          <a:solidFill>
            <a:srgbClr val="FE7202"/>
          </a:solidFill>
          <a:ln/>
        </p:spPr>
        <p:txBody>
          <a:bodyPr/>
          <a:lstStyle/>
          <a:p>
            <a:endParaRPr lang="en-US"/>
          </a:p>
        </p:txBody>
      </p:sp>
      <p:sp>
        <p:nvSpPr>
          <p:cNvPr id="3" name="Text 1">
            <a:extLst>
              <a:ext uri="{FF2B5EF4-FFF2-40B4-BE49-F238E27FC236}">
                <a16:creationId xmlns:a16="http://schemas.microsoft.com/office/drawing/2014/main" id="{2F59EB31-8388-E49F-F362-B2C08347F222}"/>
              </a:ext>
            </a:extLst>
          </p:cNvPr>
          <p:cNvSpPr/>
          <p:nvPr/>
        </p:nvSpPr>
        <p:spPr>
          <a:xfrm>
            <a:off x="731520" y="502920"/>
            <a:ext cx="10058400" cy="713232"/>
          </a:xfrm>
          <a:prstGeom prst="rect">
            <a:avLst/>
          </a:prstGeom>
          <a:noFill/>
          <a:ln/>
        </p:spPr>
        <p:txBody>
          <a:bodyPr wrap="square" lIns="0" tIns="0" rIns="0" bIns="0" rtlCol="0" anchor="ctr"/>
          <a:lstStyle/>
          <a:p>
            <a:pPr marL="0" indent="0">
              <a:buNone/>
            </a:pPr>
            <a:r>
              <a:rPr lang="en-US" sz="2900" b="1" dirty="0">
                <a:solidFill>
                  <a:srgbClr val="0F2247"/>
                </a:solidFill>
                <a:latin typeface="Arial" pitchFamily="34" charset="0"/>
                <a:ea typeface="Arial" pitchFamily="34" charset="-122"/>
                <a:cs typeface="Arial" pitchFamily="34" charset="-120"/>
              </a:rPr>
              <a:t>Layer 1: E2E Eval</a:t>
            </a:r>
          </a:p>
        </p:txBody>
      </p:sp>
      <p:sp>
        <p:nvSpPr>
          <p:cNvPr id="4" name="Shape 2">
            <a:extLst>
              <a:ext uri="{FF2B5EF4-FFF2-40B4-BE49-F238E27FC236}">
                <a16:creationId xmlns:a16="http://schemas.microsoft.com/office/drawing/2014/main" id="{86901723-60F7-63A9-8196-AE963372428A}"/>
              </a:ext>
            </a:extLst>
          </p:cNvPr>
          <p:cNvSpPr/>
          <p:nvPr/>
        </p:nvSpPr>
        <p:spPr>
          <a:xfrm>
            <a:off x="502920" y="1325880"/>
            <a:ext cx="11183112" cy="27432"/>
          </a:xfrm>
          <a:prstGeom prst="rect">
            <a:avLst/>
          </a:prstGeom>
          <a:solidFill>
            <a:srgbClr val="FE7202"/>
          </a:solidFill>
          <a:ln/>
        </p:spPr>
        <p:txBody>
          <a:bodyPr/>
          <a:lstStyle/>
          <a:p>
            <a:endParaRPr lang="en-US"/>
          </a:p>
        </p:txBody>
      </p:sp>
      <p:pic>
        <p:nvPicPr>
          <p:cNvPr id="12" name="Picture 11" descr="preencoded.png">
            <a:extLst>
              <a:ext uri="{FF2B5EF4-FFF2-40B4-BE49-F238E27FC236}">
                <a16:creationId xmlns:a16="http://schemas.microsoft.com/office/drawing/2014/main" id="{7B79F799-BE08-E3DE-F213-B89603D373A1}"/>
              </a:ext>
            </a:extLst>
          </p:cNvPr>
          <p:cNvPicPr>
            <a:picLocks noChangeAspect="1"/>
          </p:cNvPicPr>
          <p:nvPr/>
        </p:nvPicPr>
        <p:blipFill>
          <a:blip r:embed="rId4"/>
          <a:srcRect b="-176"/>
          <a:stretch>
            <a:fillRect/>
          </a:stretch>
        </p:blipFill>
        <p:spPr>
          <a:xfrm>
            <a:off x="10792419" y="367621"/>
            <a:ext cx="852695" cy="852309"/>
          </a:xfrm>
          <a:prstGeom prst="rect">
            <a:avLst/>
          </a:prstGeom>
        </p:spPr>
      </p:pic>
      <p:sp>
        <p:nvSpPr>
          <p:cNvPr id="13" name="Text 3">
            <a:extLst>
              <a:ext uri="{FF2B5EF4-FFF2-40B4-BE49-F238E27FC236}">
                <a16:creationId xmlns:a16="http://schemas.microsoft.com/office/drawing/2014/main" id="{FABD9C1A-9357-8735-B4E6-E079D0F70F7D}"/>
              </a:ext>
            </a:extLst>
          </p:cNvPr>
          <p:cNvSpPr/>
          <p:nvPr/>
        </p:nvSpPr>
        <p:spPr>
          <a:xfrm>
            <a:off x="502920" y="1322102"/>
            <a:ext cx="8686800" cy="411480"/>
          </a:xfrm>
          <a:prstGeom prst="rect">
            <a:avLst/>
          </a:prstGeom>
          <a:noFill/>
          <a:ln/>
        </p:spPr>
        <p:txBody>
          <a:bodyPr wrap="square" lIns="0" tIns="0" rIns="0" bIns="0" rtlCol="0" anchor="ctr"/>
          <a:lstStyle/>
          <a:p>
            <a:pPr marL="0" indent="0">
              <a:buNone/>
            </a:pPr>
            <a:r>
              <a:rPr lang="en-US" sz="1350" i="1" dirty="0">
                <a:solidFill>
                  <a:srgbClr val="8A93A8"/>
                </a:solidFill>
                <a:latin typeface="Calibri" pitchFamily="34" charset="0"/>
                <a:ea typeface="Calibri" pitchFamily="34" charset="-122"/>
                <a:cs typeface="Calibri" pitchFamily="34" charset="-120"/>
              </a:rPr>
              <a:t>Online Eval in Production</a:t>
            </a:r>
          </a:p>
        </p:txBody>
      </p:sp>
    </p:spTree>
    <p:extLst>
      <p:ext uri="{BB962C8B-B14F-4D97-AF65-F5344CB8AC3E}">
        <p14:creationId xmlns:p14="http://schemas.microsoft.com/office/powerpoint/2010/main" val="21453793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B0CAF94-7315-1976-BE52-3824AED3B8E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03F269C-7607-9179-68B9-6E6BA1196DFC}"/>
              </a:ext>
            </a:extLst>
          </p:cNvPr>
          <p:cNvPicPr>
            <a:picLocks noChangeAspect="1"/>
          </p:cNvPicPr>
          <p:nvPr/>
        </p:nvPicPr>
        <p:blipFill>
          <a:blip r:embed="rId3"/>
          <a:stretch>
            <a:fillRect/>
          </a:stretch>
        </p:blipFill>
        <p:spPr>
          <a:xfrm>
            <a:off x="731520" y="1604276"/>
            <a:ext cx="10144743" cy="4878820"/>
          </a:xfrm>
          <a:prstGeom prst="rect">
            <a:avLst/>
          </a:prstGeom>
          <a:ln>
            <a:solidFill>
              <a:schemeClr val="bg1"/>
            </a:solidFill>
          </a:ln>
        </p:spPr>
      </p:pic>
      <p:sp>
        <p:nvSpPr>
          <p:cNvPr id="2" name="Shape 0">
            <a:extLst>
              <a:ext uri="{FF2B5EF4-FFF2-40B4-BE49-F238E27FC236}">
                <a16:creationId xmlns:a16="http://schemas.microsoft.com/office/drawing/2014/main" id="{67714C08-3DAD-D428-1291-A8A94ED98F4B}"/>
              </a:ext>
            </a:extLst>
          </p:cNvPr>
          <p:cNvSpPr/>
          <p:nvPr/>
        </p:nvSpPr>
        <p:spPr>
          <a:xfrm>
            <a:off x="502920" y="548640"/>
            <a:ext cx="82296" cy="603504"/>
          </a:xfrm>
          <a:prstGeom prst="rect">
            <a:avLst/>
          </a:prstGeom>
          <a:solidFill>
            <a:srgbClr val="FE7202"/>
          </a:solidFill>
          <a:ln/>
        </p:spPr>
        <p:txBody>
          <a:bodyPr/>
          <a:lstStyle/>
          <a:p>
            <a:endParaRPr lang="en-US"/>
          </a:p>
        </p:txBody>
      </p:sp>
      <p:sp>
        <p:nvSpPr>
          <p:cNvPr id="3" name="Text 1">
            <a:extLst>
              <a:ext uri="{FF2B5EF4-FFF2-40B4-BE49-F238E27FC236}">
                <a16:creationId xmlns:a16="http://schemas.microsoft.com/office/drawing/2014/main" id="{079FA769-814A-8088-1AB6-704C2BF698D1}"/>
              </a:ext>
            </a:extLst>
          </p:cNvPr>
          <p:cNvSpPr/>
          <p:nvPr/>
        </p:nvSpPr>
        <p:spPr>
          <a:xfrm>
            <a:off x="731520" y="502920"/>
            <a:ext cx="10058400" cy="713232"/>
          </a:xfrm>
          <a:prstGeom prst="rect">
            <a:avLst/>
          </a:prstGeom>
          <a:noFill/>
          <a:ln/>
        </p:spPr>
        <p:txBody>
          <a:bodyPr wrap="square" lIns="0" tIns="0" rIns="0" bIns="0" rtlCol="0" anchor="ctr"/>
          <a:lstStyle/>
          <a:p>
            <a:pPr marL="0" indent="0">
              <a:buNone/>
            </a:pPr>
            <a:r>
              <a:rPr lang="en-US" sz="2900" b="1" dirty="0">
                <a:solidFill>
                  <a:srgbClr val="0F2247"/>
                </a:solidFill>
                <a:latin typeface="Arial" pitchFamily="34" charset="0"/>
                <a:ea typeface="Arial" pitchFamily="34" charset="-122"/>
                <a:cs typeface="Arial" pitchFamily="34" charset="-120"/>
              </a:rPr>
              <a:t>Layer 1: E2E Eval</a:t>
            </a:r>
          </a:p>
        </p:txBody>
      </p:sp>
      <p:sp>
        <p:nvSpPr>
          <p:cNvPr id="4" name="Shape 2">
            <a:extLst>
              <a:ext uri="{FF2B5EF4-FFF2-40B4-BE49-F238E27FC236}">
                <a16:creationId xmlns:a16="http://schemas.microsoft.com/office/drawing/2014/main" id="{FD62455D-7ED3-7DCC-09B1-CFE35415D1DB}"/>
              </a:ext>
            </a:extLst>
          </p:cNvPr>
          <p:cNvSpPr/>
          <p:nvPr/>
        </p:nvSpPr>
        <p:spPr>
          <a:xfrm>
            <a:off x="502920" y="1325880"/>
            <a:ext cx="11183112" cy="27432"/>
          </a:xfrm>
          <a:prstGeom prst="rect">
            <a:avLst/>
          </a:prstGeom>
          <a:solidFill>
            <a:srgbClr val="FE7202"/>
          </a:solidFill>
          <a:ln/>
        </p:spPr>
        <p:txBody>
          <a:bodyPr/>
          <a:lstStyle/>
          <a:p>
            <a:endParaRPr lang="en-US"/>
          </a:p>
        </p:txBody>
      </p:sp>
      <p:sp>
        <p:nvSpPr>
          <p:cNvPr id="11" name="Text 7">
            <a:extLst>
              <a:ext uri="{FF2B5EF4-FFF2-40B4-BE49-F238E27FC236}">
                <a16:creationId xmlns:a16="http://schemas.microsoft.com/office/drawing/2014/main" id="{3637B19B-52EA-C65F-8497-6F15BAA09443}"/>
              </a:ext>
            </a:extLst>
          </p:cNvPr>
          <p:cNvSpPr/>
          <p:nvPr/>
        </p:nvSpPr>
        <p:spPr>
          <a:xfrm>
            <a:off x="0" y="6419088"/>
            <a:ext cx="12191695" cy="320040"/>
          </a:xfrm>
          <a:prstGeom prst="rect">
            <a:avLst/>
          </a:prstGeom>
          <a:noFill/>
          <a:ln/>
        </p:spPr>
        <p:txBody>
          <a:bodyPr wrap="square" lIns="0" tIns="0" rIns="0" bIns="0" rtlCol="0" anchor="ctr"/>
          <a:lstStyle/>
          <a:p>
            <a:pPr marL="0" indent="0" algn="ctr">
              <a:buNone/>
            </a:pPr>
            <a:r>
              <a:rPr lang="en-US" sz="950" kern="0" spc="200">
                <a:solidFill>
                  <a:srgbClr val="8A93A8"/>
                </a:solidFill>
                <a:latin typeface="Arial" pitchFamily="34" charset="0"/>
                <a:ea typeface="Arial" pitchFamily="34" charset="-122"/>
                <a:cs typeface="Arial" pitchFamily="34" charset="-120"/>
              </a:rPr>
              <a:t>D A T A H A C K   S U M M I T   2 0 2 6</a:t>
            </a:r>
            <a:endParaRPr lang="en-US" sz="950"/>
          </a:p>
        </p:txBody>
      </p:sp>
      <p:pic>
        <p:nvPicPr>
          <p:cNvPr id="12" name="Picture 11" descr="preencoded.png">
            <a:extLst>
              <a:ext uri="{FF2B5EF4-FFF2-40B4-BE49-F238E27FC236}">
                <a16:creationId xmlns:a16="http://schemas.microsoft.com/office/drawing/2014/main" id="{F4713CCB-5850-2B02-7936-47DDE49A1F20}"/>
              </a:ext>
            </a:extLst>
          </p:cNvPr>
          <p:cNvPicPr>
            <a:picLocks noChangeAspect="1"/>
          </p:cNvPicPr>
          <p:nvPr/>
        </p:nvPicPr>
        <p:blipFill>
          <a:blip r:embed="rId4"/>
          <a:srcRect b="-176"/>
          <a:stretch>
            <a:fillRect/>
          </a:stretch>
        </p:blipFill>
        <p:spPr>
          <a:xfrm>
            <a:off x="10792419" y="367621"/>
            <a:ext cx="852695" cy="852309"/>
          </a:xfrm>
          <a:prstGeom prst="rect">
            <a:avLst/>
          </a:prstGeom>
        </p:spPr>
      </p:pic>
      <p:sp>
        <p:nvSpPr>
          <p:cNvPr id="13" name="Text 3">
            <a:extLst>
              <a:ext uri="{FF2B5EF4-FFF2-40B4-BE49-F238E27FC236}">
                <a16:creationId xmlns:a16="http://schemas.microsoft.com/office/drawing/2014/main" id="{6878AD52-3C60-B5B6-A267-9D996845392C}"/>
              </a:ext>
            </a:extLst>
          </p:cNvPr>
          <p:cNvSpPr/>
          <p:nvPr/>
        </p:nvSpPr>
        <p:spPr>
          <a:xfrm>
            <a:off x="502920" y="1325880"/>
            <a:ext cx="8686800" cy="411480"/>
          </a:xfrm>
          <a:prstGeom prst="rect">
            <a:avLst/>
          </a:prstGeom>
          <a:noFill/>
          <a:ln/>
        </p:spPr>
        <p:txBody>
          <a:bodyPr wrap="square" lIns="0" tIns="0" rIns="0" bIns="0" rtlCol="0" anchor="ctr"/>
          <a:lstStyle/>
          <a:p>
            <a:pPr marL="0" indent="0">
              <a:buNone/>
            </a:pPr>
            <a:r>
              <a:rPr lang="en-US" sz="1350" i="1" dirty="0">
                <a:solidFill>
                  <a:srgbClr val="8A93A8"/>
                </a:solidFill>
                <a:latin typeface="Calibri" pitchFamily="34" charset="0"/>
                <a:ea typeface="Calibri" pitchFamily="34" charset="-122"/>
                <a:cs typeface="Calibri" pitchFamily="34" charset="-120"/>
              </a:rPr>
              <a:t>A/B Testing &amp; Shadow Deploys</a:t>
            </a:r>
          </a:p>
        </p:txBody>
      </p:sp>
    </p:spTree>
    <p:extLst>
      <p:ext uri="{BB962C8B-B14F-4D97-AF65-F5344CB8AC3E}">
        <p14:creationId xmlns:p14="http://schemas.microsoft.com/office/powerpoint/2010/main" val="40718071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F2087C94-5A7B-88D9-C646-24CF0C9D6F61}"/>
              </a:ext>
            </a:extLst>
          </p:cNvPr>
          <p:cNvPicPr>
            <a:picLocks noChangeAspect="1"/>
          </p:cNvPicPr>
          <p:nvPr/>
        </p:nvPicPr>
        <p:blipFill>
          <a:blip r:embed="rId3"/>
          <a:stretch>
            <a:fillRect/>
          </a:stretch>
        </p:blipFill>
        <p:spPr>
          <a:xfrm>
            <a:off x="234841" y="1474445"/>
            <a:ext cx="6084118" cy="4620692"/>
          </a:xfrm>
          <a:prstGeom prst="rect">
            <a:avLst/>
          </a:prstGeom>
          <a:ln>
            <a:solidFill>
              <a:schemeClr val="bg1"/>
            </a:solidFill>
          </a:ln>
        </p:spPr>
      </p:pic>
      <p:sp>
        <p:nvSpPr>
          <p:cNvPr id="2" name="Shape 0"/>
          <p:cNvSpPr/>
          <p:nvPr/>
        </p:nvSpPr>
        <p:spPr>
          <a:xfrm>
            <a:off x="502920" y="548640"/>
            <a:ext cx="82296" cy="603504"/>
          </a:xfrm>
          <a:prstGeom prst="rect">
            <a:avLst/>
          </a:prstGeom>
          <a:solidFill>
            <a:srgbClr val="FE7202"/>
          </a:solidFill>
          <a:ln/>
        </p:spPr>
        <p:txBody>
          <a:bodyPr/>
          <a:lstStyle/>
          <a:p>
            <a:endParaRPr lang="en-US"/>
          </a:p>
        </p:txBody>
      </p:sp>
      <p:sp>
        <p:nvSpPr>
          <p:cNvPr id="3" name="Text 1"/>
          <p:cNvSpPr/>
          <p:nvPr/>
        </p:nvSpPr>
        <p:spPr>
          <a:xfrm>
            <a:off x="731520" y="502920"/>
            <a:ext cx="10058400" cy="713232"/>
          </a:xfrm>
          <a:prstGeom prst="rect">
            <a:avLst/>
          </a:prstGeom>
          <a:noFill/>
          <a:ln/>
        </p:spPr>
        <p:txBody>
          <a:bodyPr wrap="square" lIns="0" tIns="0" rIns="0" bIns="0" rtlCol="0" anchor="ctr"/>
          <a:lstStyle/>
          <a:p>
            <a:pPr marL="0" indent="0">
              <a:buNone/>
            </a:pPr>
            <a:r>
              <a:rPr lang="en-US" sz="2900" b="1" dirty="0">
                <a:solidFill>
                  <a:srgbClr val="0F2247"/>
                </a:solidFill>
                <a:latin typeface="Arial" pitchFamily="34" charset="0"/>
                <a:ea typeface="Arial" pitchFamily="34" charset="-122"/>
                <a:cs typeface="Arial" pitchFamily="34" charset="-120"/>
              </a:rPr>
              <a:t>Layer 2: Component Level Eval</a:t>
            </a:r>
          </a:p>
        </p:txBody>
      </p:sp>
      <p:sp>
        <p:nvSpPr>
          <p:cNvPr id="4" name="Shape 2"/>
          <p:cNvSpPr/>
          <p:nvPr/>
        </p:nvSpPr>
        <p:spPr>
          <a:xfrm>
            <a:off x="502920" y="1325880"/>
            <a:ext cx="11183112" cy="27432"/>
          </a:xfrm>
          <a:prstGeom prst="rect">
            <a:avLst/>
          </a:prstGeom>
          <a:solidFill>
            <a:srgbClr val="FE7202"/>
          </a:solidFill>
          <a:ln/>
        </p:spPr>
        <p:txBody>
          <a:bodyPr/>
          <a:lstStyle/>
          <a:p>
            <a:endParaRPr lang="en-US"/>
          </a:p>
        </p:txBody>
      </p:sp>
      <p:sp>
        <p:nvSpPr>
          <p:cNvPr id="8" name="Text 5"/>
          <p:cNvSpPr/>
          <p:nvPr/>
        </p:nvSpPr>
        <p:spPr>
          <a:xfrm>
            <a:off x="6355080" y="1645920"/>
            <a:ext cx="5303520" cy="685800"/>
          </a:xfrm>
          <a:prstGeom prst="rect">
            <a:avLst/>
          </a:prstGeom>
          <a:noFill/>
          <a:ln/>
        </p:spPr>
        <p:txBody>
          <a:bodyPr wrap="square" lIns="0" tIns="0" rIns="0" bIns="0" rtlCol="0" anchor="ctr"/>
          <a:lstStyle/>
          <a:p>
            <a:pPr marL="0" indent="0">
              <a:lnSpc>
                <a:spcPct val="105000"/>
              </a:lnSpc>
              <a:buNone/>
            </a:pPr>
            <a:r>
              <a:rPr lang="en-US" sz="2000" b="1" dirty="0">
                <a:solidFill>
                  <a:srgbClr val="0F2247"/>
                </a:solidFill>
                <a:latin typeface="Arial" pitchFamily="34" charset="0"/>
                <a:ea typeface="Arial" pitchFamily="34" charset="-122"/>
                <a:cs typeface="Arial" pitchFamily="34" charset="-120"/>
              </a:rPr>
              <a:t>Isn’t E2E eval enough?</a:t>
            </a:r>
          </a:p>
        </p:txBody>
      </p:sp>
      <p:pic>
        <p:nvPicPr>
          <p:cNvPr id="10" name="Image 1" descr="/home/claude/dhs/assets2/icons/check.png"/>
          <p:cNvPicPr>
            <a:picLocks noChangeAspect="1"/>
          </p:cNvPicPr>
          <p:nvPr/>
        </p:nvPicPr>
        <p:blipFill>
          <a:blip r:embed="rId4"/>
          <a:stretch>
            <a:fillRect/>
          </a:stretch>
        </p:blipFill>
        <p:spPr>
          <a:xfrm>
            <a:off x="6355080" y="2504254"/>
            <a:ext cx="256032" cy="256032"/>
          </a:xfrm>
          <a:prstGeom prst="rect">
            <a:avLst/>
          </a:prstGeom>
        </p:spPr>
      </p:pic>
      <p:sp>
        <p:nvSpPr>
          <p:cNvPr id="11" name="Text 7"/>
          <p:cNvSpPr/>
          <p:nvPr/>
        </p:nvSpPr>
        <p:spPr>
          <a:xfrm>
            <a:off x="6720840" y="2449390"/>
            <a:ext cx="4937760" cy="384048"/>
          </a:xfrm>
          <a:prstGeom prst="rect">
            <a:avLst/>
          </a:prstGeom>
          <a:noFill/>
          <a:ln/>
        </p:spPr>
        <p:txBody>
          <a:bodyPr wrap="square" lIns="0" tIns="0" rIns="0" bIns="0" rtlCol="0" anchor="ctr"/>
          <a:lstStyle/>
          <a:p>
            <a:pPr marL="0" indent="0">
              <a:buNone/>
            </a:pPr>
            <a:r>
              <a:rPr lang="en-US" sz="1350" dirty="0">
                <a:solidFill>
                  <a:srgbClr val="16264A"/>
                </a:solidFill>
                <a:latin typeface="Calibri" pitchFamily="34" charset="0"/>
                <a:ea typeface="Calibri" pitchFamily="34" charset="-122"/>
                <a:cs typeface="Calibri" pitchFamily="34" charset="-120"/>
              </a:rPr>
              <a:t>End-to-end metrics tell us that something failed; component metrics tell us were. </a:t>
            </a:r>
          </a:p>
        </p:txBody>
      </p:sp>
      <p:pic>
        <p:nvPicPr>
          <p:cNvPr id="12" name="Image 2" descr="/home/claude/dhs/assets2/icons/check.png"/>
          <p:cNvPicPr>
            <a:picLocks noChangeAspect="1"/>
          </p:cNvPicPr>
          <p:nvPr/>
        </p:nvPicPr>
        <p:blipFill>
          <a:blip r:embed="rId4"/>
          <a:stretch>
            <a:fillRect/>
          </a:stretch>
        </p:blipFill>
        <p:spPr>
          <a:xfrm>
            <a:off x="6355080" y="3016318"/>
            <a:ext cx="256032" cy="256032"/>
          </a:xfrm>
          <a:prstGeom prst="rect">
            <a:avLst/>
          </a:prstGeom>
        </p:spPr>
      </p:pic>
      <p:sp>
        <p:nvSpPr>
          <p:cNvPr id="13" name="Text 8"/>
          <p:cNvSpPr/>
          <p:nvPr/>
        </p:nvSpPr>
        <p:spPr>
          <a:xfrm>
            <a:off x="6720840" y="2961454"/>
            <a:ext cx="4937760" cy="384048"/>
          </a:xfrm>
          <a:prstGeom prst="rect">
            <a:avLst/>
          </a:prstGeom>
          <a:noFill/>
          <a:ln/>
        </p:spPr>
        <p:txBody>
          <a:bodyPr wrap="square" lIns="0" tIns="0" rIns="0" bIns="0" rtlCol="0" anchor="ctr"/>
          <a:lstStyle/>
          <a:p>
            <a:pPr marL="0" indent="0">
              <a:buNone/>
            </a:pPr>
            <a:r>
              <a:rPr lang="en-US" sz="1350" dirty="0">
                <a:solidFill>
                  <a:srgbClr val="16264A"/>
                </a:solidFill>
                <a:latin typeface="Calibri" pitchFamily="34" charset="0"/>
                <a:ea typeface="Calibri" pitchFamily="34" charset="-122"/>
                <a:cs typeface="Calibri" pitchFamily="34" charset="-120"/>
              </a:rPr>
              <a:t>Without Layer 2, debugging an agent failure is an uphill task </a:t>
            </a:r>
          </a:p>
        </p:txBody>
      </p:sp>
      <p:pic>
        <p:nvPicPr>
          <p:cNvPr id="14" name="Image 3" descr="/home/claude/dhs/assets2/icons/check.png"/>
          <p:cNvPicPr>
            <a:picLocks noChangeAspect="1"/>
          </p:cNvPicPr>
          <p:nvPr/>
        </p:nvPicPr>
        <p:blipFill>
          <a:blip r:embed="rId4"/>
          <a:stretch>
            <a:fillRect/>
          </a:stretch>
        </p:blipFill>
        <p:spPr>
          <a:xfrm>
            <a:off x="6355080" y="3528382"/>
            <a:ext cx="256032" cy="256032"/>
          </a:xfrm>
          <a:prstGeom prst="rect">
            <a:avLst/>
          </a:prstGeom>
        </p:spPr>
      </p:pic>
      <p:sp>
        <p:nvSpPr>
          <p:cNvPr id="15" name="Text 9"/>
          <p:cNvSpPr/>
          <p:nvPr/>
        </p:nvSpPr>
        <p:spPr>
          <a:xfrm>
            <a:off x="6720840" y="3473518"/>
            <a:ext cx="4937760" cy="384048"/>
          </a:xfrm>
          <a:prstGeom prst="rect">
            <a:avLst/>
          </a:prstGeom>
          <a:noFill/>
          <a:ln/>
        </p:spPr>
        <p:txBody>
          <a:bodyPr wrap="square" lIns="0" tIns="0" rIns="0" bIns="0" rtlCol="0" anchor="ctr"/>
          <a:lstStyle/>
          <a:p>
            <a:pPr marL="0" indent="0">
              <a:buNone/>
            </a:pPr>
            <a:r>
              <a:rPr lang="en-US" sz="1350" dirty="0">
                <a:solidFill>
                  <a:srgbClr val="16264A"/>
                </a:solidFill>
                <a:latin typeface="Calibri" pitchFamily="34" charset="0"/>
                <a:ea typeface="Calibri" pitchFamily="34" charset="-122"/>
                <a:cs typeface="Calibri" pitchFamily="34" charset="-120"/>
              </a:rPr>
              <a:t>Teams spend hours staring at a trace trying to figure out whether the problem was a bad plan, a wrong tool, or a wrong argument.</a:t>
            </a:r>
          </a:p>
        </p:txBody>
      </p:sp>
      <p:sp>
        <p:nvSpPr>
          <p:cNvPr id="19" name="Text 11"/>
          <p:cNvSpPr/>
          <p:nvPr/>
        </p:nvSpPr>
        <p:spPr>
          <a:xfrm>
            <a:off x="0" y="6419088"/>
            <a:ext cx="12191695" cy="320040"/>
          </a:xfrm>
          <a:prstGeom prst="rect">
            <a:avLst/>
          </a:prstGeom>
          <a:noFill/>
          <a:ln/>
        </p:spPr>
        <p:txBody>
          <a:bodyPr wrap="square" lIns="0" tIns="0" rIns="0" bIns="0" rtlCol="0" anchor="ctr"/>
          <a:lstStyle/>
          <a:p>
            <a:pPr marL="0" indent="0" algn="ctr">
              <a:buNone/>
            </a:pPr>
            <a:r>
              <a:rPr lang="en-US" sz="950" kern="0" spc="200">
                <a:solidFill>
                  <a:srgbClr val="8A93A8"/>
                </a:solidFill>
                <a:latin typeface="Arial" pitchFamily="34" charset="0"/>
                <a:ea typeface="Arial" pitchFamily="34" charset="-122"/>
                <a:cs typeface="Arial" pitchFamily="34" charset="-120"/>
              </a:rPr>
              <a:t>D A T A H A C K   S U M M I T   2 0 2 6</a:t>
            </a:r>
            <a:endParaRPr lang="en-US" sz="950"/>
          </a:p>
        </p:txBody>
      </p:sp>
      <p:pic>
        <p:nvPicPr>
          <p:cNvPr id="20" name="Picture 19" descr="preencoded.png">
            <a:extLst>
              <a:ext uri="{FF2B5EF4-FFF2-40B4-BE49-F238E27FC236}">
                <a16:creationId xmlns:a16="http://schemas.microsoft.com/office/drawing/2014/main" id="{8772056E-CEB3-D1AE-6154-FCD1CDCF6E07}"/>
              </a:ext>
            </a:extLst>
          </p:cNvPr>
          <p:cNvPicPr>
            <a:picLocks noChangeAspect="1"/>
          </p:cNvPicPr>
          <p:nvPr/>
        </p:nvPicPr>
        <p:blipFill>
          <a:blip r:embed="rId5"/>
          <a:srcRect b="-176"/>
          <a:stretch>
            <a:fillRect/>
          </a:stretch>
        </p:blipFill>
        <p:spPr>
          <a:xfrm>
            <a:off x="10792419" y="367621"/>
            <a:ext cx="852695" cy="85230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55AA604-C84B-30B4-2AE2-F3609A41663E}"/>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FFD2A173-6183-3DCB-84AE-F7EE206E038A}"/>
              </a:ext>
            </a:extLst>
          </p:cNvPr>
          <p:cNvPicPr>
            <a:picLocks noChangeAspect="1"/>
          </p:cNvPicPr>
          <p:nvPr/>
        </p:nvPicPr>
        <p:blipFill>
          <a:blip r:embed="rId3"/>
          <a:stretch>
            <a:fillRect/>
          </a:stretch>
        </p:blipFill>
        <p:spPr>
          <a:xfrm>
            <a:off x="5552723" y="1518338"/>
            <a:ext cx="6259386" cy="4753802"/>
          </a:xfrm>
          <a:prstGeom prst="rect">
            <a:avLst/>
          </a:prstGeom>
          <a:ln>
            <a:solidFill>
              <a:schemeClr val="bg2"/>
            </a:solidFill>
          </a:ln>
        </p:spPr>
      </p:pic>
      <p:sp>
        <p:nvSpPr>
          <p:cNvPr id="2" name="Shape 0">
            <a:extLst>
              <a:ext uri="{FF2B5EF4-FFF2-40B4-BE49-F238E27FC236}">
                <a16:creationId xmlns:a16="http://schemas.microsoft.com/office/drawing/2014/main" id="{2CCEDE02-952E-1583-F844-6858C7A2B611}"/>
              </a:ext>
            </a:extLst>
          </p:cNvPr>
          <p:cNvSpPr/>
          <p:nvPr/>
        </p:nvSpPr>
        <p:spPr>
          <a:xfrm>
            <a:off x="502920" y="548640"/>
            <a:ext cx="82296" cy="603504"/>
          </a:xfrm>
          <a:prstGeom prst="rect">
            <a:avLst/>
          </a:prstGeom>
          <a:solidFill>
            <a:srgbClr val="FE7202"/>
          </a:solidFill>
          <a:ln/>
        </p:spPr>
        <p:txBody>
          <a:bodyPr/>
          <a:lstStyle/>
          <a:p>
            <a:endParaRPr lang="en-US"/>
          </a:p>
        </p:txBody>
      </p:sp>
      <p:sp>
        <p:nvSpPr>
          <p:cNvPr id="3" name="Text 1">
            <a:extLst>
              <a:ext uri="{FF2B5EF4-FFF2-40B4-BE49-F238E27FC236}">
                <a16:creationId xmlns:a16="http://schemas.microsoft.com/office/drawing/2014/main" id="{81D284ED-1DC1-FB00-437E-0363F65D6722}"/>
              </a:ext>
            </a:extLst>
          </p:cNvPr>
          <p:cNvSpPr/>
          <p:nvPr/>
        </p:nvSpPr>
        <p:spPr>
          <a:xfrm>
            <a:off x="731520" y="502920"/>
            <a:ext cx="10058400" cy="713232"/>
          </a:xfrm>
          <a:prstGeom prst="rect">
            <a:avLst/>
          </a:prstGeom>
          <a:noFill/>
          <a:ln/>
        </p:spPr>
        <p:txBody>
          <a:bodyPr wrap="square" lIns="0" tIns="0" rIns="0" bIns="0" rtlCol="0" anchor="ctr"/>
          <a:lstStyle/>
          <a:p>
            <a:pPr marL="0" indent="0">
              <a:buNone/>
            </a:pPr>
            <a:r>
              <a:rPr lang="en-US" sz="2900" b="1" dirty="0">
                <a:solidFill>
                  <a:srgbClr val="0F2247"/>
                </a:solidFill>
                <a:latin typeface="Arial" pitchFamily="34" charset="0"/>
                <a:ea typeface="Arial" pitchFamily="34" charset="-122"/>
                <a:cs typeface="Arial" pitchFamily="34" charset="-120"/>
              </a:rPr>
              <a:t>Layer 2: Component Level Eval</a:t>
            </a:r>
          </a:p>
        </p:txBody>
      </p:sp>
      <p:sp>
        <p:nvSpPr>
          <p:cNvPr id="4" name="Shape 2">
            <a:extLst>
              <a:ext uri="{FF2B5EF4-FFF2-40B4-BE49-F238E27FC236}">
                <a16:creationId xmlns:a16="http://schemas.microsoft.com/office/drawing/2014/main" id="{88BDBD70-A1DE-CD9A-8ED6-C58BFD6DA222}"/>
              </a:ext>
            </a:extLst>
          </p:cNvPr>
          <p:cNvSpPr/>
          <p:nvPr/>
        </p:nvSpPr>
        <p:spPr>
          <a:xfrm>
            <a:off x="502920" y="1325880"/>
            <a:ext cx="11183112" cy="27432"/>
          </a:xfrm>
          <a:prstGeom prst="rect">
            <a:avLst/>
          </a:prstGeom>
          <a:solidFill>
            <a:srgbClr val="FE7202"/>
          </a:solidFill>
          <a:ln/>
        </p:spPr>
        <p:txBody>
          <a:bodyPr/>
          <a:lstStyle/>
          <a:p>
            <a:endParaRPr lang="en-US"/>
          </a:p>
        </p:txBody>
      </p:sp>
      <p:sp>
        <p:nvSpPr>
          <p:cNvPr id="5" name="Text 3">
            <a:extLst>
              <a:ext uri="{FF2B5EF4-FFF2-40B4-BE49-F238E27FC236}">
                <a16:creationId xmlns:a16="http://schemas.microsoft.com/office/drawing/2014/main" id="{32953808-4E11-8F79-627A-3EAA861A4B7F}"/>
              </a:ext>
            </a:extLst>
          </p:cNvPr>
          <p:cNvSpPr/>
          <p:nvPr/>
        </p:nvSpPr>
        <p:spPr>
          <a:xfrm>
            <a:off x="512064" y="1417320"/>
            <a:ext cx="8686800" cy="411480"/>
          </a:xfrm>
          <a:prstGeom prst="rect">
            <a:avLst/>
          </a:prstGeom>
          <a:noFill/>
          <a:ln/>
        </p:spPr>
        <p:txBody>
          <a:bodyPr wrap="square" lIns="0" tIns="0" rIns="0" bIns="0" rtlCol="0" anchor="ctr"/>
          <a:lstStyle/>
          <a:p>
            <a:pPr marL="0" indent="0">
              <a:buNone/>
            </a:pPr>
            <a:r>
              <a:rPr lang="en-US" sz="1350" i="1" dirty="0">
                <a:solidFill>
                  <a:srgbClr val="8A93A8"/>
                </a:solidFill>
                <a:latin typeface="Calibri" pitchFamily="34" charset="0"/>
                <a:ea typeface="Calibri" pitchFamily="34" charset="-122"/>
                <a:cs typeface="Calibri" pitchFamily="34" charset="-120"/>
              </a:rPr>
              <a:t>Why is it important?</a:t>
            </a:r>
          </a:p>
        </p:txBody>
      </p:sp>
      <p:sp>
        <p:nvSpPr>
          <p:cNvPr id="6" name="Shape 4">
            <a:extLst>
              <a:ext uri="{FF2B5EF4-FFF2-40B4-BE49-F238E27FC236}">
                <a16:creationId xmlns:a16="http://schemas.microsoft.com/office/drawing/2014/main" id="{46698462-CF52-0C2C-16A5-477E98D48188}"/>
              </a:ext>
            </a:extLst>
          </p:cNvPr>
          <p:cNvSpPr/>
          <p:nvPr/>
        </p:nvSpPr>
        <p:spPr>
          <a:xfrm>
            <a:off x="566928" y="2038468"/>
            <a:ext cx="146304" cy="146304"/>
          </a:xfrm>
          <a:prstGeom prst="ellipse">
            <a:avLst/>
          </a:prstGeom>
          <a:solidFill>
            <a:srgbClr val="1FB6A6"/>
          </a:solidFill>
          <a:ln/>
        </p:spPr>
        <p:txBody>
          <a:bodyPr/>
          <a:lstStyle/>
          <a:p>
            <a:endParaRPr lang="en-US"/>
          </a:p>
        </p:txBody>
      </p:sp>
      <p:sp>
        <p:nvSpPr>
          <p:cNvPr id="7" name="Text 5">
            <a:extLst>
              <a:ext uri="{FF2B5EF4-FFF2-40B4-BE49-F238E27FC236}">
                <a16:creationId xmlns:a16="http://schemas.microsoft.com/office/drawing/2014/main" id="{CC1879A5-1909-05E3-8AF1-CEBBF5A206A7}"/>
              </a:ext>
            </a:extLst>
          </p:cNvPr>
          <p:cNvSpPr/>
          <p:nvPr/>
        </p:nvSpPr>
        <p:spPr>
          <a:xfrm>
            <a:off x="914400" y="1919596"/>
            <a:ext cx="7406640" cy="868680"/>
          </a:xfrm>
          <a:prstGeom prst="rect">
            <a:avLst/>
          </a:prstGeom>
          <a:noFill/>
          <a:ln/>
        </p:spPr>
        <p:txBody>
          <a:bodyPr wrap="square" lIns="0" tIns="0" rIns="0" bIns="0" rtlCol="0" anchor="t"/>
          <a:lstStyle/>
          <a:p>
            <a:pPr marL="0" indent="0">
              <a:lnSpc>
                <a:spcPct val="112000"/>
              </a:lnSpc>
              <a:buNone/>
            </a:pPr>
            <a:r>
              <a:rPr lang="en-US" sz="1600" b="1" dirty="0">
                <a:solidFill>
                  <a:srgbClr val="0F2247"/>
                </a:solidFill>
                <a:latin typeface="Calibri" pitchFamily="34" charset="0"/>
                <a:ea typeface="Calibri" pitchFamily="34" charset="-122"/>
                <a:cs typeface="Calibri" pitchFamily="34" charset="-120"/>
              </a:rPr>
              <a:t>Debugging:
</a:t>
            </a:r>
            <a:r>
              <a:rPr lang="en-US" sz="1300" dirty="0">
                <a:solidFill>
                  <a:srgbClr val="3A4866"/>
                </a:solidFill>
                <a:latin typeface="Calibri" pitchFamily="34" charset="0"/>
                <a:ea typeface="Calibri" pitchFamily="34" charset="-122"/>
                <a:cs typeface="Calibri" pitchFamily="34" charset="-120"/>
              </a:rPr>
              <a:t>Identify where and why the agent failed</a:t>
            </a:r>
          </a:p>
        </p:txBody>
      </p:sp>
      <p:sp>
        <p:nvSpPr>
          <p:cNvPr id="8" name="Shape 6">
            <a:extLst>
              <a:ext uri="{FF2B5EF4-FFF2-40B4-BE49-F238E27FC236}">
                <a16:creationId xmlns:a16="http://schemas.microsoft.com/office/drawing/2014/main" id="{8032F653-B2EC-A653-C36F-53A70938C7F3}"/>
              </a:ext>
            </a:extLst>
          </p:cNvPr>
          <p:cNvSpPr/>
          <p:nvPr/>
        </p:nvSpPr>
        <p:spPr>
          <a:xfrm>
            <a:off x="566928" y="2989444"/>
            <a:ext cx="146304" cy="146304"/>
          </a:xfrm>
          <a:prstGeom prst="ellipse">
            <a:avLst/>
          </a:prstGeom>
          <a:solidFill>
            <a:srgbClr val="2D7FF9"/>
          </a:solidFill>
          <a:ln/>
        </p:spPr>
        <p:txBody>
          <a:bodyPr/>
          <a:lstStyle/>
          <a:p>
            <a:endParaRPr lang="en-US"/>
          </a:p>
        </p:txBody>
      </p:sp>
      <p:sp>
        <p:nvSpPr>
          <p:cNvPr id="9" name="Text 7">
            <a:extLst>
              <a:ext uri="{FF2B5EF4-FFF2-40B4-BE49-F238E27FC236}">
                <a16:creationId xmlns:a16="http://schemas.microsoft.com/office/drawing/2014/main" id="{ABDFFEE6-032F-670A-EB52-EA71BAFAE509}"/>
              </a:ext>
            </a:extLst>
          </p:cNvPr>
          <p:cNvSpPr/>
          <p:nvPr/>
        </p:nvSpPr>
        <p:spPr>
          <a:xfrm>
            <a:off x="914400" y="2870572"/>
            <a:ext cx="7406640" cy="868680"/>
          </a:xfrm>
          <a:prstGeom prst="rect">
            <a:avLst/>
          </a:prstGeom>
          <a:noFill/>
          <a:ln/>
        </p:spPr>
        <p:txBody>
          <a:bodyPr wrap="square" lIns="0" tIns="0" rIns="0" bIns="0" rtlCol="0" anchor="t"/>
          <a:lstStyle/>
          <a:p>
            <a:pPr marL="0" indent="0">
              <a:lnSpc>
                <a:spcPct val="112000"/>
              </a:lnSpc>
              <a:buNone/>
            </a:pPr>
            <a:r>
              <a:rPr lang="en-US" sz="1600" b="1" dirty="0">
                <a:solidFill>
                  <a:srgbClr val="0F2247"/>
                </a:solidFill>
                <a:latin typeface="Calibri" pitchFamily="34" charset="0"/>
                <a:ea typeface="Calibri" pitchFamily="34" charset="-122"/>
                <a:cs typeface="Calibri" pitchFamily="34" charset="-120"/>
              </a:rPr>
              <a:t>Observability:</a:t>
            </a:r>
            <a:br>
              <a:rPr lang="en-US" sz="1600" b="1" dirty="0">
                <a:solidFill>
                  <a:srgbClr val="0F2247"/>
                </a:solidFill>
                <a:latin typeface="Calibri" pitchFamily="34" charset="0"/>
                <a:ea typeface="Calibri" pitchFamily="34" charset="-122"/>
                <a:cs typeface="Calibri" pitchFamily="34" charset="-120"/>
              </a:rPr>
            </a:br>
            <a:r>
              <a:rPr lang="en-US" sz="1300" dirty="0">
                <a:solidFill>
                  <a:srgbClr val="3A4866"/>
                </a:solidFill>
                <a:latin typeface="Calibri" pitchFamily="34" charset="0"/>
                <a:ea typeface="Calibri" pitchFamily="34" charset="-122"/>
                <a:cs typeface="Calibri" pitchFamily="34" charset="-120"/>
              </a:rPr>
              <a:t>Understand reasoning, tool usage, latency, and cost</a:t>
            </a:r>
          </a:p>
        </p:txBody>
      </p:sp>
      <p:sp>
        <p:nvSpPr>
          <p:cNvPr id="10" name="Shape 8">
            <a:extLst>
              <a:ext uri="{FF2B5EF4-FFF2-40B4-BE49-F238E27FC236}">
                <a16:creationId xmlns:a16="http://schemas.microsoft.com/office/drawing/2014/main" id="{97D44589-98E0-2686-FAE2-6DA52820088B}"/>
              </a:ext>
            </a:extLst>
          </p:cNvPr>
          <p:cNvSpPr/>
          <p:nvPr/>
        </p:nvSpPr>
        <p:spPr>
          <a:xfrm>
            <a:off x="566928" y="3940420"/>
            <a:ext cx="146304" cy="146304"/>
          </a:xfrm>
          <a:prstGeom prst="ellipse">
            <a:avLst/>
          </a:prstGeom>
          <a:solidFill>
            <a:srgbClr val="1FB6A6"/>
          </a:solidFill>
          <a:ln/>
        </p:spPr>
        <p:txBody>
          <a:bodyPr/>
          <a:lstStyle/>
          <a:p>
            <a:endParaRPr lang="en-US"/>
          </a:p>
        </p:txBody>
      </p:sp>
      <p:sp>
        <p:nvSpPr>
          <p:cNvPr id="11" name="Text 9">
            <a:extLst>
              <a:ext uri="{FF2B5EF4-FFF2-40B4-BE49-F238E27FC236}">
                <a16:creationId xmlns:a16="http://schemas.microsoft.com/office/drawing/2014/main" id="{8F2B224B-3242-B572-DD15-5B6F4A22709E}"/>
              </a:ext>
            </a:extLst>
          </p:cNvPr>
          <p:cNvSpPr/>
          <p:nvPr/>
        </p:nvSpPr>
        <p:spPr>
          <a:xfrm>
            <a:off x="914400" y="3821548"/>
            <a:ext cx="7406640" cy="868680"/>
          </a:xfrm>
          <a:prstGeom prst="rect">
            <a:avLst/>
          </a:prstGeom>
          <a:noFill/>
          <a:ln/>
        </p:spPr>
        <p:txBody>
          <a:bodyPr wrap="square" lIns="0" tIns="0" rIns="0" bIns="0" rtlCol="0" anchor="t"/>
          <a:lstStyle/>
          <a:p>
            <a:pPr marL="0" indent="0">
              <a:lnSpc>
                <a:spcPct val="112000"/>
              </a:lnSpc>
              <a:buNone/>
            </a:pPr>
            <a:r>
              <a:rPr lang="en-US" sz="1600" b="1" dirty="0">
                <a:solidFill>
                  <a:srgbClr val="0F2247"/>
                </a:solidFill>
                <a:latin typeface="Calibri" pitchFamily="34" charset="0"/>
                <a:ea typeface="Calibri" pitchFamily="34" charset="-122"/>
                <a:cs typeface="Calibri" pitchFamily="34" charset="-120"/>
              </a:rPr>
              <a:t>Optimization: 
</a:t>
            </a:r>
            <a:r>
              <a:rPr lang="en-US" sz="1300" dirty="0">
                <a:solidFill>
                  <a:srgbClr val="3A4866"/>
                </a:solidFill>
                <a:latin typeface="Calibri" pitchFamily="34" charset="0"/>
                <a:ea typeface="Calibri" pitchFamily="34" charset="-122"/>
                <a:cs typeface="Calibri" pitchFamily="34" charset="-120"/>
              </a:rPr>
              <a:t>Detect redundant calls, inefficient planning, and context bloating</a:t>
            </a:r>
          </a:p>
        </p:txBody>
      </p:sp>
      <p:sp>
        <p:nvSpPr>
          <p:cNvPr id="12" name="Shape 10">
            <a:extLst>
              <a:ext uri="{FF2B5EF4-FFF2-40B4-BE49-F238E27FC236}">
                <a16:creationId xmlns:a16="http://schemas.microsoft.com/office/drawing/2014/main" id="{EBE1F054-0214-E4BC-9516-43768B27F245}"/>
              </a:ext>
            </a:extLst>
          </p:cNvPr>
          <p:cNvSpPr/>
          <p:nvPr/>
        </p:nvSpPr>
        <p:spPr>
          <a:xfrm>
            <a:off x="566928" y="4891396"/>
            <a:ext cx="146304" cy="146304"/>
          </a:xfrm>
          <a:prstGeom prst="ellipse">
            <a:avLst/>
          </a:prstGeom>
          <a:solidFill>
            <a:srgbClr val="2D7FF9"/>
          </a:solidFill>
          <a:ln/>
        </p:spPr>
        <p:txBody>
          <a:bodyPr/>
          <a:lstStyle/>
          <a:p>
            <a:endParaRPr lang="en-US"/>
          </a:p>
        </p:txBody>
      </p:sp>
      <p:sp>
        <p:nvSpPr>
          <p:cNvPr id="13" name="Text 11">
            <a:extLst>
              <a:ext uri="{FF2B5EF4-FFF2-40B4-BE49-F238E27FC236}">
                <a16:creationId xmlns:a16="http://schemas.microsoft.com/office/drawing/2014/main" id="{48933D3B-9D95-C3D9-3CD7-87DE49635B13}"/>
              </a:ext>
            </a:extLst>
          </p:cNvPr>
          <p:cNvSpPr/>
          <p:nvPr/>
        </p:nvSpPr>
        <p:spPr>
          <a:xfrm>
            <a:off x="914400" y="4772524"/>
            <a:ext cx="7406640" cy="868680"/>
          </a:xfrm>
          <a:prstGeom prst="rect">
            <a:avLst/>
          </a:prstGeom>
          <a:noFill/>
          <a:ln/>
        </p:spPr>
        <p:txBody>
          <a:bodyPr wrap="square" lIns="0" tIns="0" rIns="0" bIns="0" rtlCol="0" anchor="t"/>
          <a:lstStyle/>
          <a:p>
            <a:pPr marL="0" indent="0">
              <a:lnSpc>
                <a:spcPct val="112000"/>
              </a:lnSpc>
              <a:buNone/>
            </a:pPr>
            <a:r>
              <a:rPr lang="en-US" sz="1600" b="1" dirty="0">
                <a:solidFill>
                  <a:srgbClr val="0F2247"/>
                </a:solidFill>
                <a:latin typeface="Calibri" pitchFamily="34" charset="0"/>
                <a:ea typeface="Calibri" pitchFamily="34" charset="-122"/>
                <a:cs typeface="Calibri" pitchFamily="34" charset="-120"/>
              </a:rPr>
              <a:t>Evaluation:
</a:t>
            </a:r>
            <a:r>
              <a:rPr lang="en-US" sz="1300" dirty="0">
                <a:solidFill>
                  <a:srgbClr val="3A4866"/>
                </a:solidFill>
                <a:latin typeface="Calibri" pitchFamily="34" charset="0"/>
                <a:ea typeface="Calibri" pitchFamily="34" charset="-122"/>
                <a:cs typeface="Calibri" pitchFamily="34" charset="-120"/>
              </a:rPr>
              <a:t>Correlate agent behavior with task success/failure</a:t>
            </a:r>
          </a:p>
        </p:txBody>
      </p:sp>
      <p:sp>
        <p:nvSpPr>
          <p:cNvPr id="21" name="Text 18">
            <a:extLst>
              <a:ext uri="{FF2B5EF4-FFF2-40B4-BE49-F238E27FC236}">
                <a16:creationId xmlns:a16="http://schemas.microsoft.com/office/drawing/2014/main" id="{F336E42F-0011-2BFC-786C-7AEFCF2543A1}"/>
              </a:ext>
            </a:extLst>
          </p:cNvPr>
          <p:cNvSpPr/>
          <p:nvPr/>
        </p:nvSpPr>
        <p:spPr>
          <a:xfrm>
            <a:off x="0" y="6419088"/>
            <a:ext cx="12191695" cy="320040"/>
          </a:xfrm>
          <a:prstGeom prst="rect">
            <a:avLst/>
          </a:prstGeom>
          <a:noFill/>
          <a:ln/>
        </p:spPr>
        <p:txBody>
          <a:bodyPr wrap="square" lIns="0" tIns="0" rIns="0" bIns="0" rtlCol="0" anchor="ctr"/>
          <a:lstStyle/>
          <a:p>
            <a:pPr marL="0" indent="0" algn="ctr">
              <a:buNone/>
            </a:pPr>
            <a:r>
              <a:rPr lang="en-US" sz="950" kern="0" spc="200">
                <a:solidFill>
                  <a:srgbClr val="8A93A8"/>
                </a:solidFill>
                <a:latin typeface="Arial" pitchFamily="34" charset="0"/>
                <a:ea typeface="Arial" pitchFamily="34" charset="-122"/>
                <a:cs typeface="Arial" pitchFamily="34" charset="-120"/>
              </a:rPr>
              <a:t>D A T A H A C K   S U M M I T   2 0 2 6</a:t>
            </a:r>
            <a:endParaRPr lang="en-US" sz="950"/>
          </a:p>
        </p:txBody>
      </p:sp>
      <p:pic>
        <p:nvPicPr>
          <p:cNvPr id="23" name="Picture 22" descr="preencoded.png">
            <a:extLst>
              <a:ext uri="{FF2B5EF4-FFF2-40B4-BE49-F238E27FC236}">
                <a16:creationId xmlns:a16="http://schemas.microsoft.com/office/drawing/2014/main" id="{88170CD9-97B1-EC4D-0189-810C707D05C8}"/>
              </a:ext>
            </a:extLst>
          </p:cNvPr>
          <p:cNvPicPr>
            <a:picLocks noChangeAspect="1"/>
          </p:cNvPicPr>
          <p:nvPr/>
        </p:nvPicPr>
        <p:blipFill>
          <a:blip r:embed="rId4"/>
          <a:srcRect b="-176"/>
          <a:stretch>
            <a:fillRect/>
          </a:stretch>
        </p:blipFill>
        <p:spPr>
          <a:xfrm>
            <a:off x="10792419" y="367621"/>
            <a:ext cx="852695" cy="852309"/>
          </a:xfrm>
          <a:prstGeom prst="rect">
            <a:avLst/>
          </a:prstGeom>
        </p:spPr>
      </p:pic>
      <p:sp>
        <p:nvSpPr>
          <p:cNvPr id="20" name="Shape 8">
            <a:extLst>
              <a:ext uri="{FF2B5EF4-FFF2-40B4-BE49-F238E27FC236}">
                <a16:creationId xmlns:a16="http://schemas.microsoft.com/office/drawing/2014/main" id="{8809CA4D-ACB1-237A-17D6-21EABFE07D54}"/>
              </a:ext>
            </a:extLst>
          </p:cNvPr>
          <p:cNvSpPr/>
          <p:nvPr/>
        </p:nvSpPr>
        <p:spPr>
          <a:xfrm>
            <a:off x="566928" y="5842372"/>
            <a:ext cx="146304" cy="146304"/>
          </a:xfrm>
          <a:prstGeom prst="ellipse">
            <a:avLst/>
          </a:prstGeom>
          <a:solidFill>
            <a:srgbClr val="1FB6A6"/>
          </a:solidFill>
          <a:ln/>
        </p:spPr>
        <p:txBody>
          <a:bodyPr/>
          <a:lstStyle/>
          <a:p>
            <a:endParaRPr lang="en-US"/>
          </a:p>
        </p:txBody>
      </p:sp>
      <p:sp>
        <p:nvSpPr>
          <p:cNvPr id="22" name="Text 9">
            <a:extLst>
              <a:ext uri="{FF2B5EF4-FFF2-40B4-BE49-F238E27FC236}">
                <a16:creationId xmlns:a16="http://schemas.microsoft.com/office/drawing/2014/main" id="{85CFA959-88AF-9A8C-6513-03095F2ED8AB}"/>
              </a:ext>
            </a:extLst>
          </p:cNvPr>
          <p:cNvSpPr/>
          <p:nvPr/>
        </p:nvSpPr>
        <p:spPr>
          <a:xfrm>
            <a:off x="914400" y="5723500"/>
            <a:ext cx="7406640" cy="868680"/>
          </a:xfrm>
          <a:prstGeom prst="rect">
            <a:avLst/>
          </a:prstGeom>
          <a:noFill/>
          <a:ln/>
        </p:spPr>
        <p:txBody>
          <a:bodyPr wrap="square" lIns="0" tIns="0" rIns="0" bIns="0" rtlCol="0" anchor="t"/>
          <a:lstStyle/>
          <a:p>
            <a:pPr marL="0" indent="0">
              <a:lnSpc>
                <a:spcPct val="112000"/>
              </a:lnSpc>
              <a:buNone/>
            </a:pPr>
            <a:r>
              <a:rPr lang="en-US" sz="1600" b="1" dirty="0">
                <a:solidFill>
                  <a:srgbClr val="0F2247"/>
                </a:solidFill>
                <a:latin typeface="Calibri" pitchFamily="34" charset="0"/>
                <a:ea typeface="Calibri" pitchFamily="34" charset="-122"/>
                <a:cs typeface="Calibri" pitchFamily="34" charset="-120"/>
              </a:rPr>
              <a:t>Production Reliability:</a:t>
            </a:r>
            <a:br>
              <a:rPr lang="en-US" sz="1600" b="1" dirty="0">
                <a:solidFill>
                  <a:srgbClr val="0F2247"/>
                </a:solidFill>
                <a:latin typeface="Calibri" pitchFamily="34" charset="0"/>
                <a:ea typeface="Calibri" pitchFamily="34" charset="-122"/>
                <a:cs typeface="Calibri" pitchFamily="34" charset="-120"/>
              </a:rPr>
            </a:br>
            <a:r>
              <a:rPr lang="en-US" sz="1300" dirty="0">
                <a:solidFill>
                  <a:srgbClr val="3A4866"/>
                </a:solidFill>
                <a:latin typeface="Calibri" pitchFamily="34" charset="0"/>
                <a:ea typeface="Calibri" pitchFamily="34" charset="-122"/>
                <a:cs typeface="Calibri" pitchFamily="34" charset="-120"/>
              </a:rPr>
              <a:t>Enable proactive monitoring and retrospective analysis</a:t>
            </a:r>
          </a:p>
        </p:txBody>
      </p:sp>
    </p:spTree>
    <p:extLst>
      <p:ext uri="{BB962C8B-B14F-4D97-AF65-F5344CB8AC3E}">
        <p14:creationId xmlns:p14="http://schemas.microsoft.com/office/powerpoint/2010/main" val="31638000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5A99773-9050-2061-017E-A3C2600DF7F4}"/>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9C2BCC4-5CE5-4CB5-CD8F-8443C90AC083}"/>
              </a:ext>
            </a:extLst>
          </p:cNvPr>
          <p:cNvPicPr>
            <a:picLocks noChangeAspect="1"/>
          </p:cNvPicPr>
          <p:nvPr/>
        </p:nvPicPr>
        <p:blipFill>
          <a:blip r:embed="rId3"/>
          <a:stretch>
            <a:fillRect/>
          </a:stretch>
        </p:blipFill>
        <p:spPr>
          <a:xfrm>
            <a:off x="502920" y="1585836"/>
            <a:ext cx="11025793" cy="5022782"/>
          </a:xfrm>
          <a:prstGeom prst="rect">
            <a:avLst/>
          </a:prstGeom>
        </p:spPr>
      </p:pic>
      <p:sp>
        <p:nvSpPr>
          <p:cNvPr id="2" name="Shape 0">
            <a:extLst>
              <a:ext uri="{FF2B5EF4-FFF2-40B4-BE49-F238E27FC236}">
                <a16:creationId xmlns:a16="http://schemas.microsoft.com/office/drawing/2014/main" id="{089E9626-B703-CE26-1C5C-59D32679BA37}"/>
              </a:ext>
            </a:extLst>
          </p:cNvPr>
          <p:cNvSpPr/>
          <p:nvPr/>
        </p:nvSpPr>
        <p:spPr>
          <a:xfrm>
            <a:off x="502920" y="548640"/>
            <a:ext cx="82296" cy="603504"/>
          </a:xfrm>
          <a:prstGeom prst="rect">
            <a:avLst/>
          </a:prstGeom>
          <a:solidFill>
            <a:srgbClr val="FE7202"/>
          </a:solidFill>
          <a:ln/>
        </p:spPr>
        <p:txBody>
          <a:bodyPr/>
          <a:lstStyle/>
          <a:p>
            <a:endParaRPr lang="en-US"/>
          </a:p>
        </p:txBody>
      </p:sp>
      <p:sp>
        <p:nvSpPr>
          <p:cNvPr id="3" name="Text 1">
            <a:extLst>
              <a:ext uri="{FF2B5EF4-FFF2-40B4-BE49-F238E27FC236}">
                <a16:creationId xmlns:a16="http://schemas.microsoft.com/office/drawing/2014/main" id="{9F5CBE5E-B20E-9518-9BD4-AA3EF94D9214}"/>
              </a:ext>
            </a:extLst>
          </p:cNvPr>
          <p:cNvSpPr/>
          <p:nvPr/>
        </p:nvSpPr>
        <p:spPr>
          <a:xfrm>
            <a:off x="731520" y="502920"/>
            <a:ext cx="10058400" cy="713232"/>
          </a:xfrm>
          <a:prstGeom prst="rect">
            <a:avLst/>
          </a:prstGeom>
          <a:noFill/>
          <a:ln/>
        </p:spPr>
        <p:txBody>
          <a:bodyPr wrap="square" lIns="0" tIns="0" rIns="0" bIns="0" rtlCol="0" anchor="ctr"/>
          <a:lstStyle/>
          <a:p>
            <a:pPr marL="0" indent="0">
              <a:buNone/>
            </a:pPr>
            <a:r>
              <a:rPr lang="en-US" sz="2900" b="1" dirty="0">
                <a:solidFill>
                  <a:srgbClr val="0F2247"/>
                </a:solidFill>
                <a:latin typeface="Arial" pitchFamily="34" charset="0"/>
                <a:ea typeface="Arial" pitchFamily="34" charset="-122"/>
                <a:cs typeface="Arial" pitchFamily="34" charset="-120"/>
              </a:rPr>
              <a:t>Layer 2: Component Level Eval</a:t>
            </a:r>
          </a:p>
        </p:txBody>
      </p:sp>
      <p:sp>
        <p:nvSpPr>
          <p:cNvPr id="4" name="Shape 2">
            <a:extLst>
              <a:ext uri="{FF2B5EF4-FFF2-40B4-BE49-F238E27FC236}">
                <a16:creationId xmlns:a16="http://schemas.microsoft.com/office/drawing/2014/main" id="{67D6C204-96E1-AB8E-C08A-7398109C188C}"/>
              </a:ext>
            </a:extLst>
          </p:cNvPr>
          <p:cNvSpPr/>
          <p:nvPr/>
        </p:nvSpPr>
        <p:spPr>
          <a:xfrm>
            <a:off x="502920" y="1325880"/>
            <a:ext cx="11183112" cy="27432"/>
          </a:xfrm>
          <a:prstGeom prst="rect">
            <a:avLst/>
          </a:prstGeom>
          <a:solidFill>
            <a:srgbClr val="FE7202"/>
          </a:solidFill>
          <a:ln/>
        </p:spPr>
        <p:txBody>
          <a:bodyPr/>
          <a:lstStyle/>
          <a:p>
            <a:endParaRPr lang="en-US"/>
          </a:p>
        </p:txBody>
      </p:sp>
      <p:pic>
        <p:nvPicPr>
          <p:cNvPr id="12" name="Picture 11" descr="preencoded.png">
            <a:extLst>
              <a:ext uri="{FF2B5EF4-FFF2-40B4-BE49-F238E27FC236}">
                <a16:creationId xmlns:a16="http://schemas.microsoft.com/office/drawing/2014/main" id="{9D0BA6AB-F5A9-A6D6-74AC-04D79E469185}"/>
              </a:ext>
            </a:extLst>
          </p:cNvPr>
          <p:cNvPicPr>
            <a:picLocks noChangeAspect="1"/>
          </p:cNvPicPr>
          <p:nvPr/>
        </p:nvPicPr>
        <p:blipFill>
          <a:blip r:embed="rId4"/>
          <a:srcRect b="-176"/>
          <a:stretch>
            <a:fillRect/>
          </a:stretch>
        </p:blipFill>
        <p:spPr>
          <a:xfrm>
            <a:off x="10792419" y="367621"/>
            <a:ext cx="852695" cy="852309"/>
          </a:xfrm>
          <a:prstGeom prst="rect">
            <a:avLst/>
          </a:prstGeom>
        </p:spPr>
      </p:pic>
      <p:sp>
        <p:nvSpPr>
          <p:cNvPr id="13" name="Text 3">
            <a:extLst>
              <a:ext uri="{FF2B5EF4-FFF2-40B4-BE49-F238E27FC236}">
                <a16:creationId xmlns:a16="http://schemas.microsoft.com/office/drawing/2014/main" id="{35CF104E-0C99-590E-E305-6358AA99D2BA}"/>
              </a:ext>
            </a:extLst>
          </p:cNvPr>
          <p:cNvSpPr/>
          <p:nvPr/>
        </p:nvSpPr>
        <p:spPr>
          <a:xfrm>
            <a:off x="512064" y="1291599"/>
            <a:ext cx="8686800" cy="411480"/>
          </a:xfrm>
          <a:prstGeom prst="rect">
            <a:avLst/>
          </a:prstGeom>
          <a:noFill/>
          <a:ln/>
        </p:spPr>
        <p:txBody>
          <a:bodyPr wrap="square" lIns="0" tIns="0" rIns="0" bIns="0" rtlCol="0" anchor="ctr"/>
          <a:lstStyle/>
          <a:p>
            <a:pPr marL="0" indent="0">
              <a:buNone/>
            </a:pPr>
            <a:r>
              <a:rPr lang="en-US" sz="1350" i="1" dirty="0">
                <a:solidFill>
                  <a:srgbClr val="8A93A8"/>
                </a:solidFill>
                <a:latin typeface="Calibri" pitchFamily="34" charset="0"/>
                <a:ea typeface="Calibri" pitchFamily="34" charset="-122"/>
                <a:cs typeface="Calibri" pitchFamily="34" charset="-120"/>
              </a:rPr>
              <a:t>What to evaluate?</a:t>
            </a:r>
          </a:p>
        </p:txBody>
      </p:sp>
    </p:spTree>
    <p:extLst>
      <p:ext uri="{BB962C8B-B14F-4D97-AF65-F5344CB8AC3E}">
        <p14:creationId xmlns:p14="http://schemas.microsoft.com/office/powerpoint/2010/main" val="34908423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8ECBF82-C118-4034-9DC6-B53FCEEDB3C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2E0241E-D90C-0A58-9552-B356D31F2E34}"/>
              </a:ext>
            </a:extLst>
          </p:cNvPr>
          <p:cNvSpPr/>
          <p:nvPr/>
        </p:nvSpPr>
        <p:spPr>
          <a:xfrm>
            <a:off x="502920" y="548640"/>
            <a:ext cx="82296" cy="603504"/>
          </a:xfrm>
          <a:prstGeom prst="rect">
            <a:avLst/>
          </a:prstGeom>
          <a:solidFill>
            <a:srgbClr val="FE7202"/>
          </a:solidFill>
          <a:ln/>
        </p:spPr>
        <p:txBody>
          <a:bodyPr/>
          <a:lstStyle/>
          <a:p>
            <a:endParaRPr lang="en-US"/>
          </a:p>
        </p:txBody>
      </p:sp>
      <p:sp>
        <p:nvSpPr>
          <p:cNvPr id="3" name="Text 1">
            <a:extLst>
              <a:ext uri="{FF2B5EF4-FFF2-40B4-BE49-F238E27FC236}">
                <a16:creationId xmlns:a16="http://schemas.microsoft.com/office/drawing/2014/main" id="{C055AE8F-F813-D358-CAF5-B5AB6DA9C509}"/>
              </a:ext>
            </a:extLst>
          </p:cNvPr>
          <p:cNvSpPr/>
          <p:nvPr/>
        </p:nvSpPr>
        <p:spPr>
          <a:xfrm>
            <a:off x="731520" y="502920"/>
            <a:ext cx="10058400" cy="713232"/>
          </a:xfrm>
          <a:prstGeom prst="rect">
            <a:avLst/>
          </a:prstGeom>
          <a:noFill/>
          <a:ln/>
        </p:spPr>
        <p:txBody>
          <a:bodyPr wrap="square" lIns="0" tIns="0" rIns="0" bIns="0" rtlCol="0" anchor="ctr"/>
          <a:lstStyle/>
          <a:p>
            <a:pPr marL="0" indent="0">
              <a:buNone/>
            </a:pPr>
            <a:r>
              <a:rPr lang="en-US" sz="2900" b="1" dirty="0">
                <a:solidFill>
                  <a:srgbClr val="0F2247"/>
                </a:solidFill>
                <a:latin typeface="Arial" pitchFamily="34" charset="0"/>
                <a:ea typeface="Arial" pitchFamily="34" charset="-122"/>
                <a:cs typeface="Arial" pitchFamily="34" charset="-120"/>
              </a:rPr>
              <a:t>Layer 2: Component Level Eval</a:t>
            </a:r>
          </a:p>
        </p:txBody>
      </p:sp>
      <p:sp>
        <p:nvSpPr>
          <p:cNvPr id="4" name="Shape 2">
            <a:extLst>
              <a:ext uri="{FF2B5EF4-FFF2-40B4-BE49-F238E27FC236}">
                <a16:creationId xmlns:a16="http://schemas.microsoft.com/office/drawing/2014/main" id="{FE35F151-C49F-B565-08D6-BEF90C4C6A9E}"/>
              </a:ext>
            </a:extLst>
          </p:cNvPr>
          <p:cNvSpPr/>
          <p:nvPr/>
        </p:nvSpPr>
        <p:spPr>
          <a:xfrm>
            <a:off x="502920" y="1325880"/>
            <a:ext cx="11183112" cy="27432"/>
          </a:xfrm>
          <a:prstGeom prst="rect">
            <a:avLst/>
          </a:prstGeom>
          <a:solidFill>
            <a:srgbClr val="FE7202"/>
          </a:solidFill>
          <a:ln/>
        </p:spPr>
        <p:txBody>
          <a:bodyPr/>
          <a:lstStyle/>
          <a:p>
            <a:endParaRPr lang="en-US"/>
          </a:p>
        </p:txBody>
      </p:sp>
      <p:sp>
        <p:nvSpPr>
          <p:cNvPr id="11" name="Text 7">
            <a:extLst>
              <a:ext uri="{FF2B5EF4-FFF2-40B4-BE49-F238E27FC236}">
                <a16:creationId xmlns:a16="http://schemas.microsoft.com/office/drawing/2014/main" id="{B4C32DCC-D428-46C6-2129-76968D9EE4C8}"/>
              </a:ext>
            </a:extLst>
          </p:cNvPr>
          <p:cNvSpPr/>
          <p:nvPr/>
        </p:nvSpPr>
        <p:spPr>
          <a:xfrm>
            <a:off x="0" y="6419088"/>
            <a:ext cx="12191695" cy="320040"/>
          </a:xfrm>
          <a:prstGeom prst="rect">
            <a:avLst/>
          </a:prstGeom>
          <a:noFill/>
          <a:ln/>
        </p:spPr>
        <p:txBody>
          <a:bodyPr wrap="square" lIns="0" tIns="0" rIns="0" bIns="0" rtlCol="0" anchor="ctr"/>
          <a:lstStyle/>
          <a:p>
            <a:pPr marL="0" indent="0" algn="ctr">
              <a:buNone/>
            </a:pPr>
            <a:r>
              <a:rPr lang="en-US" sz="950" kern="0" spc="200">
                <a:solidFill>
                  <a:srgbClr val="8A93A8"/>
                </a:solidFill>
                <a:latin typeface="Arial" pitchFamily="34" charset="0"/>
                <a:ea typeface="Arial" pitchFamily="34" charset="-122"/>
                <a:cs typeface="Arial" pitchFamily="34" charset="-120"/>
              </a:rPr>
              <a:t>D A T A H A C K   S U M M I T   2 0 2 6</a:t>
            </a:r>
            <a:endParaRPr lang="en-US" sz="950"/>
          </a:p>
        </p:txBody>
      </p:sp>
      <p:pic>
        <p:nvPicPr>
          <p:cNvPr id="12" name="Picture 11" descr="preencoded.png">
            <a:extLst>
              <a:ext uri="{FF2B5EF4-FFF2-40B4-BE49-F238E27FC236}">
                <a16:creationId xmlns:a16="http://schemas.microsoft.com/office/drawing/2014/main" id="{8DCB62A2-F7C4-011B-F229-ADE94C683775}"/>
              </a:ext>
            </a:extLst>
          </p:cNvPr>
          <p:cNvPicPr>
            <a:picLocks noChangeAspect="1"/>
          </p:cNvPicPr>
          <p:nvPr/>
        </p:nvPicPr>
        <p:blipFill>
          <a:blip r:embed="rId3"/>
          <a:srcRect b="-176"/>
          <a:stretch>
            <a:fillRect/>
          </a:stretch>
        </p:blipFill>
        <p:spPr>
          <a:xfrm>
            <a:off x="10792419" y="367621"/>
            <a:ext cx="852695" cy="852309"/>
          </a:xfrm>
          <a:prstGeom prst="rect">
            <a:avLst/>
          </a:prstGeom>
        </p:spPr>
      </p:pic>
      <p:sp>
        <p:nvSpPr>
          <p:cNvPr id="13" name="Text 3">
            <a:extLst>
              <a:ext uri="{FF2B5EF4-FFF2-40B4-BE49-F238E27FC236}">
                <a16:creationId xmlns:a16="http://schemas.microsoft.com/office/drawing/2014/main" id="{824624A7-7A2B-1BE2-874E-9CDC9B11A44F}"/>
              </a:ext>
            </a:extLst>
          </p:cNvPr>
          <p:cNvSpPr/>
          <p:nvPr/>
        </p:nvSpPr>
        <p:spPr>
          <a:xfrm>
            <a:off x="512064" y="1417320"/>
            <a:ext cx="8686800" cy="411480"/>
          </a:xfrm>
          <a:prstGeom prst="rect">
            <a:avLst/>
          </a:prstGeom>
          <a:noFill/>
          <a:ln/>
        </p:spPr>
        <p:txBody>
          <a:bodyPr wrap="square" lIns="0" tIns="0" rIns="0" bIns="0" rtlCol="0" anchor="ctr"/>
          <a:lstStyle/>
          <a:p>
            <a:pPr marL="0" indent="0">
              <a:buNone/>
            </a:pPr>
            <a:r>
              <a:rPr lang="en-US" sz="1350" i="1" dirty="0">
                <a:solidFill>
                  <a:srgbClr val="8A93A8"/>
                </a:solidFill>
                <a:latin typeface="Calibri" pitchFamily="34" charset="0"/>
                <a:ea typeface="Calibri" pitchFamily="34" charset="-122"/>
                <a:cs typeface="Calibri" pitchFamily="34" charset="-120"/>
              </a:rPr>
              <a:t>Common failure modes in agents</a:t>
            </a:r>
          </a:p>
        </p:txBody>
      </p:sp>
      <p:graphicFrame>
        <p:nvGraphicFramePr>
          <p:cNvPr id="7" name="Table 6">
            <a:extLst>
              <a:ext uri="{FF2B5EF4-FFF2-40B4-BE49-F238E27FC236}">
                <a16:creationId xmlns:a16="http://schemas.microsoft.com/office/drawing/2014/main" id="{1313F159-D774-3A25-4B9B-D3CC5BAEC340}"/>
              </a:ext>
            </a:extLst>
          </p:cNvPr>
          <p:cNvGraphicFramePr>
            <a:graphicFrameLocks noGrp="1"/>
          </p:cNvGraphicFramePr>
          <p:nvPr>
            <p:extLst>
              <p:ext uri="{D42A27DB-BD31-4B8C-83A1-F6EECF244321}">
                <p14:modId xmlns:p14="http://schemas.microsoft.com/office/powerpoint/2010/main" val="1381431383"/>
              </p:ext>
            </p:extLst>
          </p:nvPr>
        </p:nvGraphicFramePr>
        <p:xfrm>
          <a:off x="1985818" y="2334010"/>
          <a:ext cx="7555346" cy="3198110"/>
        </p:xfrm>
        <a:graphic>
          <a:graphicData uri="http://schemas.openxmlformats.org/drawingml/2006/table">
            <a:tbl>
              <a:tblPr firstRow="1" bandRow="1">
                <a:tableStyleId>{7DF18680-E054-41AD-8BC1-D1AEF772440D}</a:tableStyleId>
              </a:tblPr>
              <a:tblGrid>
                <a:gridCol w="3777673">
                  <a:extLst>
                    <a:ext uri="{9D8B030D-6E8A-4147-A177-3AD203B41FA5}">
                      <a16:colId xmlns:a16="http://schemas.microsoft.com/office/drawing/2014/main" val="2955323444"/>
                    </a:ext>
                  </a:extLst>
                </a:gridCol>
                <a:gridCol w="3777673">
                  <a:extLst>
                    <a:ext uri="{9D8B030D-6E8A-4147-A177-3AD203B41FA5}">
                      <a16:colId xmlns:a16="http://schemas.microsoft.com/office/drawing/2014/main" val="1961827199"/>
                    </a:ext>
                  </a:extLst>
                </a:gridCol>
              </a:tblGrid>
              <a:tr h="534238">
                <a:tc>
                  <a:txBody>
                    <a:bodyPr/>
                    <a:lstStyle/>
                    <a:p>
                      <a:r>
                        <a:rPr lang="en-IN" sz="1600" dirty="0">
                          <a:latin typeface="+mn-lt"/>
                          <a:cs typeface="Poppins" panose="00000500000000000000" pitchFamily="2" charset="0"/>
                        </a:rPr>
                        <a:t>Failure Modes</a:t>
                      </a:r>
                    </a:p>
                  </a:txBody>
                  <a:tcPr anchor="ctr"/>
                </a:tc>
                <a:tc>
                  <a:txBody>
                    <a:bodyPr/>
                    <a:lstStyle/>
                    <a:p>
                      <a:r>
                        <a:rPr lang="en-IN" sz="1600">
                          <a:latin typeface="+mn-lt"/>
                          <a:cs typeface="Poppins" panose="00000500000000000000" pitchFamily="2" charset="0"/>
                        </a:rPr>
                        <a:t>Symptom</a:t>
                      </a:r>
                    </a:p>
                  </a:txBody>
                  <a:tcPr anchor="ctr"/>
                </a:tc>
                <a:extLst>
                  <a:ext uri="{0D108BD9-81ED-4DB2-BD59-A6C34878D82A}">
                    <a16:rowId xmlns:a16="http://schemas.microsoft.com/office/drawing/2014/main" val="483484961"/>
                  </a:ext>
                </a:extLst>
              </a:tr>
              <a:tr h="526920">
                <a:tc>
                  <a:txBody>
                    <a:bodyPr/>
                    <a:lstStyle/>
                    <a:p>
                      <a:r>
                        <a:rPr lang="en-IN" sz="1600" dirty="0">
                          <a:latin typeface="+mn-lt"/>
                          <a:cs typeface="Poppins" panose="00000500000000000000" pitchFamily="2" charset="0"/>
                        </a:rPr>
                        <a:t>Wrong tool</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1600" b="0" u="none" strike="noStrike" cap="none">
                          <a:solidFill>
                            <a:schemeClr val="dk1"/>
                          </a:solidFill>
                          <a:effectLst/>
                          <a:latin typeface="+mn-lt"/>
                          <a:cs typeface="Poppins" panose="00000500000000000000" pitchFamily="2" charset="0"/>
                          <a:sym typeface="Arial"/>
                        </a:rPr>
                        <a:t>Task fails silently, weird answer</a:t>
                      </a:r>
                      <a:endParaRPr lang="en-GB" sz="1600" b="0" i="0" u="none" strike="noStrike" cap="none">
                        <a:solidFill>
                          <a:schemeClr val="dk1"/>
                        </a:solidFill>
                        <a:effectLst/>
                        <a:latin typeface="+mn-lt"/>
                        <a:ea typeface="+mn-ea"/>
                        <a:cs typeface="Poppins" panose="00000500000000000000" pitchFamily="2" charset="0"/>
                        <a:sym typeface="Arial"/>
                      </a:endParaRPr>
                    </a:p>
                  </a:txBody>
                  <a:tcPr anchor="ctr"/>
                </a:tc>
                <a:extLst>
                  <a:ext uri="{0D108BD9-81ED-4DB2-BD59-A6C34878D82A}">
                    <a16:rowId xmlns:a16="http://schemas.microsoft.com/office/drawing/2014/main" val="799908695"/>
                  </a:ext>
                </a:extLst>
              </a:tr>
              <a:tr h="534238">
                <a:tc>
                  <a:txBody>
                    <a:bodyPr/>
                    <a:lstStyle/>
                    <a:p>
                      <a:r>
                        <a:rPr lang="en-IN" sz="1600" dirty="0">
                          <a:latin typeface="+mn-lt"/>
                          <a:cs typeface="Poppins" panose="00000500000000000000" pitchFamily="2" charset="0"/>
                        </a:rPr>
                        <a:t>Wrong argument</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600" b="0" u="none" strike="noStrike" cap="none" dirty="0">
                          <a:solidFill>
                            <a:schemeClr val="dk1"/>
                          </a:solidFill>
                          <a:effectLst/>
                          <a:latin typeface="+mn-lt"/>
                          <a:cs typeface="Poppins" panose="00000500000000000000" pitchFamily="2" charset="0"/>
                          <a:sym typeface="Arial"/>
                        </a:rPr>
                        <a:t>API errors / nonsense results</a:t>
                      </a:r>
                      <a:endParaRPr lang="en-IN" sz="1600" b="0" i="0" u="none" strike="noStrike" cap="none" dirty="0">
                        <a:solidFill>
                          <a:schemeClr val="dk1"/>
                        </a:solidFill>
                        <a:effectLst/>
                        <a:latin typeface="+mn-lt"/>
                        <a:ea typeface="+mn-ea"/>
                        <a:cs typeface="Poppins" panose="00000500000000000000" pitchFamily="2" charset="0"/>
                        <a:sym typeface="Arial"/>
                      </a:endParaRPr>
                    </a:p>
                  </a:txBody>
                  <a:tcPr anchor="ctr"/>
                </a:tc>
                <a:extLst>
                  <a:ext uri="{0D108BD9-81ED-4DB2-BD59-A6C34878D82A}">
                    <a16:rowId xmlns:a16="http://schemas.microsoft.com/office/drawing/2014/main" val="3417029220"/>
                  </a:ext>
                </a:extLst>
              </a:tr>
              <a:tr h="534238">
                <a:tc>
                  <a:txBody>
                    <a:bodyPr/>
                    <a:lstStyle/>
                    <a:p>
                      <a:r>
                        <a:rPr lang="en-IN" sz="1600">
                          <a:latin typeface="+mn-lt"/>
                          <a:cs typeface="Poppins" panose="00000500000000000000" pitchFamily="2" charset="0"/>
                        </a:rPr>
                        <a:t>Wrong order</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600" b="0" u="none" strike="noStrike" cap="none" dirty="0">
                          <a:solidFill>
                            <a:schemeClr val="dk1"/>
                          </a:solidFill>
                          <a:effectLst/>
                          <a:latin typeface="+mn-lt"/>
                          <a:cs typeface="Poppins" panose="00000500000000000000" pitchFamily="2" charset="0"/>
                          <a:sym typeface="Arial"/>
                        </a:rPr>
                        <a:t>Dependency violations</a:t>
                      </a:r>
                      <a:endParaRPr lang="en-IN" sz="1600" b="0" i="0" u="none" strike="noStrike" cap="none" dirty="0">
                        <a:solidFill>
                          <a:schemeClr val="dk1"/>
                        </a:solidFill>
                        <a:effectLst/>
                        <a:latin typeface="+mn-lt"/>
                        <a:ea typeface="+mn-ea"/>
                        <a:cs typeface="Poppins" panose="00000500000000000000" pitchFamily="2" charset="0"/>
                        <a:sym typeface="Arial"/>
                      </a:endParaRPr>
                    </a:p>
                  </a:txBody>
                  <a:tcPr anchor="ctr"/>
                </a:tc>
                <a:extLst>
                  <a:ext uri="{0D108BD9-81ED-4DB2-BD59-A6C34878D82A}">
                    <a16:rowId xmlns:a16="http://schemas.microsoft.com/office/drawing/2014/main" val="3485277663"/>
                  </a:ext>
                </a:extLst>
              </a:tr>
              <a:tr h="534238">
                <a:tc>
                  <a:txBody>
                    <a:bodyPr/>
                    <a:lstStyle/>
                    <a:p>
                      <a:r>
                        <a:rPr lang="en-IN" sz="1600" dirty="0">
                          <a:latin typeface="+mn-lt"/>
                          <a:cs typeface="Poppins" panose="00000500000000000000" pitchFamily="2" charset="0"/>
                        </a:rPr>
                        <a:t>Redundant calls</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600" b="0" u="none" strike="noStrike" cap="none" dirty="0">
                          <a:solidFill>
                            <a:schemeClr val="dk1"/>
                          </a:solidFill>
                          <a:effectLst/>
                          <a:latin typeface="+mn-lt"/>
                          <a:cs typeface="Poppins" panose="00000500000000000000" pitchFamily="2" charset="0"/>
                          <a:sym typeface="Arial"/>
                        </a:rPr>
                        <a:t>Burned $$$, latency spikes </a:t>
                      </a:r>
                      <a:endParaRPr lang="en-IN" sz="1600" b="0" i="0" u="none" strike="noStrike" cap="none" dirty="0">
                        <a:solidFill>
                          <a:schemeClr val="dk1"/>
                        </a:solidFill>
                        <a:effectLst/>
                        <a:latin typeface="+mn-lt"/>
                        <a:ea typeface="+mn-ea"/>
                        <a:cs typeface="Poppins" panose="00000500000000000000" pitchFamily="2" charset="0"/>
                        <a:sym typeface="Arial"/>
                      </a:endParaRPr>
                    </a:p>
                  </a:txBody>
                  <a:tcPr anchor="ctr"/>
                </a:tc>
                <a:extLst>
                  <a:ext uri="{0D108BD9-81ED-4DB2-BD59-A6C34878D82A}">
                    <a16:rowId xmlns:a16="http://schemas.microsoft.com/office/drawing/2014/main" val="3108745845"/>
                  </a:ext>
                </a:extLst>
              </a:tr>
              <a:tr h="534238">
                <a:tc>
                  <a:txBody>
                    <a:bodyPr/>
                    <a:lstStyle/>
                    <a:p>
                      <a:r>
                        <a:rPr lang="en-IN" sz="1600" dirty="0">
                          <a:latin typeface="+mn-lt"/>
                          <a:cs typeface="Poppins" panose="00000500000000000000" pitchFamily="2" charset="0"/>
                        </a:rPr>
                        <a:t>Missing calls</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600" b="0" u="none" strike="noStrike" cap="none" dirty="0">
                          <a:solidFill>
                            <a:schemeClr val="dk1"/>
                          </a:solidFill>
                          <a:effectLst/>
                          <a:latin typeface="+mn-lt"/>
                          <a:cs typeface="Poppins" panose="00000500000000000000" pitchFamily="2" charset="0"/>
                          <a:sym typeface="Arial"/>
                        </a:rPr>
                        <a:t>Incomplete answers </a:t>
                      </a:r>
                      <a:endParaRPr lang="en-IN" sz="1600" b="0" i="0" u="none" strike="noStrike" cap="none" dirty="0">
                        <a:solidFill>
                          <a:schemeClr val="dk1"/>
                        </a:solidFill>
                        <a:effectLst/>
                        <a:latin typeface="+mn-lt"/>
                        <a:ea typeface="+mn-ea"/>
                        <a:cs typeface="Poppins" panose="00000500000000000000" pitchFamily="2" charset="0"/>
                        <a:sym typeface="Arial"/>
                      </a:endParaRPr>
                    </a:p>
                  </a:txBody>
                  <a:tcPr anchor="ctr"/>
                </a:tc>
                <a:extLst>
                  <a:ext uri="{0D108BD9-81ED-4DB2-BD59-A6C34878D82A}">
                    <a16:rowId xmlns:a16="http://schemas.microsoft.com/office/drawing/2014/main" val="4085681802"/>
                  </a:ext>
                </a:extLst>
              </a:tr>
            </a:tbl>
          </a:graphicData>
        </a:graphic>
      </p:graphicFrame>
    </p:spTree>
    <p:extLst>
      <p:ext uri="{BB962C8B-B14F-4D97-AF65-F5344CB8AC3E}">
        <p14:creationId xmlns:p14="http://schemas.microsoft.com/office/powerpoint/2010/main" val="13099148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E6D145F-1D60-F2CA-2ADD-8E64A97FB752}"/>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A41AE82F-AB7A-67D1-7838-944D995ADE3B}"/>
              </a:ext>
            </a:extLst>
          </p:cNvPr>
          <p:cNvPicPr>
            <a:picLocks noChangeAspect="1"/>
          </p:cNvPicPr>
          <p:nvPr/>
        </p:nvPicPr>
        <p:blipFill>
          <a:blip r:embed="rId3"/>
          <a:stretch>
            <a:fillRect/>
          </a:stretch>
        </p:blipFill>
        <p:spPr>
          <a:xfrm>
            <a:off x="544068" y="1459262"/>
            <a:ext cx="11183112" cy="5245429"/>
          </a:xfrm>
          <a:prstGeom prst="rect">
            <a:avLst/>
          </a:prstGeom>
        </p:spPr>
      </p:pic>
      <p:sp>
        <p:nvSpPr>
          <p:cNvPr id="2" name="Shape 0">
            <a:extLst>
              <a:ext uri="{FF2B5EF4-FFF2-40B4-BE49-F238E27FC236}">
                <a16:creationId xmlns:a16="http://schemas.microsoft.com/office/drawing/2014/main" id="{45A2114A-99D8-5BAB-AA5A-E2DAEB220B19}"/>
              </a:ext>
            </a:extLst>
          </p:cNvPr>
          <p:cNvSpPr/>
          <p:nvPr/>
        </p:nvSpPr>
        <p:spPr>
          <a:xfrm>
            <a:off x="502920" y="548640"/>
            <a:ext cx="82296" cy="603504"/>
          </a:xfrm>
          <a:prstGeom prst="rect">
            <a:avLst/>
          </a:prstGeom>
          <a:solidFill>
            <a:srgbClr val="FE7202"/>
          </a:solidFill>
          <a:ln/>
        </p:spPr>
        <p:txBody>
          <a:bodyPr/>
          <a:lstStyle/>
          <a:p>
            <a:endParaRPr lang="en-US"/>
          </a:p>
        </p:txBody>
      </p:sp>
      <p:sp>
        <p:nvSpPr>
          <p:cNvPr id="3" name="Text 1">
            <a:extLst>
              <a:ext uri="{FF2B5EF4-FFF2-40B4-BE49-F238E27FC236}">
                <a16:creationId xmlns:a16="http://schemas.microsoft.com/office/drawing/2014/main" id="{A91DA0DE-93A3-A335-D4A2-9BC61A46873C}"/>
              </a:ext>
            </a:extLst>
          </p:cNvPr>
          <p:cNvSpPr/>
          <p:nvPr/>
        </p:nvSpPr>
        <p:spPr>
          <a:xfrm>
            <a:off x="731520" y="502920"/>
            <a:ext cx="10058400" cy="713232"/>
          </a:xfrm>
          <a:prstGeom prst="rect">
            <a:avLst/>
          </a:prstGeom>
          <a:noFill/>
          <a:ln/>
        </p:spPr>
        <p:txBody>
          <a:bodyPr wrap="square" lIns="0" tIns="0" rIns="0" bIns="0" rtlCol="0" anchor="ctr"/>
          <a:lstStyle/>
          <a:p>
            <a:pPr marL="0" indent="0">
              <a:buNone/>
            </a:pPr>
            <a:r>
              <a:rPr lang="en-US" sz="2900" b="1" dirty="0">
                <a:solidFill>
                  <a:srgbClr val="0F2247"/>
                </a:solidFill>
                <a:latin typeface="Arial" pitchFamily="34" charset="0"/>
                <a:ea typeface="Arial" pitchFamily="34" charset="-122"/>
                <a:cs typeface="Arial" pitchFamily="34" charset="-120"/>
              </a:rPr>
              <a:t>Stack 1: Eval Methods</a:t>
            </a:r>
          </a:p>
        </p:txBody>
      </p:sp>
      <p:sp>
        <p:nvSpPr>
          <p:cNvPr id="4" name="Shape 2">
            <a:extLst>
              <a:ext uri="{FF2B5EF4-FFF2-40B4-BE49-F238E27FC236}">
                <a16:creationId xmlns:a16="http://schemas.microsoft.com/office/drawing/2014/main" id="{0C6F17C1-4523-2109-8EF1-28A9D44FBBB2}"/>
              </a:ext>
            </a:extLst>
          </p:cNvPr>
          <p:cNvSpPr/>
          <p:nvPr/>
        </p:nvSpPr>
        <p:spPr>
          <a:xfrm>
            <a:off x="502920" y="1325880"/>
            <a:ext cx="11183112" cy="27432"/>
          </a:xfrm>
          <a:prstGeom prst="rect">
            <a:avLst/>
          </a:prstGeom>
          <a:solidFill>
            <a:srgbClr val="FE7202"/>
          </a:solidFill>
          <a:ln/>
        </p:spPr>
        <p:txBody>
          <a:bodyPr/>
          <a:lstStyle/>
          <a:p>
            <a:endParaRPr lang="en-US"/>
          </a:p>
        </p:txBody>
      </p:sp>
      <p:pic>
        <p:nvPicPr>
          <p:cNvPr id="12" name="Picture 11" descr="preencoded.png">
            <a:extLst>
              <a:ext uri="{FF2B5EF4-FFF2-40B4-BE49-F238E27FC236}">
                <a16:creationId xmlns:a16="http://schemas.microsoft.com/office/drawing/2014/main" id="{7FC362F3-9B0B-7D4D-919E-87B80D8A2272}"/>
              </a:ext>
            </a:extLst>
          </p:cNvPr>
          <p:cNvPicPr>
            <a:picLocks noChangeAspect="1"/>
          </p:cNvPicPr>
          <p:nvPr/>
        </p:nvPicPr>
        <p:blipFill>
          <a:blip r:embed="rId4"/>
          <a:srcRect b="-176"/>
          <a:stretch>
            <a:fillRect/>
          </a:stretch>
        </p:blipFill>
        <p:spPr>
          <a:xfrm>
            <a:off x="10792419" y="367621"/>
            <a:ext cx="852695" cy="852309"/>
          </a:xfrm>
          <a:prstGeom prst="rect">
            <a:avLst/>
          </a:prstGeom>
        </p:spPr>
      </p:pic>
    </p:spTree>
    <p:extLst>
      <p:ext uri="{BB962C8B-B14F-4D97-AF65-F5344CB8AC3E}">
        <p14:creationId xmlns:p14="http://schemas.microsoft.com/office/powerpoint/2010/main" val="41699358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1613386-0CB1-485A-4302-971364DECA98}"/>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DE452BE9-7398-900F-7715-117FDB28A3BA}"/>
              </a:ext>
            </a:extLst>
          </p:cNvPr>
          <p:cNvPicPr>
            <a:picLocks noChangeAspect="1"/>
          </p:cNvPicPr>
          <p:nvPr/>
        </p:nvPicPr>
        <p:blipFill>
          <a:blip r:embed="rId3"/>
          <a:stretch>
            <a:fillRect/>
          </a:stretch>
        </p:blipFill>
        <p:spPr>
          <a:xfrm>
            <a:off x="3433598" y="1383178"/>
            <a:ext cx="8588684" cy="3951483"/>
          </a:xfrm>
          <a:prstGeom prst="rect">
            <a:avLst/>
          </a:prstGeom>
        </p:spPr>
      </p:pic>
      <p:sp>
        <p:nvSpPr>
          <p:cNvPr id="2" name="Shape 0">
            <a:extLst>
              <a:ext uri="{FF2B5EF4-FFF2-40B4-BE49-F238E27FC236}">
                <a16:creationId xmlns:a16="http://schemas.microsoft.com/office/drawing/2014/main" id="{66665C6A-7A01-2E3E-4C67-15C117227B3A}"/>
              </a:ext>
            </a:extLst>
          </p:cNvPr>
          <p:cNvSpPr/>
          <p:nvPr/>
        </p:nvSpPr>
        <p:spPr>
          <a:xfrm>
            <a:off x="502920" y="548640"/>
            <a:ext cx="82296" cy="603504"/>
          </a:xfrm>
          <a:prstGeom prst="rect">
            <a:avLst/>
          </a:prstGeom>
          <a:solidFill>
            <a:srgbClr val="FE7202"/>
          </a:solidFill>
          <a:ln/>
        </p:spPr>
        <p:txBody>
          <a:bodyPr/>
          <a:lstStyle/>
          <a:p>
            <a:endParaRPr lang="en-US"/>
          </a:p>
        </p:txBody>
      </p:sp>
      <p:sp>
        <p:nvSpPr>
          <p:cNvPr id="3" name="Text 1">
            <a:extLst>
              <a:ext uri="{FF2B5EF4-FFF2-40B4-BE49-F238E27FC236}">
                <a16:creationId xmlns:a16="http://schemas.microsoft.com/office/drawing/2014/main" id="{77054486-1F28-BB72-2304-F9733413B1DB}"/>
              </a:ext>
            </a:extLst>
          </p:cNvPr>
          <p:cNvSpPr/>
          <p:nvPr/>
        </p:nvSpPr>
        <p:spPr>
          <a:xfrm>
            <a:off x="731520" y="502920"/>
            <a:ext cx="10058400" cy="713232"/>
          </a:xfrm>
          <a:prstGeom prst="rect">
            <a:avLst/>
          </a:prstGeom>
          <a:noFill/>
          <a:ln/>
        </p:spPr>
        <p:txBody>
          <a:bodyPr wrap="square" lIns="0" tIns="0" rIns="0" bIns="0" rtlCol="0" anchor="ctr"/>
          <a:lstStyle/>
          <a:p>
            <a:pPr marL="0" indent="0">
              <a:buNone/>
            </a:pPr>
            <a:r>
              <a:rPr lang="en-US" sz="2900" b="1" dirty="0">
                <a:solidFill>
                  <a:srgbClr val="0F2247"/>
                </a:solidFill>
                <a:latin typeface="Arial" pitchFamily="34" charset="0"/>
                <a:ea typeface="Arial" pitchFamily="34" charset="-122"/>
                <a:cs typeface="Arial" pitchFamily="34" charset="-120"/>
              </a:rPr>
              <a:t>Layer 3: Agentic Trace</a:t>
            </a:r>
          </a:p>
        </p:txBody>
      </p:sp>
      <p:sp>
        <p:nvSpPr>
          <p:cNvPr id="4" name="Shape 2">
            <a:extLst>
              <a:ext uri="{FF2B5EF4-FFF2-40B4-BE49-F238E27FC236}">
                <a16:creationId xmlns:a16="http://schemas.microsoft.com/office/drawing/2014/main" id="{A2639296-8441-C485-8445-D21E9007D78A}"/>
              </a:ext>
            </a:extLst>
          </p:cNvPr>
          <p:cNvSpPr/>
          <p:nvPr/>
        </p:nvSpPr>
        <p:spPr>
          <a:xfrm>
            <a:off x="502920" y="1325880"/>
            <a:ext cx="11183112" cy="27432"/>
          </a:xfrm>
          <a:prstGeom prst="rect">
            <a:avLst/>
          </a:prstGeom>
          <a:solidFill>
            <a:srgbClr val="FE7202"/>
          </a:solidFill>
          <a:ln/>
        </p:spPr>
        <p:txBody>
          <a:bodyPr/>
          <a:lstStyle/>
          <a:p>
            <a:endParaRPr lang="en-US"/>
          </a:p>
        </p:txBody>
      </p:sp>
      <p:sp>
        <p:nvSpPr>
          <p:cNvPr id="7" name="Text 5">
            <a:extLst>
              <a:ext uri="{FF2B5EF4-FFF2-40B4-BE49-F238E27FC236}">
                <a16:creationId xmlns:a16="http://schemas.microsoft.com/office/drawing/2014/main" id="{415B9FCE-5A92-1125-2B94-B495E241D763}"/>
              </a:ext>
            </a:extLst>
          </p:cNvPr>
          <p:cNvSpPr/>
          <p:nvPr/>
        </p:nvSpPr>
        <p:spPr>
          <a:xfrm>
            <a:off x="585216" y="2503653"/>
            <a:ext cx="3134729" cy="667512"/>
          </a:xfrm>
          <a:prstGeom prst="rect">
            <a:avLst/>
          </a:prstGeom>
          <a:noFill/>
          <a:ln/>
        </p:spPr>
        <p:txBody>
          <a:bodyPr wrap="square" lIns="0" tIns="0" rIns="0" bIns="0" rtlCol="0" anchor="t"/>
          <a:lstStyle/>
          <a:p>
            <a:pPr marL="0" indent="0">
              <a:lnSpc>
                <a:spcPct val="112000"/>
              </a:lnSpc>
              <a:buNone/>
            </a:pPr>
            <a:r>
              <a:rPr lang="en-US" sz="1600" b="1" dirty="0">
                <a:solidFill>
                  <a:srgbClr val="0F2247"/>
                </a:solidFill>
                <a:latin typeface="Calibri" pitchFamily="34" charset="0"/>
                <a:ea typeface="Calibri" pitchFamily="34" charset="-122"/>
                <a:cs typeface="Calibri" pitchFamily="34" charset="-120"/>
              </a:rPr>
              <a:t>Agentic trace is the entire execution lineage of an AI agent that captures:</a:t>
            </a:r>
          </a:p>
        </p:txBody>
      </p:sp>
      <p:sp>
        <p:nvSpPr>
          <p:cNvPr id="9" name="Text 7">
            <a:extLst>
              <a:ext uri="{FF2B5EF4-FFF2-40B4-BE49-F238E27FC236}">
                <a16:creationId xmlns:a16="http://schemas.microsoft.com/office/drawing/2014/main" id="{E022DB86-E5D8-5E89-8D08-31D55DA2EEFD}"/>
              </a:ext>
            </a:extLst>
          </p:cNvPr>
          <p:cNvSpPr/>
          <p:nvPr/>
        </p:nvSpPr>
        <p:spPr>
          <a:xfrm>
            <a:off x="929175" y="3173012"/>
            <a:ext cx="4378036" cy="265176"/>
          </a:xfrm>
          <a:prstGeom prst="rect">
            <a:avLst/>
          </a:prstGeom>
          <a:noFill/>
          <a:ln/>
        </p:spPr>
        <p:txBody>
          <a:bodyPr wrap="square" lIns="0" tIns="0" rIns="0" bIns="0" rtlCol="0" anchor="t"/>
          <a:lstStyle/>
          <a:p>
            <a:pPr marL="0" indent="0">
              <a:lnSpc>
                <a:spcPct val="112000"/>
              </a:lnSpc>
              <a:buNone/>
            </a:pPr>
            <a:r>
              <a:rPr lang="en-US" sz="1300" dirty="0">
                <a:solidFill>
                  <a:srgbClr val="3A4866"/>
                </a:solidFill>
                <a:latin typeface="Calibri" pitchFamily="34" charset="0"/>
                <a:ea typeface="Calibri" pitchFamily="34" charset="-122"/>
                <a:cs typeface="Calibri" pitchFamily="34" charset="-120"/>
              </a:rPr>
              <a:t>every reasoning step, </a:t>
            </a:r>
          </a:p>
        </p:txBody>
      </p:sp>
      <p:sp>
        <p:nvSpPr>
          <p:cNvPr id="10" name="Shape 8">
            <a:extLst>
              <a:ext uri="{FF2B5EF4-FFF2-40B4-BE49-F238E27FC236}">
                <a16:creationId xmlns:a16="http://schemas.microsoft.com/office/drawing/2014/main" id="{2AEDFD35-8F03-FEE9-FF82-20D880F57437}"/>
              </a:ext>
            </a:extLst>
          </p:cNvPr>
          <p:cNvSpPr/>
          <p:nvPr/>
        </p:nvSpPr>
        <p:spPr>
          <a:xfrm>
            <a:off x="596646" y="3526234"/>
            <a:ext cx="146304" cy="146304"/>
          </a:xfrm>
          <a:prstGeom prst="ellipse">
            <a:avLst/>
          </a:prstGeom>
          <a:solidFill>
            <a:srgbClr val="1FB6A6"/>
          </a:solidFill>
          <a:ln/>
        </p:spPr>
        <p:txBody>
          <a:bodyPr/>
          <a:lstStyle/>
          <a:p>
            <a:endParaRPr lang="en-US"/>
          </a:p>
        </p:txBody>
      </p:sp>
      <p:sp>
        <p:nvSpPr>
          <p:cNvPr id="11" name="Text 9">
            <a:extLst>
              <a:ext uri="{FF2B5EF4-FFF2-40B4-BE49-F238E27FC236}">
                <a16:creationId xmlns:a16="http://schemas.microsoft.com/office/drawing/2014/main" id="{4BE842D4-04B4-25A0-9030-DDDDE76BB5EA}"/>
              </a:ext>
            </a:extLst>
          </p:cNvPr>
          <p:cNvSpPr/>
          <p:nvPr/>
        </p:nvSpPr>
        <p:spPr>
          <a:xfrm>
            <a:off x="929175" y="3479706"/>
            <a:ext cx="7406640" cy="265176"/>
          </a:xfrm>
          <a:prstGeom prst="rect">
            <a:avLst/>
          </a:prstGeom>
          <a:noFill/>
          <a:ln/>
        </p:spPr>
        <p:txBody>
          <a:bodyPr wrap="square" lIns="0" tIns="0" rIns="0" bIns="0" rtlCol="0" anchor="t"/>
          <a:lstStyle/>
          <a:p>
            <a:pPr marL="0" indent="0">
              <a:lnSpc>
                <a:spcPct val="112000"/>
              </a:lnSpc>
              <a:buNone/>
            </a:pPr>
            <a:r>
              <a:rPr lang="en-US" sz="1300" dirty="0">
                <a:solidFill>
                  <a:srgbClr val="3A4866"/>
                </a:solidFill>
                <a:latin typeface="Calibri" pitchFamily="34" charset="0"/>
                <a:ea typeface="Calibri" pitchFamily="34" charset="-122"/>
                <a:cs typeface="Calibri" pitchFamily="34" charset="-120"/>
              </a:rPr>
              <a:t>tool call, </a:t>
            </a:r>
          </a:p>
        </p:txBody>
      </p:sp>
      <p:sp>
        <p:nvSpPr>
          <p:cNvPr id="21" name="Text 18">
            <a:extLst>
              <a:ext uri="{FF2B5EF4-FFF2-40B4-BE49-F238E27FC236}">
                <a16:creationId xmlns:a16="http://schemas.microsoft.com/office/drawing/2014/main" id="{9D693316-75CE-18C4-9938-6714DF14B405}"/>
              </a:ext>
            </a:extLst>
          </p:cNvPr>
          <p:cNvSpPr/>
          <p:nvPr/>
        </p:nvSpPr>
        <p:spPr>
          <a:xfrm>
            <a:off x="305" y="6428694"/>
            <a:ext cx="12191695" cy="320040"/>
          </a:xfrm>
          <a:prstGeom prst="rect">
            <a:avLst/>
          </a:prstGeom>
          <a:noFill/>
          <a:ln/>
        </p:spPr>
        <p:txBody>
          <a:bodyPr wrap="square" lIns="0" tIns="0" rIns="0" bIns="0" rtlCol="0" anchor="ctr"/>
          <a:lstStyle/>
          <a:p>
            <a:pPr marL="0" indent="0" algn="ctr">
              <a:buNone/>
            </a:pPr>
            <a:r>
              <a:rPr lang="en-US" sz="950" kern="0" spc="200">
                <a:solidFill>
                  <a:srgbClr val="8A93A8"/>
                </a:solidFill>
                <a:latin typeface="Arial" pitchFamily="34" charset="0"/>
                <a:ea typeface="Arial" pitchFamily="34" charset="-122"/>
                <a:cs typeface="Arial" pitchFamily="34" charset="-120"/>
              </a:rPr>
              <a:t>D A T A H A C K   S U M M I T   2 0 2 6</a:t>
            </a:r>
            <a:endParaRPr lang="en-US" sz="950"/>
          </a:p>
        </p:txBody>
      </p:sp>
      <p:pic>
        <p:nvPicPr>
          <p:cNvPr id="23" name="Picture 22" descr="preencoded.png">
            <a:extLst>
              <a:ext uri="{FF2B5EF4-FFF2-40B4-BE49-F238E27FC236}">
                <a16:creationId xmlns:a16="http://schemas.microsoft.com/office/drawing/2014/main" id="{6542DF6D-9036-FE04-6E0D-2BB538728AF7}"/>
              </a:ext>
            </a:extLst>
          </p:cNvPr>
          <p:cNvPicPr>
            <a:picLocks noChangeAspect="1"/>
          </p:cNvPicPr>
          <p:nvPr/>
        </p:nvPicPr>
        <p:blipFill>
          <a:blip r:embed="rId4"/>
          <a:srcRect b="-176"/>
          <a:stretch>
            <a:fillRect/>
          </a:stretch>
        </p:blipFill>
        <p:spPr>
          <a:xfrm>
            <a:off x="10792419" y="367621"/>
            <a:ext cx="852695" cy="852309"/>
          </a:xfrm>
          <a:prstGeom prst="rect">
            <a:avLst/>
          </a:prstGeom>
        </p:spPr>
      </p:pic>
      <p:sp>
        <p:nvSpPr>
          <p:cNvPr id="16" name="Shape 10">
            <a:extLst>
              <a:ext uri="{FF2B5EF4-FFF2-40B4-BE49-F238E27FC236}">
                <a16:creationId xmlns:a16="http://schemas.microsoft.com/office/drawing/2014/main" id="{F45ACE6A-3FEE-C8B8-7D0A-0A66306E9CCD}"/>
              </a:ext>
            </a:extLst>
          </p:cNvPr>
          <p:cNvSpPr/>
          <p:nvPr/>
        </p:nvSpPr>
        <p:spPr>
          <a:xfrm>
            <a:off x="596646" y="3219540"/>
            <a:ext cx="146304" cy="146304"/>
          </a:xfrm>
          <a:prstGeom prst="ellipse">
            <a:avLst/>
          </a:prstGeom>
          <a:solidFill>
            <a:srgbClr val="2D7FF9"/>
          </a:solidFill>
          <a:ln/>
        </p:spPr>
        <p:txBody>
          <a:bodyPr/>
          <a:lstStyle/>
          <a:p>
            <a:endParaRPr lang="en-US"/>
          </a:p>
        </p:txBody>
      </p:sp>
      <p:sp>
        <p:nvSpPr>
          <p:cNvPr id="17" name="Text 7">
            <a:extLst>
              <a:ext uri="{FF2B5EF4-FFF2-40B4-BE49-F238E27FC236}">
                <a16:creationId xmlns:a16="http://schemas.microsoft.com/office/drawing/2014/main" id="{77389B49-4A9F-3188-DC75-7AA0ECDE066B}"/>
              </a:ext>
            </a:extLst>
          </p:cNvPr>
          <p:cNvSpPr/>
          <p:nvPr/>
        </p:nvSpPr>
        <p:spPr>
          <a:xfrm>
            <a:off x="929175" y="3786400"/>
            <a:ext cx="4378036" cy="265176"/>
          </a:xfrm>
          <a:prstGeom prst="rect">
            <a:avLst/>
          </a:prstGeom>
          <a:noFill/>
          <a:ln/>
        </p:spPr>
        <p:txBody>
          <a:bodyPr wrap="square" lIns="0" tIns="0" rIns="0" bIns="0" rtlCol="0" anchor="t"/>
          <a:lstStyle/>
          <a:p>
            <a:pPr marL="0" indent="0">
              <a:lnSpc>
                <a:spcPct val="112000"/>
              </a:lnSpc>
              <a:buNone/>
            </a:pPr>
            <a:r>
              <a:rPr lang="en-US" sz="1300" dirty="0">
                <a:solidFill>
                  <a:srgbClr val="3A4866"/>
                </a:solidFill>
                <a:latin typeface="Calibri" pitchFamily="34" charset="0"/>
                <a:ea typeface="Calibri" pitchFamily="34" charset="-122"/>
                <a:cs typeface="Calibri" pitchFamily="34" charset="-120"/>
              </a:rPr>
              <a:t>decision, </a:t>
            </a:r>
          </a:p>
        </p:txBody>
      </p:sp>
      <p:sp>
        <p:nvSpPr>
          <p:cNvPr id="18" name="Shape 8">
            <a:extLst>
              <a:ext uri="{FF2B5EF4-FFF2-40B4-BE49-F238E27FC236}">
                <a16:creationId xmlns:a16="http://schemas.microsoft.com/office/drawing/2014/main" id="{783A123E-7330-1AE3-A9D3-6EB0F34EA5FC}"/>
              </a:ext>
            </a:extLst>
          </p:cNvPr>
          <p:cNvSpPr/>
          <p:nvPr/>
        </p:nvSpPr>
        <p:spPr>
          <a:xfrm>
            <a:off x="596646" y="4139622"/>
            <a:ext cx="146304" cy="146304"/>
          </a:xfrm>
          <a:prstGeom prst="ellipse">
            <a:avLst/>
          </a:prstGeom>
          <a:solidFill>
            <a:srgbClr val="1FB6A6"/>
          </a:solidFill>
          <a:ln/>
        </p:spPr>
        <p:txBody>
          <a:bodyPr/>
          <a:lstStyle/>
          <a:p>
            <a:endParaRPr lang="en-US"/>
          </a:p>
        </p:txBody>
      </p:sp>
      <p:sp>
        <p:nvSpPr>
          <p:cNvPr id="19" name="Text 9">
            <a:extLst>
              <a:ext uri="{FF2B5EF4-FFF2-40B4-BE49-F238E27FC236}">
                <a16:creationId xmlns:a16="http://schemas.microsoft.com/office/drawing/2014/main" id="{08BD7342-1556-03EF-76C9-9F824919696A}"/>
              </a:ext>
            </a:extLst>
          </p:cNvPr>
          <p:cNvSpPr/>
          <p:nvPr/>
        </p:nvSpPr>
        <p:spPr>
          <a:xfrm>
            <a:off x="929175" y="4093094"/>
            <a:ext cx="7406640" cy="265176"/>
          </a:xfrm>
          <a:prstGeom prst="rect">
            <a:avLst/>
          </a:prstGeom>
          <a:noFill/>
          <a:ln/>
        </p:spPr>
        <p:txBody>
          <a:bodyPr wrap="square" lIns="0" tIns="0" rIns="0" bIns="0" rtlCol="0" anchor="t"/>
          <a:lstStyle/>
          <a:p>
            <a:pPr marL="0" indent="0">
              <a:lnSpc>
                <a:spcPct val="112000"/>
              </a:lnSpc>
              <a:buNone/>
            </a:pPr>
            <a:r>
              <a:rPr lang="en-US" sz="1300" dirty="0">
                <a:solidFill>
                  <a:srgbClr val="3A4866"/>
                </a:solidFill>
                <a:latin typeface="Calibri" pitchFamily="34" charset="0"/>
                <a:ea typeface="Calibri" pitchFamily="34" charset="-122"/>
                <a:cs typeface="Calibri" pitchFamily="34" charset="-120"/>
              </a:rPr>
              <a:t>input/output, </a:t>
            </a:r>
          </a:p>
        </p:txBody>
      </p:sp>
      <p:sp>
        <p:nvSpPr>
          <p:cNvPr id="24" name="Shape 10">
            <a:extLst>
              <a:ext uri="{FF2B5EF4-FFF2-40B4-BE49-F238E27FC236}">
                <a16:creationId xmlns:a16="http://schemas.microsoft.com/office/drawing/2014/main" id="{7FF8FBDB-1D3C-B4D6-DC3D-4034252E3D9B}"/>
              </a:ext>
            </a:extLst>
          </p:cNvPr>
          <p:cNvSpPr/>
          <p:nvPr/>
        </p:nvSpPr>
        <p:spPr>
          <a:xfrm>
            <a:off x="596646" y="3832928"/>
            <a:ext cx="146304" cy="146304"/>
          </a:xfrm>
          <a:prstGeom prst="ellipse">
            <a:avLst/>
          </a:prstGeom>
          <a:solidFill>
            <a:srgbClr val="2D7FF9"/>
          </a:solidFill>
          <a:ln/>
        </p:spPr>
        <p:txBody>
          <a:bodyPr/>
          <a:lstStyle/>
          <a:p>
            <a:endParaRPr lang="en-US"/>
          </a:p>
        </p:txBody>
      </p:sp>
      <p:sp>
        <p:nvSpPr>
          <p:cNvPr id="25" name="Text 7">
            <a:extLst>
              <a:ext uri="{FF2B5EF4-FFF2-40B4-BE49-F238E27FC236}">
                <a16:creationId xmlns:a16="http://schemas.microsoft.com/office/drawing/2014/main" id="{862A945C-9489-D304-DCC0-7BC65F5547F5}"/>
              </a:ext>
            </a:extLst>
          </p:cNvPr>
          <p:cNvSpPr/>
          <p:nvPr/>
        </p:nvSpPr>
        <p:spPr>
          <a:xfrm>
            <a:off x="929175" y="4399788"/>
            <a:ext cx="4378036" cy="265176"/>
          </a:xfrm>
          <a:prstGeom prst="rect">
            <a:avLst/>
          </a:prstGeom>
          <a:noFill/>
          <a:ln/>
        </p:spPr>
        <p:txBody>
          <a:bodyPr wrap="square" lIns="0" tIns="0" rIns="0" bIns="0" rtlCol="0" anchor="t"/>
          <a:lstStyle/>
          <a:p>
            <a:pPr marL="0" indent="0">
              <a:lnSpc>
                <a:spcPct val="112000"/>
              </a:lnSpc>
              <a:buNone/>
            </a:pPr>
            <a:r>
              <a:rPr lang="en-US" sz="1300" dirty="0">
                <a:solidFill>
                  <a:srgbClr val="3A4866"/>
                </a:solidFill>
                <a:latin typeface="Calibri" pitchFamily="34" charset="0"/>
                <a:ea typeface="Calibri" pitchFamily="34" charset="-122"/>
                <a:cs typeface="Calibri" pitchFamily="34" charset="-120"/>
              </a:rPr>
              <a:t>latency, </a:t>
            </a:r>
          </a:p>
        </p:txBody>
      </p:sp>
      <p:sp>
        <p:nvSpPr>
          <p:cNvPr id="26" name="Shape 8">
            <a:extLst>
              <a:ext uri="{FF2B5EF4-FFF2-40B4-BE49-F238E27FC236}">
                <a16:creationId xmlns:a16="http://schemas.microsoft.com/office/drawing/2014/main" id="{D5DCA259-2590-917A-77E8-DB838F32B7F8}"/>
              </a:ext>
            </a:extLst>
          </p:cNvPr>
          <p:cNvSpPr/>
          <p:nvPr/>
        </p:nvSpPr>
        <p:spPr>
          <a:xfrm>
            <a:off x="596646" y="4753010"/>
            <a:ext cx="146304" cy="146304"/>
          </a:xfrm>
          <a:prstGeom prst="ellipse">
            <a:avLst/>
          </a:prstGeom>
          <a:solidFill>
            <a:srgbClr val="1FB6A6"/>
          </a:solidFill>
          <a:ln/>
        </p:spPr>
        <p:txBody>
          <a:bodyPr/>
          <a:lstStyle/>
          <a:p>
            <a:endParaRPr lang="en-US"/>
          </a:p>
        </p:txBody>
      </p:sp>
      <p:sp>
        <p:nvSpPr>
          <p:cNvPr id="27" name="Text 9">
            <a:extLst>
              <a:ext uri="{FF2B5EF4-FFF2-40B4-BE49-F238E27FC236}">
                <a16:creationId xmlns:a16="http://schemas.microsoft.com/office/drawing/2014/main" id="{54DD8A84-045C-A09F-48A9-026F347A37AF}"/>
              </a:ext>
            </a:extLst>
          </p:cNvPr>
          <p:cNvSpPr/>
          <p:nvPr/>
        </p:nvSpPr>
        <p:spPr>
          <a:xfrm>
            <a:off x="929175" y="4706482"/>
            <a:ext cx="7406640" cy="265176"/>
          </a:xfrm>
          <a:prstGeom prst="rect">
            <a:avLst/>
          </a:prstGeom>
          <a:noFill/>
          <a:ln/>
        </p:spPr>
        <p:txBody>
          <a:bodyPr wrap="square" lIns="0" tIns="0" rIns="0" bIns="0" rtlCol="0" anchor="t"/>
          <a:lstStyle/>
          <a:p>
            <a:pPr marL="0" indent="0">
              <a:lnSpc>
                <a:spcPct val="112000"/>
              </a:lnSpc>
              <a:buNone/>
            </a:pPr>
            <a:r>
              <a:rPr lang="en-US" sz="1300" dirty="0">
                <a:solidFill>
                  <a:srgbClr val="3A4866"/>
                </a:solidFill>
                <a:latin typeface="Calibri" pitchFamily="34" charset="0"/>
                <a:ea typeface="Calibri" pitchFamily="34" charset="-122"/>
                <a:cs typeface="Calibri" pitchFamily="34" charset="-120"/>
              </a:rPr>
              <a:t>token usage, </a:t>
            </a:r>
          </a:p>
        </p:txBody>
      </p:sp>
      <p:sp>
        <p:nvSpPr>
          <p:cNvPr id="28" name="Shape 10">
            <a:extLst>
              <a:ext uri="{FF2B5EF4-FFF2-40B4-BE49-F238E27FC236}">
                <a16:creationId xmlns:a16="http://schemas.microsoft.com/office/drawing/2014/main" id="{F91444C9-414A-D32E-2841-7FE6C7D415D8}"/>
              </a:ext>
            </a:extLst>
          </p:cNvPr>
          <p:cNvSpPr/>
          <p:nvPr/>
        </p:nvSpPr>
        <p:spPr>
          <a:xfrm>
            <a:off x="596646" y="4446316"/>
            <a:ext cx="146304" cy="146304"/>
          </a:xfrm>
          <a:prstGeom prst="ellipse">
            <a:avLst/>
          </a:prstGeom>
          <a:solidFill>
            <a:srgbClr val="2D7FF9"/>
          </a:solidFill>
          <a:ln/>
        </p:spPr>
        <p:txBody>
          <a:bodyPr/>
          <a:lstStyle/>
          <a:p>
            <a:endParaRPr lang="en-US"/>
          </a:p>
        </p:txBody>
      </p:sp>
      <p:sp>
        <p:nvSpPr>
          <p:cNvPr id="29" name="Text 7">
            <a:extLst>
              <a:ext uri="{FF2B5EF4-FFF2-40B4-BE49-F238E27FC236}">
                <a16:creationId xmlns:a16="http://schemas.microsoft.com/office/drawing/2014/main" id="{D0578DA9-8A1A-82FC-96E0-986941B573AC}"/>
              </a:ext>
            </a:extLst>
          </p:cNvPr>
          <p:cNvSpPr/>
          <p:nvPr/>
        </p:nvSpPr>
        <p:spPr>
          <a:xfrm>
            <a:off x="929175" y="5013176"/>
            <a:ext cx="4378036" cy="265176"/>
          </a:xfrm>
          <a:prstGeom prst="rect">
            <a:avLst/>
          </a:prstGeom>
          <a:noFill/>
          <a:ln/>
        </p:spPr>
        <p:txBody>
          <a:bodyPr wrap="square" lIns="0" tIns="0" rIns="0" bIns="0" rtlCol="0" anchor="t"/>
          <a:lstStyle/>
          <a:p>
            <a:pPr marL="0" indent="0">
              <a:lnSpc>
                <a:spcPct val="112000"/>
              </a:lnSpc>
              <a:buNone/>
            </a:pPr>
            <a:r>
              <a:rPr lang="en-US" sz="1300" dirty="0">
                <a:solidFill>
                  <a:srgbClr val="3A4866"/>
                </a:solidFill>
                <a:latin typeface="Calibri" pitchFamily="34" charset="0"/>
                <a:ea typeface="Calibri" pitchFamily="34" charset="-122"/>
                <a:cs typeface="Calibri" pitchFamily="34" charset="-120"/>
              </a:rPr>
              <a:t>failure across the workflow</a:t>
            </a:r>
          </a:p>
        </p:txBody>
      </p:sp>
      <p:sp>
        <p:nvSpPr>
          <p:cNvPr id="30" name="Shape 10">
            <a:extLst>
              <a:ext uri="{FF2B5EF4-FFF2-40B4-BE49-F238E27FC236}">
                <a16:creationId xmlns:a16="http://schemas.microsoft.com/office/drawing/2014/main" id="{9068EF86-1B11-8ACE-1D83-66B65BD5EAA5}"/>
              </a:ext>
            </a:extLst>
          </p:cNvPr>
          <p:cNvSpPr/>
          <p:nvPr/>
        </p:nvSpPr>
        <p:spPr>
          <a:xfrm>
            <a:off x="596646" y="5059702"/>
            <a:ext cx="146304" cy="146304"/>
          </a:xfrm>
          <a:prstGeom prst="ellipse">
            <a:avLst/>
          </a:prstGeom>
          <a:solidFill>
            <a:srgbClr val="2D7FF9"/>
          </a:solidFill>
          <a:ln/>
        </p:spPr>
        <p:txBody>
          <a:bodyPr/>
          <a:lstStyle/>
          <a:p>
            <a:endParaRPr lang="en-US"/>
          </a:p>
        </p:txBody>
      </p:sp>
    </p:spTree>
    <p:extLst>
      <p:ext uri="{BB962C8B-B14F-4D97-AF65-F5344CB8AC3E}">
        <p14:creationId xmlns:p14="http://schemas.microsoft.com/office/powerpoint/2010/main" val="34352376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5311B8D-BCB8-6650-08CE-AC5310E8188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092CD10-02FB-33BC-1A14-B4D82E412694}"/>
              </a:ext>
            </a:extLst>
          </p:cNvPr>
          <p:cNvPicPr>
            <a:picLocks noChangeAspect="1"/>
          </p:cNvPicPr>
          <p:nvPr/>
        </p:nvPicPr>
        <p:blipFill>
          <a:blip r:embed="rId3"/>
          <a:stretch>
            <a:fillRect/>
          </a:stretch>
        </p:blipFill>
        <p:spPr>
          <a:xfrm>
            <a:off x="731520" y="1351451"/>
            <a:ext cx="10693211" cy="5231813"/>
          </a:xfrm>
          <a:prstGeom prst="rect">
            <a:avLst/>
          </a:prstGeom>
          <a:ln>
            <a:solidFill>
              <a:schemeClr val="bg1"/>
            </a:solidFill>
          </a:ln>
        </p:spPr>
      </p:pic>
      <p:sp>
        <p:nvSpPr>
          <p:cNvPr id="2" name="Shape 0">
            <a:extLst>
              <a:ext uri="{FF2B5EF4-FFF2-40B4-BE49-F238E27FC236}">
                <a16:creationId xmlns:a16="http://schemas.microsoft.com/office/drawing/2014/main" id="{F3739B69-29C1-C843-3570-2B7A2FCB4A9C}"/>
              </a:ext>
            </a:extLst>
          </p:cNvPr>
          <p:cNvSpPr/>
          <p:nvPr/>
        </p:nvSpPr>
        <p:spPr>
          <a:xfrm>
            <a:off x="502920" y="548640"/>
            <a:ext cx="82296" cy="603504"/>
          </a:xfrm>
          <a:prstGeom prst="rect">
            <a:avLst/>
          </a:prstGeom>
          <a:solidFill>
            <a:srgbClr val="FE7202"/>
          </a:solidFill>
          <a:ln/>
        </p:spPr>
        <p:txBody>
          <a:bodyPr/>
          <a:lstStyle/>
          <a:p>
            <a:endParaRPr lang="en-US"/>
          </a:p>
        </p:txBody>
      </p:sp>
      <p:sp>
        <p:nvSpPr>
          <p:cNvPr id="3" name="Text 1">
            <a:extLst>
              <a:ext uri="{FF2B5EF4-FFF2-40B4-BE49-F238E27FC236}">
                <a16:creationId xmlns:a16="http://schemas.microsoft.com/office/drawing/2014/main" id="{25287E3A-A563-D88F-93AC-4A8099DCF54B}"/>
              </a:ext>
            </a:extLst>
          </p:cNvPr>
          <p:cNvSpPr/>
          <p:nvPr/>
        </p:nvSpPr>
        <p:spPr>
          <a:xfrm>
            <a:off x="731520" y="502920"/>
            <a:ext cx="10058400" cy="713232"/>
          </a:xfrm>
          <a:prstGeom prst="rect">
            <a:avLst/>
          </a:prstGeom>
          <a:noFill/>
          <a:ln/>
        </p:spPr>
        <p:txBody>
          <a:bodyPr wrap="square" lIns="0" tIns="0" rIns="0" bIns="0" rtlCol="0" anchor="ctr"/>
          <a:lstStyle/>
          <a:p>
            <a:pPr marL="0" indent="0">
              <a:buNone/>
            </a:pPr>
            <a:r>
              <a:rPr lang="en-US" sz="2900" b="1" dirty="0">
                <a:solidFill>
                  <a:srgbClr val="0F2247"/>
                </a:solidFill>
                <a:latin typeface="Arial" pitchFamily="34" charset="0"/>
                <a:ea typeface="Arial" pitchFamily="34" charset="-122"/>
                <a:cs typeface="Arial" pitchFamily="34" charset="-120"/>
              </a:rPr>
              <a:t>Layer 3: Agentic Trace</a:t>
            </a:r>
          </a:p>
        </p:txBody>
      </p:sp>
      <p:sp>
        <p:nvSpPr>
          <p:cNvPr id="4" name="Shape 2">
            <a:extLst>
              <a:ext uri="{FF2B5EF4-FFF2-40B4-BE49-F238E27FC236}">
                <a16:creationId xmlns:a16="http://schemas.microsoft.com/office/drawing/2014/main" id="{3517F71B-722F-7DC2-48DF-1B040F082A71}"/>
              </a:ext>
            </a:extLst>
          </p:cNvPr>
          <p:cNvSpPr/>
          <p:nvPr/>
        </p:nvSpPr>
        <p:spPr>
          <a:xfrm>
            <a:off x="502920" y="1325880"/>
            <a:ext cx="11183112" cy="27432"/>
          </a:xfrm>
          <a:prstGeom prst="rect">
            <a:avLst/>
          </a:prstGeom>
          <a:solidFill>
            <a:srgbClr val="FE7202"/>
          </a:solidFill>
          <a:ln/>
        </p:spPr>
        <p:txBody>
          <a:bodyPr/>
          <a:lstStyle/>
          <a:p>
            <a:endParaRPr lang="en-US"/>
          </a:p>
        </p:txBody>
      </p:sp>
      <p:sp>
        <p:nvSpPr>
          <p:cNvPr id="21" name="Text 18">
            <a:extLst>
              <a:ext uri="{FF2B5EF4-FFF2-40B4-BE49-F238E27FC236}">
                <a16:creationId xmlns:a16="http://schemas.microsoft.com/office/drawing/2014/main" id="{6654E91A-4771-2EC8-6718-B29C195983C1}"/>
              </a:ext>
            </a:extLst>
          </p:cNvPr>
          <p:cNvSpPr/>
          <p:nvPr/>
        </p:nvSpPr>
        <p:spPr>
          <a:xfrm>
            <a:off x="305" y="6428694"/>
            <a:ext cx="12191695" cy="320040"/>
          </a:xfrm>
          <a:prstGeom prst="rect">
            <a:avLst/>
          </a:prstGeom>
          <a:noFill/>
          <a:ln/>
        </p:spPr>
        <p:txBody>
          <a:bodyPr wrap="square" lIns="0" tIns="0" rIns="0" bIns="0" rtlCol="0" anchor="ctr"/>
          <a:lstStyle/>
          <a:p>
            <a:pPr marL="0" indent="0" algn="ctr">
              <a:buNone/>
            </a:pPr>
            <a:r>
              <a:rPr lang="en-US" sz="950" kern="0" spc="200">
                <a:solidFill>
                  <a:srgbClr val="8A93A8"/>
                </a:solidFill>
                <a:latin typeface="Arial" pitchFamily="34" charset="0"/>
                <a:ea typeface="Arial" pitchFamily="34" charset="-122"/>
                <a:cs typeface="Arial" pitchFamily="34" charset="-120"/>
              </a:rPr>
              <a:t>D A T A H A C K   S U M M I T   2 0 2 6</a:t>
            </a:r>
            <a:endParaRPr lang="en-US" sz="950"/>
          </a:p>
        </p:txBody>
      </p:sp>
      <p:pic>
        <p:nvPicPr>
          <p:cNvPr id="23" name="Picture 22" descr="preencoded.png">
            <a:extLst>
              <a:ext uri="{FF2B5EF4-FFF2-40B4-BE49-F238E27FC236}">
                <a16:creationId xmlns:a16="http://schemas.microsoft.com/office/drawing/2014/main" id="{C9424F72-3ED3-376C-C534-6BC110FBD615}"/>
              </a:ext>
            </a:extLst>
          </p:cNvPr>
          <p:cNvPicPr>
            <a:picLocks noChangeAspect="1"/>
          </p:cNvPicPr>
          <p:nvPr/>
        </p:nvPicPr>
        <p:blipFill>
          <a:blip r:embed="rId4"/>
          <a:srcRect b="-176"/>
          <a:stretch>
            <a:fillRect/>
          </a:stretch>
        </p:blipFill>
        <p:spPr>
          <a:xfrm>
            <a:off x="10792419" y="367621"/>
            <a:ext cx="852695" cy="852309"/>
          </a:xfrm>
          <a:prstGeom prst="rect">
            <a:avLst/>
          </a:prstGeom>
        </p:spPr>
      </p:pic>
    </p:spTree>
    <p:extLst>
      <p:ext uri="{BB962C8B-B14F-4D97-AF65-F5344CB8AC3E}">
        <p14:creationId xmlns:p14="http://schemas.microsoft.com/office/powerpoint/2010/main" val="10836367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B350434-6408-C77E-753F-89C221613A9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1B34F8C-080B-1BAF-A886-716F8525ECB0}"/>
              </a:ext>
            </a:extLst>
          </p:cNvPr>
          <p:cNvSpPr/>
          <p:nvPr/>
        </p:nvSpPr>
        <p:spPr>
          <a:xfrm>
            <a:off x="502920" y="548640"/>
            <a:ext cx="82296" cy="603504"/>
          </a:xfrm>
          <a:prstGeom prst="rect">
            <a:avLst/>
          </a:prstGeom>
          <a:solidFill>
            <a:srgbClr val="FE7202"/>
          </a:solidFill>
          <a:ln/>
        </p:spPr>
        <p:txBody>
          <a:bodyPr/>
          <a:lstStyle/>
          <a:p>
            <a:endParaRPr lang="en-US"/>
          </a:p>
        </p:txBody>
      </p:sp>
      <p:sp>
        <p:nvSpPr>
          <p:cNvPr id="3" name="Text 1">
            <a:extLst>
              <a:ext uri="{FF2B5EF4-FFF2-40B4-BE49-F238E27FC236}">
                <a16:creationId xmlns:a16="http://schemas.microsoft.com/office/drawing/2014/main" id="{5587583D-D33E-F11E-6916-E7BDAB1BE9E2}"/>
              </a:ext>
            </a:extLst>
          </p:cNvPr>
          <p:cNvSpPr/>
          <p:nvPr/>
        </p:nvSpPr>
        <p:spPr>
          <a:xfrm>
            <a:off x="731520" y="502920"/>
            <a:ext cx="10058400" cy="713232"/>
          </a:xfrm>
          <a:prstGeom prst="rect">
            <a:avLst/>
          </a:prstGeom>
          <a:noFill/>
          <a:ln/>
        </p:spPr>
        <p:txBody>
          <a:bodyPr wrap="square" lIns="0" tIns="0" rIns="0" bIns="0" rtlCol="0" anchor="ctr"/>
          <a:lstStyle/>
          <a:p>
            <a:pPr marL="0" indent="0">
              <a:buNone/>
            </a:pPr>
            <a:r>
              <a:rPr lang="en-US" sz="2900" b="1" dirty="0">
                <a:solidFill>
                  <a:srgbClr val="0F2247"/>
                </a:solidFill>
                <a:latin typeface="Arial" pitchFamily="34" charset="0"/>
                <a:ea typeface="Arial" pitchFamily="34" charset="-122"/>
                <a:cs typeface="Arial" pitchFamily="34" charset="-120"/>
              </a:rPr>
              <a:t>Layer 3: Agentic Trace</a:t>
            </a:r>
          </a:p>
        </p:txBody>
      </p:sp>
      <p:sp>
        <p:nvSpPr>
          <p:cNvPr id="4" name="Shape 2">
            <a:extLst>
              <a:ext uri="{FF2B5EF4-FFF2-40B4-BE49-F238E27FC236}">
                <a16:creationId xmlns:a16="http://schemas.microsoft.com/office/drawing/2014/main" id="{211742BA-49E2-9839-1B40-26950540814E}"/>
              </a:ext>
            </a:extLst>
          </p:cNvPr>
          <p:cNvSpPr/>
          <p:nvPr/>
        </p:nvSpPr>
        <p:spPr>
          <a:xfrm>
            <a:off x="502920" y="1325880"/>
            <a:ext cx="11183112" cy="27432"/>
          </a:xfrm>
          <a:prstGeom prst="rect">
            <a:avLst/>
          </a:prstGeom>
          <a:solidFill>
            <a:srgbClr val="FE7202"/>
          </a:solidFill>
          <a:ln/>
        </p:spPr>
        <p:txBody>
          <a:bodyPr/>
          <a:lstStyle/>
          <a:p>
            <a:endParaRPr lang="en-US"/>
          </a:p>
        </p:txBody>
      </p:sp>
      <p:sp>
        <p:nvSpPr>
          <p:cNvPr id="11" name="Text 7">
            <a:extLst>
              <a:ext uri="{FF2B5EF4-FFF2-40B4-BE49-F238E27FC236}">
                <a16:creationId xmlns:a16="http://schemas.microsoft.com/office/drawing/2014/main" id="{56B76F52-4E7B-4C90-ABC4-C53AD10DC20D}"/>
              </a:ext>
            </a:extLst>
          </p:cNvPr>
          <p:cNvSpPr/>
          <p:nvPr/>
        </p:nvSpPr>
        <p:spPr>
          <a:xfrm>
            <a:off x="0" y="6419088"/>
            <a:ext cx="12191695" cy="320040"/>
          </a:xfrm>
          <a:prstGeom prst="rect">
            <a:avLst/>
          </a:prstGeom>
          <a:noFill/>
          <a:ln/>
        </p:spPr>
        <p:txBody>
          <a:bodyPr wrap="square" lIns="0" tIns="0" rIns="0" bIns="0" rtlCol="0" anchor="ctr"/>
          <a:lstStyle/>
          <a:p>
            <a:pPr marL="0" indent="0" algn="ctr">
              <a:buNone/>
            </a:pPr>
            <a:r>
              <a:rPr lang="en-US" sz="950" kern="0" spc="200">
                <a:solidFill>
                  <a:srgbClr val="8A93A8"/>
                </a:solidFill>
                <a:latin typeface="Arial" pitchFamily="34" charset="0"/>
                <a:ea typeface="Arial" pitchFamily="34" charset="-122"/>
                <a:cs typeface="Arial" pitchFamily="34" charset="-120"/>
              </a:rPr>
              <a:t>D A T A H A C K   S U M M I T   2 0 2 6</a:t>
            </a:r>
            <a:endParaRPr lang="en-US" sz="950"/>
          </a:p>
        </p:txBody>
      </p:sp>
      <p:pic>
        <p:nvPicPr>
          <p:cNvPr id="12" name="Picture 11" descr="preencoded.png">
            <a:extLst>
              <a:ext uri="{FF2B5EF4-FFF2-40B4-BE49-F238E27FC236}">
                <a16:creationId xmlns:a16="http://schemas.microsoft.com/office/drawing/2014/main" id="{4B77290A-B9E8-647C-3415-CF010AC81DCE}"/>
              </a:ext>
            </a:extLst>
          </p:cNvPr>
          <p:cNvPicPr>
            <a:picLocks noChangeAspect="1"/>
          </p:cNvPicPr>
          <p:nvPr/>
        </p:nvPicPr>
        <p:blipFill>
          <a:blip r:embed="rId3"/>
          <a:srcRect b="-176"/>
          <a:stretch>
            <a:fillRect/>
          </a:stretch>
        </p:blipFill>
        <p:spPr>
          <a:xfrm>
            <a:off x="10792419" y="367621"/>
            <a:ext cx="852695" cy="852309"/>
          </a:xfrm>
          <a:prstGeom prst="rect">
            <a:avLst/>
          </a:prstGeom>
        </p:spPr>
      </p:pic>
      <p:sp>
        <p:nvSpPr>
          <p:cNvPr id="13" name="Text 3">
            <a:extLst>
              <a:ext uri="{FF2B5EF4-FFF2-40B4-BE49-F238E27FC236}">
                <a16:creationId xmlns:a16="http://schemas.microsoft.com/office/drawing/2014/main" id="{06D3A758-9A72-9456-CB7E-950D7BE456C5}"/>
              </a:ext>
            </a:extLst>
          </p:cNvPr>
          <p:cNvSpPr/>
          <p:nvPr/>
        </p:nvSpPr>
        <p:spPr>
          <a:xfrm>
            <a:off x="512064" y="1417320"/>
            <a:ext cx="8686800" cy="411480"/>
          </a:xfrm>
          <a:prstGeom prst="rect">
            <a:avLst/>
          </a:prstGeom>
          <a:noFill/>
          <a:ln/>
        </p:spPr>
        <p:txBody>
          <a:bodyPr wrap="square" lIns="0" tIns="0" rIns="0" bIns="0" rtlCol="0" anchor="ctr"/>
          <a:lstStyle/>
          <a:p>
            <a:pPr marL="0" indent="0">
              <a:buNone/>
            </a:pPr>
            <a:r>
              <a:rPr lang="en-US" sz="1350" i="1" dirty="0">
                <a:solidFill>
                  <a:srgbClr val="8A93A8"/>
                </a:solidFill>
                <a:latin typeface="Calibri" pitchFamily="34" charset="0"/>
                <a:ea typeface="Calibri" pitchFamily="34" charset="-122"/>
                <a:cs typeface="Calibri" pitchFamily="34" charset="-120"/>
              </a:rPr>
              <a:t>Three Pillars of Agentic Trace</a:t>
            </a:r>
          </a:p>
        </p:txBody>
      </p:sp>
      <p:graphicFrame>
        <p:nvGraphicFramePr>
          <p:cNvPr id="5" name="Table 4">
            <a:extLst>
              <a:ext uri="{FF2B5EF4-FFF2-40B4-BE49-F238E27FC236}">
                <a16:creationId xmlns:a16="http://schemas.microsoft.com/office/drawing/2014/main" id="{9498D3E3-FE91-BFEA-BFAA-850725C64412}"/>
              </a:ext>
            </a:extLst>
          </p:cNvPr>
          <p:cNvGraphicFramePr>
            <a:graphicFrameLocks noGrp="1"/>
          </p:cNvGraphicFramePr>
          <p:nvPr>
            <p:extLst>
              <p:ext uri="{D42A27DB-BD31-4B8C-83A1-F6EECF244321}">
                <p14:modId xmlns:p14="http://schemas.microsoft.com/office/powerpoint/2010/main" val="2989294582"/>
              </p:ext>
            </p:extLst>
          </p:nvPr>
        </p:nvGraphicFramePr>
        <p:xfrm>
          <a:off x="2042656" y="2782823"/>
          <a:ext cx="8106687" cy="1822519"/>
        </p:xfrm>
        <a:graphic>
          <a:graphicData uri="http://schemas.openxmlformats.org/drawingml/2006/table">
            <a:tbl>
              <a:tblPr firstRow="1" bandRow="1">
                <a:tableStyleId>{7DF18680-E054-41AD-8BC1-D1AEF772440D}</a:tableStyleId>
              </a:tblPr>
              <a:tblGrid>
                <a:gridCol w="2016279">
                  <a:extLst>
                    <a:ext uri="{9D8B030D-6E8A-4147-A177-3AD203B41FA5}">
                      <a16:colId xmlns:a16="http://schemas.microsoft.com/office/drawing/2014/main" val="2519038686"/>
                    </a:ext>
                  </a:extLst>
                </a:gridCol>
                <a:gridCol w="3388179">
                  <a:extLst>
                    <a:ext uri="{9D8B030D-6E8A-4147-A177-3AD203B41FA5}">
                      <a16:colId xmlns:a16="http://schemas.microsoft.com/office/drawing/2014/main" val="2198189585"/>
                    </a:ext>
                  </a:extLst>
                </a:gridCol>
                <a:gridCol w="2702229">
                  <a:extLst>
                    <a:ext uri="{9D8B030D-6E8A-4147-A177-3AD203B41FA5}">
                      <a16:colId xmlns:a16="http://schemas.microsoft.com/office/drawing/2014/main" val="617832198"/>
                    </a:ext>
                  </a:extLst>
                </a:gridCol>
              </a:tblGrid>
              <a:tr h="439059">
                <a:tc>
                  <a:txBody>
                    <a:bodyPr/>
                    <a:lstStyle/>
                    <a:p>
                      <a:pPr marL="0" algn="l" defTabSz="914400" rtl="0" eaLnBrk="1" latinLnBrk="0" hangingPunct="1"/>
                      <a:r>
                        <a:rPr lang="en-IN" sz="1600" b="1" kern="1200" dirty="0">
                          <a:solidFill>
                            <a:schemeClr val="lt1"/>
                          </a:solidFill>
                        </a:rPr>
                        <a:t>Pillar</a:t>
                      </a:r>
                      <a:endParaRPr lang="en-IN" sz="1600" b="1" kern="1200" dirty="0">
                        <a:solidFill>
                          <a:schemeClr val="lt1"/>
                        </a:solidFill>
                        <a:latin typeface="+mn-lt"/>
                        <a:ea typeface="+mn-ea"/>
                        <a:cs typeface="Poppins" panose="00000500000000000000" pitchFamily="2" charset="0"/>
                      </a:endParaRPr>
                    </a:p>
                  </a:txBody>
                  <a:tcPr anchor="ctr"/>
                </a:tc>
                <a:tc>
                  <a:txBody>
                    <a:bodyPr/>
                    <a:lstStyle/>
                    <a:p>
                      <a:pPr marL="0" algn="l" defTabSz="914400" rtl="0" eaLnBrk="1" latinLnBrk="0" hangingPunct="1"/>
                      <a:r>
                        <a:rPr lang="en-IN" sz="1600" b="1" kern="1200" dirty="0">
                          <a:solidFill>
                            <a:schemeClr val="lt1"/>
                          </a:solidFill>
                        </a:rPr>
                        <a:t>Best for</a:t>
                      </a:r>
                      <a:endParaRPr lang="en-IN" sz="1600" b="1" kern="1200" dirty="0">
                        <a:solidFill>
                          <a:schemeClr val="lt1"/>
                        </a:solidFill>
                        <a:latin typeface="+mn-lt"/>
                        <a:ea typeface="+mn-ea"/>
                        <a:cs typeface="Poppins" panose="00000500000000000000" pitchFamily="2" charset="0"/>
                      </a:endParaRPr>
                    </a:p>
                  </a:txBody>
                  <a:tcPr anchor="ctr"/>
                </a:tc>
                <a:tc>
                  <a:txBody>
                    <a:bodyPr/>
                    <a:lstStyle/>
                    <a:p>
                      <a:pPr marL="0" algn="l" defTabSz="914400" rtl="0" eaLnBrk="1" latinLnBrk="0" hangingPunct="1"/>
                      <a:r>
                        <a:rPr lang="en-IN" sz="1600" b="1" kern="1200" dirty="0">
                          <a:solidFill>
                            <a:schemeClr val="lt1"/>
                          </a:solidFill>
                        </a:rPr>
                        <a:t>For agents?</a:t>
                      </a:r>
                      <a:endParaRPr lang="en-IN" sz="1600" b="1" kern="1200" dirty="0">
                        <a:solidFill>
                          <a:schemeClr val="lt1"/>
                        </a:solidFill>
                        <a:latin typeface="+mn-lt"/>
                        <a:ea typeface="+mn-ea"/>
                        <a:cs typeface="Poppins" panose="00000500000000000000" pitchFamily="2" charset="0"/>
                      </a:endParaRPr>
                    </a:p>
                  </a:txBody>
                  <a:tcPr anchor="ctr"/>
                </a:tc>
                <a:extLst>
                  <a:ext uri="{0D108BD9-81ED-4DB2-BD59-A6C34878D82A}">
                    <a16:rowId xmlns:a16="http://schemas.microsoft.com/office/drawing/2014/main" val="2644935222"/>
                  </a:ext>
                </a:extLst>
              </a:tr>
              <a:tr h="505342">
                <a:tc>
                  <a:txBody>
                    <a:bodyPr/>
                    <a:lstStyle/>
                    <a:p>
                      <a:pPr marL="0" algn="l" defTabSz="914400" rtl="0" eaLnBrk="1" latinLnBrk="0" hangingPunct="1"/>
                      <a:r>
                        <a:rPr lang="en-IN" sz="1600" b="0" kern="1200" dirty="0">
                          <a:solidFill>
                            <a:schemeClr val="tx1"/>
                          </a:solidFill>
                        </a:rPr>
                        <a:t>Logs</a:t>
                      </a:r>
                      <a:endParaRPr lang="en-IN" sz="1600" b="0" kern="1200" dirty="0">
                        <a:solidFill>
                          <a:schemeClr val="tx1"/>
                        </a:solidFill>
                        <a:latin typeface="+mn-lt"/>
                        <a:ea typeface="+mn-ea"/>
                        <a:cs typeface="Poppins" panose="00000500000000000000" pitchFamily="2" charset="0"/>
                      </a:endParaRPr>
                    </a:p>
                  </a:txBody>
                  <a:tcPr anchor="ctr"/>
                </a:tc>
                <a:tc>
                  <a:txBody>
                    <a:bodyPr/>
                    <a:lstStyle/>
                    <a:p>
                      <a:pPr marL="0" algn="l" defTabSz="914400" rtl="0" eaLnBrk="1" latinLnBrk="0" hangingPunct="1"/>
                      <a:r>
                        <a:rPr lang="en-IN" sz="1600" b="0" kern="1200" dirty="0">
                          <a:solidFill>
                            <a:schemeClr val="tx1"/>
                          </a:solidFill>
                        </a:rPr>
                        <a:t>Human-readable text</a:t>
                      </a:r>
                      <a:endParaRPr lang="en-IN" sz="1600" b="0" kern="1200" dirty="0">
                        <a:solidFill>
                          <a:schemeClr val="tx1"/>
                        </a:solidFill>
                        <a:latin typeface="+mn-lt"/>
                        <a:ea typeface="+mn-ea"/>
                        <a:cs typeface="Poppins" panose="00000500000000000000" pitchFamily="2"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600" b="0" kern="1200" dirty="0">
                          <a:solidFill>
                            <a:schemeClr val="tx1"/>
                          </a:solidFill>
                          <a:sym typeface="Arial"/>
                        </a:rPr>
                        <a:t>⚠ Hard to correlate</a:t>
                      </a:r>
                      <a:endParaRPr lang="en-IN" sz="1600" b="0" kern="1200" dirty="0">
                        <a:solidFill>
                          <a:schemeClr val="tx1"/>
                        </a:solidFill>
                        <a:latin typeface="+mn-lt"/>
                        <a:ea typeface="+mn-ea"/>
                        <a:cs typeface="Poppins" panose="00000500000000000000" pitchFamily="2" charset="0"/>
                        <a:sym typeface="Arial"/>
                      </a:endParaRPr>
                    </a:p>
                  </a:txBody>
                  <a:tcPr anchor="ctr"/>
                </a:tc>
                <a:extLst>
                  <a:ext uri="{0D108BD9-81ED-4DB2-BD59-A6C34878D82A}">
                    <a16:rowId xmlns:a16="http://schemas.microsoft.com/office/drawing/2014/main" val="1926330804"/>
                  </a:ext>
                </a:extLst>
              </a:tr>
              <a:tr h="439059">
                <a:tc>
                  <a:txBody>
                    <a:bodyPr/>
                    <a:lstStyle/>
                    <a:p>
                      <a:pPr marL="0" algn="l" defTabSz="914400" rtl="0" eaLnBrk="1" latinLnBrk="0" hangingPunct="1"/>
                      <a:r>
                        <a:rPr lang="en-IN" sz="1600" b="0" kern="1200" dirty="0">
                          <a:solidFill>
                            <a:schemeClr val="tx1"/>
                          </a:solidFill>
                        </a:rPr>
                        <a:t>Metrics</a:t>
                      </a:r>
                      <a:endParaRPr lang="en-IN" sz="1600" b="0" kern="1200" dirty="0">
                        <a:solidFill>
                          <a:schemeClr val="tx1"/>
                        </a:solidFill>
                        <a:latin typeface="+mn-lt"/>
                        <a:ea typeface="+mn-ea"/>
                        <a:cs typeface="Poppins" panose="00000500000000000000" pitchFamily="2" charset="0"/>
                      </a:endParaRPr>
                    </a:p>
                  </a:txBody>
                  <a:tcPr anchor="ctr"/>
                </a:tc>
                <a:tc>
                  <a:txBody>
                    <a:bodyPr/>
                    <a:lstStyle/>
                    <a:p>
                      <a:pPr marL="0" algn="l" defTabSz="914400" rtl="0" eaLnBrk="1" latinLnBrk="0" hangingPunct="1"/>
                      <a:r>
                        <a:rPr lang="en-IN" sz="1600" b="0" kern="1200" dirty="0">
                          <a:solidFill>
                            <a:schemeClr val="tx1"/>
                          </a:solidFill>
                        </a:rPr>
                        <a:t>Aggregates, alerts</a:t>
                      </a:r>
                      <a:endParaRPr lang="en-IN" sz="1600" b="0" kern="1200" dirty="0">
                        <a:solidFill>
                          <a:schemeClr val="tx1"/>
                        </a:solidFill>
                        <a:latin typeface="+mn-lt"/>
                        <a:ea typeface="+mn-ea"/>
                        <a:cs typeface="Poppins" panose="00000500000000000000" pitchFamily="2"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600" b="0" kern="1200" dirty="0">
                          <a:solidFill>
                            <a:schemeClr val="tx1"/>
                          </a:solidFill>
                          <a:sym typeface="Arial"/>
                        </a:rPr>
                        <a:t>⚠ Lose causality</a:t>
                      </a:r>
                      <a:endParaRPr lang="en-IN" sz="1600" b="0" kern="1200" dirty="0">
                        <a:solidFill>
                          <a:schemeClr val="tx1"/>
                        </a:solidFill>
                        <a:latin typeface="+mn-lt"/>
                        <a:ea typeface="+mn-ea"/>
                        <a:cs typeface="Poppins" panose="00000500000000000000" pitchFamily="2" charset="0"/>
                        <a:sym typeface="Arial"/>
                      </a:endParaRPr>
                    </a:p>
                  </a:txBody>
                  <a:tcPr anchor="ctr"/>
                </a:tc>
                <a:extLst>
                  <a:ext uri="{0D108BD9-81ED-4DB2-BD59-A6C34878D82A}">
                    <a16:rowId xmlns:a16="http://schemas.microsoft.com/office/drawing/2014/main" val="1936708344"/>
                  </a:ext>
                </a:extLst>
              </a:tr>
              <a:tr h="439059">
                <a:tc>
                  <a:txBody>
                    <a:bodyPr/>
                    <a:lstStyle/>
                    <a:p>
                      <a:pPr marL="0" algn="l" defTabSz="914400" rtl="0" eaLnBrk="1" latinLnBrk="0" hangingPunct="1"/>
                      <a:r>
                        <a:rPr lang="en-IN" sz="1600" b="0" kern="1200" dirty="0">
                          <a:solidFill>
                            <a:schemeClr val="tx1"/>
                          </a:solidFill>
                        </a:rPr>
                        <a:t>Trace</a:t>
                      </a:r>
                      <a:endParaRPr lang="en-IN" sz="1600" b="0" kern="1200" dirty="0">
                        <a:solidFill>
                          <a:schemeClr val="tx1"/>
                        </a:solidFill>
                        <a:latin typeface="+mn-lt"/>
                        <a:ea typeface="+mn-ea"/>
                        <a:cs typeface="Poppins" panose="00000500000000000000" pitchFamily="2" charset="0"/>
                      </a:endParaRPr>
                    </a:p>
                  </a:txBody>
                  <a:tcPr anchor="ctr"/>
                </a:tc>
                <a:tc>
                  <a:txBody>
                    <a:bodyPr/>
                    <a:lstStyle/>
                    <a:p>
                      <a:pPr marL="0" algn="l" defTabSz="914400" rtl="0" eaLnBrk="1" latinLnBrk="0" hangingPunct="1"/>
                      <a:r>
                        <a:rPr lang="en-IN" sz="1600" b="0" kern="1200" dirty="0">
                          <a:solidFill>
                            <a:schemeClr val="tx1"/>
                          </a:solidFill>
                        </a:rPr>
                        <a:t>Causal Trees</a:t>
                      </a:r>
                      <a:endParaRPr lang="en-IN" sz="1600" b="0" kern="1200" dirty="0">
                        <a:solidFill>
                          <a:schemeClr val="tx1"/>
                        </a:solidFill>
                        <a:latin typeface="+mn-lt"/>
                        <a:ea typeface="+mn-ea"/>
                        <a:cs typeface="Poppins" panose="00000500000000000000" pitchFamily="2"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600" b="0" kern="1200" dirty="0">
                          <a:solidFill>
                            <a:schemeClr val="tx1"/>
                          </a:solidFill>
                          <a:sym typeface="Arial"/>
                        </a:rPr>
                        <a:t>✅ Non-negotiable</a:t>
                      </a:r>
                      <a:endParaRPr lang="en-IN" sz="1600" b="0" kern="1200" dirty="0">
                        <a:solidFill>
                          <a:schemeClr val="tx1"/>
                        </a:solidFill>
                        <a:latin typeface="+mn-lt"/>
                        <a:ea typeface="+mn-ea"/>
                        <a:cs typeface="Poppins" panose="00000500000000000000" pitchFamily="2" charset="0"/>
                        <a:sym typeface="Arial"/>
                      </a:endParaRPr>
                    </a:p>
                  </a:txBody>
                  <a:tcPr anchor="ctr"/>
                </a:tc>
                <a:extLst>
                  <a:ext uri="{0D108BD9-81ED-4DB2-BD59-A6C34878D82A}">
                    <a16:rowId xmlns:a16="http://schemas.microsoft.com/office/drawing/2014/main" val="340159618"/>
                  </a:ext>
                </a:extLst>
              </a:tr>
            </a:tbl>
          </a:graphicData>
        </a:graphic>
      </p:graphicFrame>
      <p:sp>
        <p:nvSpPr>
          <p:cNvPr id="6" name="Text 5">
            <a:extLst>
              <a:ext uri="{FF2B5EF4-FFF2-40B4-BE49-F238E27FC236}">
                <a16:creationId xmlns:a16="http://schemas.microsoft.com/office/drawing/2014/main" id="{2813CEC3-5401-B0F4-A47B-7CCC667B2998}"/>
              </a:ext>
            </a:extLst>
          </p:cNvPr>
          <p:cNvSpPr/>
          <p:nvPr/>
        </p:nvSpPr>
        <p:spPr>
          <a:xfrm>
            <a:off x="1730294" y="5559365"/>
            <a:ext cx="8728364" cy="259195"/>
          </a:xfrm>
          <a:prstGeom prst="rect">
            <a:avLst/>
          </a:prstGeom>
          <a:noFill/>
          <a:ln/>
        </p:spPr>
        <p:txBody>
          <a:bodyPr wrap="square" lIns="0" tIns="0" rIns="0" bIns="0" rtlCol="0" anchor="t"/>
          <a:lstStyle/>
          <a:p>
            <a:pPr marL="0" indent="0" algn="ctr">
              <a:lnSpc>
                <a:spcPct val="112000"/>
              </a:lnSpc>
              <a:buNone/>
            </a:pPr>
            <a:r>
              <a:rPr lang="en-US" sz="1600" dirty="0">
                <a:solidFill>
                  <a:srgbClr val="0F2247"/>
                </a:solidFill>
                <a:latin typeface="Calibri" pitchFamily="34" charset="0"/>
                <a:ea typeface="Calibri" pitchFamily="34" charset="-122"/>
                <a:cs typeface="Calibri" pitchFamily="34" charset="-120"/>
              </a:rPr>
              <a:t>For agents,</a:t>
            </a:r>
            <a:r>
              <a:rPr lang="en-US" sz="1600" b="1" dirty="0">
                <a:solidFill>
                  <a:srgbClr val="0F2247"/>
                </a:solidFill>
                <a:latin typeface="Calibri" pitchFamily="34" charset="0"/>
                <a:ea typeface="Calibri" pitchFamily="34" charset="-122"/>
                <a:cs typeface="Calibri" pitchFamily="34" charset="-120"/>
              </a:rPr>
              <a:t> traces are primarily important. </a:t>
            </a:r>
            <a:r>
              <a:rPr lang="en-US" sz="1600" dirty="0">
                <a:solidFill>
                  <a:srgbClr val="0F2247"/>
                </a:solidFill>
                <a:latin typeface="Calibri" pitchFamily="34" charset="0"/>
                <a:ea typeface="Calibri" pitchFamily="34" charset="-122"/>
                <a:cs typeface="Calibri" pitchFamily="34" charset="-120"/>
              </a:rPr>
              <a:t>Logs and metrics are derived views.</a:t>
            </a:r>
          </a:p>
        </p:txBody>
      </p:sp>
    </p:spTree>
    <p:extLst>
      <p:ext uri="{BB962C8B-B14F-4D97-AF65-F5344CB8AC3E}">
        <p14:creationId xmlns:p14="http://schemas.microsoft.com/office/powerpoint/2010/main" val="5220029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07FB220-097D-1D5C-BB0F-7A640E8C6AE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48A9EF3-DB3F-F52D-3E56-269ED5F86B41}"/>
              </a:ext>
            </a:extLst>
          </p:cNvPr>
          <p:cNvSpPr/>
          <p:nvPr/>
        </p:nvSpPr>
        <p:spPr>
          <a:xfrm>
            <a:off x="502920" y="548640"/>
            <a:ext cx="82296" cy="603504"/>
          </a:xfrm>
          <a:prstGeom prst="rect">
            <a:avLst/>
          </a:prstGeom>
          <a:solidFill>
            <a:srgbClr val="FE7202"/>
          </a:solidFill>
          <a:ln/>
        </p:spPr>
        <p:txBody>
          <a:bodyPr/>
          <a:lstStyle/>
          <a:p>
            <a:endParaRPr lang="en-US"/>
          </a:p>
        </p:txBody>
      </p:sp>
      <p:sp>
        <p:nvSpPr>
          <p:cNvPr id="3" name="Text 1">
            <a:extLst>
              <a:ext uri="{FF2B5EF4-FFF2-40B4-BE49-F238E27FC236}">
                <a16:creationId xmlns:a16="http://schemas.microsoft.com/office/drawing/2014/main" id="{61B56A64-3B79-2E6A-B65A-14264E7D9A22}"/>
              </a:ext>
            </a:extLst>
          </p:cNvPr>
          <p:cNvSpPr/>
          <p:nvPr/>
        </p:nvSpPr>
        <p:spPr>
          <a:xfrm>
            <a:off x="731520" y="502920"/>
            <a:ext cx="10058400" cy="713232"/>
          </a:xfrm>
          <a:prstGeom prst="rect">
            <a:avLst/>
          </a:prstGeom>
          <a:noFill/>
          <a:ln/>
        </p:spPr>
        <p:txBody>
          <a:bodyPr wrap="square" lIns="0" tIns="0" rIns="0" bIns="0" rtlCol="0" anchor="ctr"/>
          <a:lstStyle/>
          <a:p>
            <a:pPr marL="0" indent="0">
              <a:buNone/>
            </a:pPr>
            <a:r>
              <a:rPr lang="en-US" sz="2900" b="1" dirty="0">
                <a:solidFill>
                  <a:srgbClr val="0F2247"/>
                </a:solidFill>
                <a:latin typeface="Arial" pitchFamily="34" charset="0"/>
                <a:ea typeface="Arial" pitchFamily="34" charset="-122"/>
                <a:cs typeface="Arial" pitchFamily="34" charset="-120"/>
              </a:rPr>
              <a:t>Layer 3: Agentic Trace</a:t>
            </a:r>
          </a:p>
        </p:txBody>
      </p:sp>
      <p:sp>
        <p:nvSpPr>
          <p:cNvPr id="4" name="Shape 2">
            <a:extLst>
              <a:ext uri="{FF2B5EF4-FFF2-40B4-BE49-F238E27FC236}">
                <a16:creationId xmlns:a16="http://schemas.microsoft.com/office/drawing/2014/main" id="{CA44C98E-05CB-5AB1-7A45-721E45A81A17}"/>
              </a:ext>
            </a:extLst>
          </p:cNvPr>
          <p:cNvSpPr/>
          <p:nvPr/>
        </p:nvSpPr>
        <p:spPr>
          <a:xfrm>
            <a:off x="502920" y="1325880"/>
            <a:ext cx="11183112" cy="27432"/>
          </a:xfrm>
          <a:prstGeom prst="rect">
            <a:avLst/>
          </a:prstGeom>
          <a:solidFill>
            <a:srgbClr val="FE7202"/>
          </a:solidFill>
          <a:ln/>
        </p:spPr>
        <p:txBody>
          <a:bodyPr/>
          <a:lstStyle/>
          <a:p>
            <a:endParaRPr lang="en-US"/>
          </a:p>
        </p:txBody>
      </p:sp>
      <p:sp>
        <p:nvSpPr>
          <p:cNvPr id="7" name="Text 5">
            <a:extLst>
              <a:ext uri="{FF2B5EF4-FFF2-40B4-BE49-F238E27FC236}">
                <a16:creationId xmlns:a16="http://schemas.microsoft.com/office/drawing/2014/main" id="{4D862B75-81B4-6729-919A-3FA0A3F7EB33}"/>
              </a:ext>
            </a:extLst>
          </p:cNvPr>
          <p:cNvSpPr/>
          <p:nvPr/>
        </p:nvSpPr>
        <p:spPr>
          <a:xfrm>
            <a:off x="544068" y="1736456"/>
            <a:ext cx="4378037" cy="320040"/>
          </a:xfrm>
          <a:prstGeom prst="rect">
            <a:avLst/>
          </a:prstGeom>
          <a:noFill/>
          <a:ln/>
        </p:spPr>
        <p:txBody>
          <a:bodyPr wrap="square" lIns="0" tIns="0" rIns="0" bIns="0" rtlCol="0" anchor="t"/>
          <a:lstStyle/>
          <a:p>
            <a:pPr marL="0" indent="0">
              <a:lnSpc>
                <a:spcPct val="112000"/>
              </a:lnSpc>
              <a:buNone/>
            </a:pPr>
            <a:r>
              <a:rPr lang="en-US" sz="1600" b="1" dirty="0">
                <a:solidFill>
                  <a:srgbClr val="0F2247"/>
                </a:solidFill>
                <a:latin typeface="Calibri" pitchFamily="34" charset="0"/>
                <a:ea typeface="Calibri" pitchFamily="34" charset="-122"/>
                <a:cs typeface="Calibri" pitchFamily="34" charset="-120"/>
              </a:rPr>
              <a:t>Components of Agentic Trace:</a:t>
            </a:r>
          </a:p>
        </p:txBody>
      </p:sp>
      <p:sp>
        <p:nvSpPr>
          <p:cNvPr id="21" name="Text 18">
            <a:extLst>
              <a:ext uri="{FF2B5EF4-FFF2-40B4-BE49-F238E27FC236}">
                <a16:creationId xmlns:a16="http://schemas.microsoft.com/office/drawing/2014/main" id="{60E520C1-5EDD-AE61-F3A1-062012311F7F}"/>
              </a:ext>
            </a:extLst>
          </p:cNvPr>
          <p:cNvSpPr/>
          <p:nvPr/>
        </p:nvSpPr>
        <p:spPr>
          <a:xfrm>
            <a:off x="305" y="6428694"/>
            <a:ext cx="12191695" cy="320040"/>
          </a:xfrm>
          <a:prstGeom prst="rect">
            <a:avLst/>
          </a:prstGeom>
          <a:noFill/>
          <a:ln/>
        </p:spPr>
        <p:txBody>
          <a:bodyPr wrap="square" lIns="0" tIns="0" rIns="0" bIns="0" rtlCol="0" anchor="ctr"/>
          <a:lstStyle/>
          <a:p>
            <a:pPr marL="0" indent="0" algn="ctr">
              <a:buNone/>
            </a:pPr>
            <a:r>
              <a:rPr lang="en-US" sz="950" kern="0" spc="200">
                <a:solidFill>
                  <a:srgbClr val="8A93A8"/>
                </a:solidFill>
                <a:latin typeface="Arial" pitchFamily="34" charset="0"/>
                <a:ea typeface="Arial" pitchFamily="34" charset="-122"/>
                <a:cs typeface="Arial" pitchFamily="34" charset="-120"/>
              </a:rPr>
              <a:t>D A T A H A C K   S U M M I T   2 0 2 6</a:t>
            </a:r>
            <a:endParaRPr lang="en-US" sz="950"/>
          </a:p>
        </p:txBody>
      </p:sp>
      <p:pic>
        <p:nvPicPr>
          <p:cNvPr id="23" name="Picture 22" descr="preencoded.png">
            <a:extLst>
              <a:ext uri="{FF2B5EF4-FFF2-40B4-BE49-F238E27FC236}">
                <a16:creationId xmlns:a16="http://schemas.microsoft.com/office/drawing/2014/main" id="{0AEE0E50-18E1-2309-426C-4BA37059F95B}"/>
              </a:ext>
            </a:extLst>
          </p:cNvPr>
          <p:cNvPicPr>
            <a:picLocks noChangeAspect="1"/>
          </p:cNvPicPr>
          <p:nvPr/>
        </p:nvPicPr>
        <p:blipFill>
          <a:blip r:embed="rId3"/>
          <a:srcRect b="-176"/>
          <a:stretch>
            <a:fillRect/>
          </a:stretch>
        </p:blipFill>
        <p:spPr>
          <a:xfrm>
            <a:off x="10792419" y="367621"/>
            <a:ext cx="852695" cy="852309"/>
          </a:xfrm>
          <a:prstGeom prst="rect">
            <a:avLst/>
          </a:prstGeom>
        </p:spPr>
      </p:pic>
      <p:pic>
        <p:nvPicPr>
          <p:cNvPr id="5" name="Picture 4">
            <a:extLst>
              <a:ext uri="{FF2B5EF4-FFF2-40B4-BE49-F238E27FC236}">
                <a16:creationId xmlns:a16="http://schemas.microsoft.com/office/drawing/2014/main" id="{7FCDDC21-9112-A029-8FCB-7DD2BBF65E9A}"/>
              </a:ext>
            </a:extLst>
          </p:cNvPr>
          <p:cNvPicPr>
            <a:picLocks noChangeAspect="1"/>
          </p:cNvPicPr>
          <p:nvPr/>
        </p:nvPicPr>
        <p:blipFill>
          <a:blip r:embed="rId4"/>
          <a:stretch>
            <a:fillRect/>
          </a:stretch>
        </p:blipFill>
        <p:spPr>
          <a:xfrm>
            <a:off x="3628022" y="1516193"/>
            <a:ext cx="8017092" cy="4570985"/>
          </a:xfrm>
          <a:prstGeom prst="rect">
            <a:avLst/>
          </a:prstGeom>
          <a:ln>
            <a:solidFill>
              <a:schemeClr val="bg1"/>
            </a:solidFill>
          </a:ln>
        </p:spPr>
      </p:pic>
      <p:sp>
        <p:nvSpPr>
          <p:cNvPr id="8" name="Shape 4">
            <a:extLst>
              <a:ext uri="{FF2B5EF4-FFF2-40B4-BE49-F238E27FC236}">
                <a16:creationId xmlns:a16="http://schemas.microsoft.com/office/drawing/2014/main" id="{03B6B08E-850A-FAFB-E07C-4B616B805F4F}"/>
              </a:ext>
            </a:extLst>
          </p:cNvPr>
          <p:cNvSpPr/>
          <p:nvPr/>
        </p:nvSpPr>
        <p:spPr>
          <a:xfrm>
            <a:off x="566928" y="2444865"/>
            <a:ext cx="146304" cy="146304"/>
          </a:xfrm>
          <a:prstGeom prst="ellipse">
            <a:avLst/>
          </a:prstGeom>
          <a:solidFill>
            <a:srgbClr val="1FB6A6"/>
          </a:solidFill>
          <a:ln/>
        </p:spPr>
        <p:txBody>
          <a:bodyPr/>
          <a:lstStyle/>
          <a:p>
            <a:endParaRPr lang="en-US"/>
          </a:p>
        </p:txBody>
      </p:sp>
      <p:sp>
        <p:nvSpPr>
          <p:cNvPr id="12" name="Text 5">
            <a:extLst>
              <a:ext uri="{FF2B5EF4-FFF2-40B4-BE49-F238E27FC236}">
                <a16:creationId xmlns:a16="http://schemas.microsoft.com/office/drawing/2014/main" id="{A58FCB14-C62B-6CE5-630E-5287A9D8DBDA}"/>
              </a:ext>
            </a:extLst>
          </p:cNvPr>
          <p:cNvSpPr/>
          <p:nvPr/>
        </p:nvSpPr>
        <p:spPr>
          <a:xfrm>
            <a:off x="914400" y="2325993"/>
            <a:ext cx="7406640" cy="868680"/>
          </a:xfrm>
          <a:prstGeom prst="rect">
            <a:avLst/>
          </a:prstGeom>
          <a:noFill/>
          <a:ln/>
        </p:spPr>
        <p:txBody>
          <a:bodyPr wrap="square" lIns="0" tIns="0" rIns="0" bIns="0" rtlCol="0" anchor="t"/>
          <a:lstStyle/>
          <a:p>
            <a:pPr marL="0" indent="0">
              <a:lnSpc>
                <a:spcPct val="112000"/>
              </a:lnSpc>
              <a:buNone/>
            </a:pPr>
            <a:r>
              <a:rPr lang="en-US" sz="1600" b="1" dirty="0">
                <a:solidFill>
                  <a:srgbClr val="0F2247"/>
                </a:solidFill>
                <a:latin typeface="Calibri" pitchFamily="34" charset="0"/>
                <a:ea typeface="Calibri" pitchFamily="34" charset="-122"/>
                <a:cs typeface="Calibri" pitchFamily="34" charset="-120"/>
              </a:rPr>
              <a:t>Identity:
</a:t>
            </a:r>
            <a:r>
              <a:rPr lang="en-US" sz="1300" dirty="0" err="1">
                <a:solidFill>
                  <a:srgbClr val="3A4866"/>
                </a:solidFill>
                <a:latin typeface="Calibri" pitchFamily="34" charset="0"/>
                <a:ea typeface="Calibri" pitchFamily="34" charset="-122"/>
                <a:cs typeface="Calibri" pitchFamily="34" charset="-120"/>
              </a:rPr>
              <a:t>trace_id</a:t>
            </a:r>
            <a:r>
              <a:rPr lang="en-US" sz="1300" dirty="0">
                <a:solidFill>
                  <a:srgbClr val="3A4866"/>
                </a:solidFill>
                <a:latin typeface="Calibri" pitchFamily="34" charset="0"/>
                <a:ea typeface="Calibri" pitchFamily="34" charset="-122"/>
                <a:cs typeface="Calibri" pitchFamily="34" charset="-120"/>
              </a:rPr>
              <a:t>, </a:t>
            </a:r>
            <a:r>
              <a:rPr lang="en-US" sz="1300" dirty="0" err="1">
                <a:solidFill>
                  <a:srgbClr val="3A4866"/>
                </a:solidFill>
                <a:latin typeface="Calibri" pitchFamily="34" charset="0"/>
                <a:ea typeface="Calibri" pitchFamily="34" charset="-122"/>
                <a:cs typeface="Calibri" pitchFamily="34" charset="-120"/>
              </a:rPr>
              <a:t>span_id</a:t>
            </a:r>
            <a:r>
              <a:rPr lang="en-US" sz="1300" dirty="0">
                <a:solidFill>
                  <a:srgbClr val="3A4866"/>
                </a:solidFill>
                <a:latin typeface="Calibri" pitchFamily="34" charset="0"/>
                <a:ea typeface="Calibri" pitchFamily="34" charset="-122"/>
                <a:cs typeface="Calibri" pitchFamily="34" charset="-120"/>
              </a:rPr>
              <a:t>, </a:t>
            </a:r>
            <a:r>
              <a:rPr lang="en-US" sz="1300" dirty="0" err="1">
                <a:solidFill>
                  <a:srgbClr val="3A4866"/>
                </a:solidFill>
                <a:latin typeface="Calibri" pitchFamily="34" charset="0"/>
                <a:ea typeface="Calibri" pitchFamily="34" charset="-122"/>
                <a:cs typeface="Calibri" pitchFamily="34" charset="-120"/>
              </a:rPr>
              <a:t>parent_span_id</a:t>
            </a:r>
            <a:endParaRPr lang="en-US" sz="1300" dirty="0">
              <a:solidFill>
                <a:srgbClr val="3A4866"/>
              </a:solidFill>
              <a:latin typeface="Calibri" pitchFamily="34" charset="0"/>
              <a:ea typeface="Calibri" pitchFamily="34" charset="-122"/>
              <a:cs typeface="Calibri" pitchFamily="34" charset="-120"/>
            </a:endParaRPr>
          </a:p>
        </p:txBody>
      </p:sp>
      <p:sp>
        <p:nvSpPr>
          <p:cNvPr id="13" name="Shape 6">
            <a:extLst>
              <a:ext uri="{FF2B5EF4-FFF2-40B4-BE49-F238E27FC236}">
                <a16:creationId xmlns:a16="http://schemas.microsoft.com/office/drawing/2014/main" id="{2963C239-DEC4-197B-AE56-23DB0F0A1045}"/>
              </a:ext>
            </a:extLst>
          </p:cNvPr>
          <p:cNvSpPr/>
          <p:nvPr/>
        </p:nvSpPr>
        <p:spPr>
          <a:xfrm>
            <a:off x="566928" y="3395841"/>
            <a:ext cx="146304" cy="146304"/>
          </a:xfrm>
          <a:prstGeom prst="ellipse">
            <a:avLst/>
          </a:prstGeom>
          <a:solidFill>
            <a:srgbClr val="2D7FF9"/>
          </a:solidFill>
          <a:ln/>
        </p:spPr>
        <p:txBody>
          <a:bodyPr/>
          <a:lstStyle/>
          <a:p>
            <a:endParaRPr lang="en-US"/>
          </a:p>
        </p:txBody>
      </p:sp>
      <p:sp>
        <p:nvSpPr>
          <p:cNvPr id="15" name="Text 7">
            <a:extLst>
              <a:ext uri="{FF2B5EF4-FFF2-40B4-BE49-F238E27FC236}">
                <a16:creationId xmlns:a16="http://schemas.microsoft.com/office/drawing/2014/main" id="{FB88AFFA-503E-E9E0-F7D0-2D033C5846A2}"/>
              </a:ext>
            </a:extLst>
          </p:cNvPr>
          <p:cNvSpPr/>
          <p:nvPr/>
        </p:nvSpPr>
        <p:spPr>
          <a:xfrm>
            <a:off x="914400" y="3276969"/>
            <a:ext cx="7406640" cy="868680"/>
          </a:xfrm>
          <a:prstGeom prst="rect">
            <a:avLst/>
          </a:prstGeom>
          <a:noFill/>
          <a:ln/>
        </p:spPr>
        <p:txBody>
          <a:bodyPr wrap="square" lIns="0" tIns="0" rIns="0" bIns="0" rtlCol="0" anchor="t"/>
          <a:lstStyle/>
          <a:p>
            <a:pPr marL="0" indent="0">
              <a:lnSpc>
                <a:spcPct val="112000"/>
              </a:lnSpc>
              <a:buNone/>
            </a:pPr>
            <a:r>
              <a:rPr lang="en-US" sz="1600" b="1" dirty="0">
                <a:solidFill>
                  <a:srgbClr val="0F2247"/>
                </a:solidFill>
                <a:latin typeface="Calibri" pitchFamily="34" charset="0"/>
                <a:ea typeface="Calibri" pitchFamily="34" charset="-122"/>
                <a:cs typeface="Calibri" pitchFamily="34" charset="-120"/>
              </a:rPr>
              <a:t>What ran:</a:t>
            </a:r>
            <a:br>
              <a:rPr lang="en-US" sz="1600" b="1" dirty="0">
                <a:solidFill>
                  <a:srgbClr val="0F2247"/>
                </a:solidFill>
                <a:latin typeface="Calibri" pitchFamily="34" charset="0"/>
                <a:ea typeface="Calibri" pitchFamily="34" charset="-122"/>
                <a:cs typeface="Calibri" pitchFamily="34" charset="-120"/>
              </a:rPr>
            </a:br>
            <a:r>
              <a:rPr lang="en-US" sz="1300" dirty="0">
                <a:solidFill>
                  <a:srgbClr val="3A4866"/>
                </a:solidFill>
                <a:latin typeface="Calibri" pitchFamily="34" charset="0"/>
                <a:ea typeface="Calibri" pitchFamily="34" charset="-122"/>
                <a:cs typeface="Calibri" pitchFamily="34" charset="-120"/>
              </a:rPr>
              <a:t>model name, tool name, prompt, </a:t>
            </a:r>
            <a:r>
              <a:rPr lang="en-US" sz="1300" dirty="0" err="1">
                <a:solidFill>
                  <a:srgbClr val="3A4866"/>
                </a:solidFill>
                <a:latin typeface="Calibri" pitchFamily="34" charset="0"/>
                <a:ea typeface="Calibri" pitchFamily="34" charset="-122"/>
                <a:cs typeface="Calibri" pitchFamily="34" charset="-120"/>
              </a:rPr>
              <a:t>args</a:t>
            </a:r>
            <a:endParaRPr lang="en-US" sz="1300" dirty="0">
              <a:solidFill>
                <a:srgbClr val="3A4866"/>
              </a:solidFill>
              <a:latin typeface="Calibri" pitchFamily="34" charset="0"/>
              <a:ea typeface="Calibri" pitchFamily="34" charset="-122"/>
              <a:cs typeface="Calibri" pitchFamily="34" charset="-120"/>
            </a:endParaRPr>
          </a:p>
        </p:txBody>
      </p:sp>
      <p:sp>
        <p:nvSpPr>
          <p:cNvPr id="20" name="Shape 8">
            <a:extLst>
              <a:ext uri="{FF2B5EF4-FFF2-40B4-BE49-F238E27FC236}">
                <a16:creationId xmlns:a16="http://schemas.microsoft.com/office/drawing/2014/main" id="{036CD336-5AA8-652D-4BBB-A5007688EF0A}"/>
              </a:ext>
            </a:extLst>
          </p:cNvPr>
          <p:cNvSpPr/>
          <p:nvPr/>
        </p:nvSpPr>
        <p:spPr>
          <a:xfrm>
            <a:off x="566928" y="4346817"/>
            <a:ext cx="146304" cy="146304"/>
          </a:xfrm>
          <a:prstGeom prst="ellipse">
            <a:avLst/>
          </a:prstGeom>
          <a:solidFill>
            <a:srgbClr val="1FB6A6"/>
          </a:solidFill>
          <a:ln/>
        </p:spPr>
        <p:txBody>
          <a:bodyPr/>
          <a:lstStyle/>
          <a:p>
            <a:endParaRPr lang="en-US"/>
          </a:p>
        </p:txBody>
      </p:sp>
      <p:sp>
        <p:nvSpPr>
          <p:cNvPr id="22" name="Text 9">
            <a:extLst>
              <a:ext uri="{FF2B5EF4-FFF2-40B4-BE49-F238E27FC236}">
                <a16:creationId xmlns:a16="http://schemas.microsoft.com/office/drawing/2014/main" id="{0A7D2149-F215-3689-32DD-2275787697C9}"/>
              </a:ext>
            </a:extLst>
          </p:cNvPr>
          <p:cNvSpPr/>
          <p:nvPr/>
        </p:nvSpPr>
        <p:spPr>
          <a:xfrm>
            <a:off x="914400" y="4227945"/>
            <a:ext cx="7406640" cy="868680"/>
          </a:xfrm>
          <a:prstGeom prst="rect">
            <a:avLst/>
          </a:prstGeom>
          <a:noFill/>
          <a:ln/>
        </p:spPr>
        <p:txBody>
          <a:bodyPr wrap="square" lIns="0" tIns="0" rIns="0" bIns="0" rtlCol="0" anchor="t"/>
          <a:lstStyle/>
          <a:p>
            <a:pPr marL="0" indent="0">
              <a:lnSpc>
                <a:spcPct val="112000"/>
              </a:lnSpc>
              <a:buNone/>
            </a:pPr>
            <a:r>
              <a:rPr lang="en-US" sz="1600" b="1" dirty="0">
                <a:solidFill>
                  <a:srgbClr val="0F2247"/>
                </a:solidFill>
                <a:latin typeface="Calibri" pitchFamily="34" charset="0"/>
                <a:ea typeface="Calibri" pitchFamily="34" charset="-122"/>
                <a:cs typeface="Calibri" pitchFamily="34" charset="-120"/>
              </a:rPr>
              <a:t>What it costs:
</a:t>
            </a:r>
            <a:r>
              <a:rPr lang="en-US" sz="1300" dirty="0">
                <a:solidFill>
                  <a:srgbClr val="3A4866"/>
                </a:solidFill>
                <a:latin typeface="Calibri" pitchFamily="34" charset="0"/>
                <a:ea typeface="Calibri" pitchFamily="34" charset="-122"/>
                <a:cs typeface="Calibri" pitchFamily="34" charset="-120"/>
              </a:rPr>
              <a:t>tokens, dollars, milliseconds</a:t>
            </a:r>
          </a:p>
        </p:txBody>
      </p:sp>
      <p:sp>
        <p:nvSpPr>
          <p:cNvPr id="31" name="Shape 10">
            <a:extLst>
              <a:ext uri="{FF2B5EF4-FFF2-40B4-BE49-F238E27FC236}">
                <a16:creationId xmlns:a16="http://schemas.microsoft.com/office/drawing/2014/main" id="{B8F427D4-1C2B-44E8-31AF-F94DA6D9F6F1}"/>
              </a:ext>
            </a:extLst>
          </p:cNvPr>
          <p:cNvSpPr/>
          <p:nvPr/>
        </p:nvSpPr>
        <p:spPr>
          <a:xfrm>
            <a:off x="566928" y="5297793"/>
            <a:ext cx="146304" cy="146304"/>
          </a:xfrm>
          <a:prstGeom prst="ellipse">
            <a:avLst/>
          </a:prstGeom>
          <a:solidFill>
            <a:srgbClr val="2D7FF9"/>
          </a:solidFill>
          <a:ln/>
        </p:spPr>
        <p:txBody>
          <a:bodyPr/>
          <a:lstStyle/>
          <a:p>
            <a:endParaRPr lang="en-US"/>
          </a:p>
        </p:txBody>
      </p:sp>
      <p:sp>
        <p:nvSpPr>
          <p:cNvPr id="32" name="Text 11">
            <a:extLst>
              <a:ext uri="{FF2B5EF4-FFF2-40B4-BE49-F238E27FC236}">
                <a16:creationId xmlns:a16="http://schemas.microsoft.com/office/drawing/2014/main" id="{0E3A2B5A-98FD-BEEB-81A4-24B3C7618FA4}"/>
              </a:ext>
            </a:extLst>
          </p:cNvPr>
          <p:cNvSpPr/>
          <p:nvPr/>
        </p:nvSpPr>
        <p:spPr>
          <a:xfrm>
            <a:off x="914400" y="5178921"/>
            <a:ext cx="7406640" cy="868680"/>
          </a:xfrm>
          <a:prstGeom prst="rect">
            <a:avLst/>
          </a:prstGeom>
          <a:noFill/>
          <a:ln/>
        </p:spPr>
        <p:txBody>
          <a:bodyPr wrap="square" lIns="0" tIns="0" rIns="0" bIns="0" rtlCol="0" anchor="t"/>
          <a:lstStyle/>
          <a:p>
            <a:pPr marL="0" indent="0">
              <a:lnSpc>
                <a:spcPct val="112000"/>
              </a:lnSpc>
              <a:buNone/>
            </a:pPr>
            <a:r>
              <a:rPr lang="en-US" sz="1600" b="1" dirty="0">
                <a:solidFill>
                  <a:srgbClr val="0F2247"/>
                </a:solidFill>
                <a:latin typeface="Calibri" pitchFamily="34" charset="0"/>
                <a:ea typeface="Calibri" pitchFamily="34" charset="-122"/>
                <a:cs typeface="Calibri" pitchFamily="34" charset="-120"/>
              </a:rPr>
              <a:t>What happened:
</a:t>
            </a:r>
            <a:r>
              <a:rPr lang="en-US" sz="1300" dirty="0">
                <a:solidFill>
                  <a:srgbClr val="3A4866"/>
                </a:solidFill>
                <a:latin typeface="Calibri" pitchFamily="34" charset="0"/>
                <a:ea typeface="Calibri" pitchFamily="34" charset="-122"/>
                <a:cs typeface="Calibri" pitchFamily="34" charset="-120"/>
              </a:rPr>
              <a:t>output, error, retry count</a:t>
            </a:r>
          </a:p>
        </p:txBody>
      </p:sp>
    </p:spTree>
    <p:extLst>
      <p:ext uri="{BB962C8B-B14F-4D97-AF65-F5344CB8AC3E}">
        <p14:creationId xmlns:p14="http://schemas.microsoft.com/office/powerpoint/2010/main" val="3312393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11662C5-D40C-F098-AEB9-71AE593C202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DB2085F-C7D6-CD6F-9D85-FD7596D8044A}"/>
              </a:ext>
            </a:extLst>
          </p:cNvPr>
          <p:cNvSpPr/>
          <p:nvPr/>
        </p:nvSpPr>
        <p:spPr>
          <a:xfrm>
            <a:off x="502920" y="548640"/>
            <a:ext cx="82296" cy="603504"/>
          </a:xfrm>
          <a:prstGeom prst="rect">
            <a:avLst/>
          </a:prstGeom>
          <a:solidFill>
            <a:srgbClr val="FE7202"/>
          </a:solidFill>
          <a:ln/>
        </p:spPr>
        <p:txBody>
          <a:bodyPr/>
          <a:lstStyle/>
          <a:p>
            <a:endParaRPr lang="en-US"/>
          </a:p>
        </p:txBody>
      </p:sp>
      <p:sp>
        <p:nvSpPr>
          <p:cNvPr id="3" name="Text 1">
            <a:extLst>
              <a:ext uri="{FF2B5EF4-FFF2-40B4-BE49-F238E27FC236}">
                <a16:creationId xmlns:a16="http://schemas.microsoft.com/office/drawing/2014/main" id="{13AF9073-BBCD-F301-9E8D-F057815716BD}"/>
              </a:ext>
            </a:extLst>
          </p:cNvPr>
          <p:cNvSpPr/>
          <p:nvPr/>
        </p:nvSpPr>
        <p:spPr>
          <a:xfrm>
            <a:off x="731520" y="502920"/>
            <a:ext cx="10058400" cy="713232"/>
          </a:xfrm>
          <a:prstGeom prst="rect">
            <a:avLst/>
          </a:prstGeom>
          <a:noFill/>
          <a:ln/>
        </p:spPr>
        <p:txBody>
          <a:bodyPr wrap="square" lIns="0" tIns="0" rIns="0" bIns="0" rtlCol="0" anchor="ctr"/>
          <a:lstStyle/>
          <a:p>
            <a:pPr marL="0" indent="0">
              <a:buNone/>
            </a:pPr>
            <a:r>
              <a:rPr lang="en-US" sz="2900" b="1" dirty="0">
                <a:solidFill>
                  <a:srgbClr val="0F2247"/>
                </a:solidFill>
                <a:latin typeface="Arial" pitchFamily="34" charset="0"/>
                <a:ea typeface="Arial" pitchFamily="34" charset="-122"/>
                <a:cs typeface="Arial" pitchFamily="34" charset="-120"/>
              </a:rPr>
              <a:t>Layer 4: Context Layer Trace</a:t>
            </a:r>
          </a:p>
        </p:txBody>
      </p:sp>
      <p:sp>
        <p:nvSpPr>
          <p:cNvPr id="4" name="Shape 2">
            <a:extLst>
              <a:ext uri="{FF2B5EF4-FFF2-40B4-BE49-F238E27FC236}">
                <a16:creationId xmlns:a16="http://schemas.microsoft.com/office/drawing/2014/main" id="{B7553B00-56BF-77FE-3D28-C0573BF720C6}"/>
              </a:ext>
            </a:extLst>
          </p:cNvPr>
          <p:cNvSpPr/>
          <p:nvPr/>
        </p:nvSpPr>
        <p:spPr>
          <a:xfrm>
            <a:off x="502920" y="1325880"/>
            <a:ext cx="11183112" cy="27432"/>
          </a:xfrm>
          <a:prstGeom prst="rect">
            <a:avLst/>
          </a:prstGeom>
          <a:solidFill>
            <a:srgbClr val="FE7202"/>
          </a:solidFill>
          <a:ln/>
        </p:spPr>
        <p:txBody>
          <a:bodyPr/>
          <a:lstStyle/>
          <a:p>
            <a:endParaRPr lang="en-US"/>
          </a:p>
        </p:txBody>
      </p:sp>
      <p:sp>
        <p:nvSpPr>
          <p:cNvPr id="5" name="Text 3">
            <a:extLst>
              <a:ext uri="{FF2B5EF4-FFF2-40B4-BE49-F238E27FC236}">
                <a16:creationId xmlns:a16="http://schemas.microsoft.com/office/drawing/2014/main" id="{CEAC12E5-3C85-F625-840F-DF2E69DB9232}"/>
              </a:ext>
            </a:extLst>
          </p:cNvPr>
          <p:cNvSpPr/>
          <p:nvPr/>
        </p:nvSpPr>
        <p:spPr>
          <a:xfrm>
            <a:off x="512064" y="1380376"/>
            <a:ext cx="8686800" cy="411480"/>
          </a:xfrm>
          <a:prstGeom prst="rect">
            <a:avLst/>
          </a:prstGeom>
          <a:noFill/>
          <a:ln/>
        </p:spPr>
        <p:txBody>
          <a:bodyPr wrap="square" lIns="0" tIns="0" rIns="0" bIns="0" rtlCol="0" anchor="ctr"/>
          <a:lstStyle/>
          <a:p>
            <a:pPr marL="0" indent="0">
              <a:buNone/>
            </a:pPr>
            <a:r>
              <a:rPr lang="en-US" sz="1350" i="1" dirty="0">
                <a:solidFill>
                  <a:srgbClr val="8A93A8"/>
                </a:solidFill>
                <a:latin typeface="Calibri" pitchFamily="34" charset="0"/>
                <a:ea typeface="Calibri" pitchFamily="34" charset="-122"/>
                <a:cs typeface="Calibri" pitchFamily="34" charset="-120"/>
              </a:rPr>
              <a:t>How is it different from Agentic trace?</a:t>
            </a:r>
          </a:p>
        </p:txBody>
      </p:sp>
      <p:sp>
        <p:nvSpPr>
          <p:cNvPr id="6" name="Shape 4">
            <a:extLst>
              <a:ext uri="{FF2B5EF4-FFF2-40B4-BE49-F238E27FC236}">
                <a16:creationId xmlns:a16="http://schemas.microsoft.com/office/drawing/2014/main" id="{27C30405-2E4B-CEF7-42F2-AF18C61BE32F}"/>
              </a:ext>
            </a:extLst>
          </p:cNvPr>
          <p:cNvSpPr/>
          <p:nvPr/>
        </p:nvSpPr>
        <p:spPr>
          <a:xfrm>
            <a:off x="566928" y="2278610"/>
            <a:ext cx="146304" cy="146304"/>
          </a:xfrm>
          <a:prstGeom prst="ellipse">
            <a:avLst/>
          </a:prstGeom>
          <a:solidFill>
            <a:srgbClr val="1FB6A6"/>
          </a:solidFill>
          <a:ln/>
        </p:spPr>
        <p:txBody>
          <a:bodyPr/>
          <a:lstStyle/>
          <a:p>
            <a:endParaRPr lang="en-US"/>
          </a:p>
        </p:txBody>
      </p:sp>
      <p:sp>
        <p:nvSpPr>
          <p:cNvPr id="7" name="Text 5">
            <a:extLst>
              <a:ext uri="{FF2B5EF4-FFF2-40B4-BE49-F238E27FC236}">
                <a16:creationId xmlns:a16="http://schemas.microsoft.com/office/drawing/2014/main" id="{113AD7D3-0AAF-D348-D5F2-BCC0C557172F}"/>
              </a:ext>
            </a:extLst>
          </p:cNvPr>
          <p:cNvSpPr/>
          <p:nvPr/>
        </p:nvSpPr>
        <p:spPr>
          <a:xfrm>
            <a:off x="914399" y="2195670"/>
            <a:ext cx="7897091" cy="604792"/>
          </a:xfrm>
          <a:prstGeom prst="rect">
            <a:avLst/>
          </a:prstGeom>
          <a:noFill/>
          <a:ln/>
        </p:spPr>
        <p:txBody>
          <a:bodyPr wrap="square" lIns="0" tIns="0" rIns="0" bIns="0" rtlCol="0" anchor="t"/>
          <a:lstStyle/>
          <a:p>
            <a:pPr marL="0" indent="0">
              <a:lnSpc>
                <a:spcPct val="112000"/>
              </a:lnSpc>
              <a:buNone/>
            </a:pPr>
            <a:r>
              <a:rPr lang="en-US" sz="1600" dirty="0">
                <a:solidFill>
                  <a:srgbClr val="0F2247"/>
                </a:solidFill>
                <a:latin typeface="Calibri" pitchFamily="34" charset="0"/>
                <a:ea typeface="Calibri" pitchFamily="34" charset="-122"/>
                <a:cs typeface="Calibri" pitchFamily="34" charset="-120"/>
              </a:rPr>
              <a:t>Agentic trace is an instrumentation approach: to obtain the lineage code, changes are required</a:t>
            </a:r>
          </a:p>
        </p:txBody>
      </p:sp>
      <p:sp>
        <p:nvSpPr>
          <p:cNvPr id="8" name="Shape 6">
            <a:extLst>
              <a:ext uri="{FF2B5EF4-FFF2-40B4-BE49-F238E27FC236}">
                <a16:creationId xmlns:a16="http://schemas.microsoft.com/office/drawing/2014/main" id="{75A8F24D-190F-A7CF-5C16-141B9FF9E486}"/>
              </a:ext>
            </a:extLst>
          </p:cNvPr>
          <p:cNvSpPr/>
          <p:nvPr/>
        </p:nvSpPr>
        <p:spPr>
          <a:xfrm>
            <a:off x="566928" y="2989444"/>
            <a:ext cx="146304" cy="146304"/>
          </a:xfrm>
          <a:prstGeom prst="ellipse">
            <a:avLst/>
          </a:prstGeom>
          <a:solidFill>
            <a:srgbClr val="2D7FF9"/>
          </a:solidFill>
          <a:ln/>
        </p:spPr>
        <p:txBody>
          <a:bodyPr/>
          <a:lstStyle/>
          <a:p>
            <a:endParaRPr lang="en-US"/>
          </a:p>
        </p:txBody>
      </p:sp>
      <p:sp>
        <p:nvSpPr>
          <p:cNvPr id="9" name="Text 7">
            <a:extLst>
              <a:ext uri="{FF2B5EF4-FFF2-40B4-BE49-F238E27FC236}">
                <a16:creationId xmlns:a16="http://schemas.microsoft.com/office/drawing/2014/main" id="{077F5EFE-2F47-7FFE-CEB1-633B8A1A36D4}"/>
              </a:ext>
            </a:extLst>
          </p:cNvPr>
          <p:cNvSpPr/>
          <p:nvPr/>
        </p:nvSpPr>
        <p:spPr>
          <a:xfrm>
            <a:off x="914399" y="2906182"/>
            <a:ext cx="7897091" cy="604792"/>
          </a:xfrm>
          <a:prstGeom prst="rect">
            <a:avLst/>
          </a:prstGeom>
          <a:noFill/>
          <a:ln/>
        </p:spPr>
        <p:txBody>
          <a:bodyPr wrap="square" lIns="0" tIns="0" rIns="0" bIns="0" rtlCol="0" anchor="t"/>
          <a:lstStyle/>
          <a:p>
            <a:pPr marL="0" indent="0">
              <a:lnSpc>
                <a:spcPct val="112000"/>
              </a:lnSpc>
              <a:buNone/>
            </a:pPr>
            <a:r>
              <a:rPr lang="en-US" sz="1600" dirty="0">
                <a:solidFill>
                  <a:srgbClr val="0F2247"/>
                </a:solidFill>
                <a:latin typeface="Calibri" pitchFamily="34" charset="0"/>
                <a:ea typeface="Calibri" pitchFamily="34" charset="-122"/>
                <a:cs typeface="Calibri" pitchFamily="34" charset="-120"/>
              </a:rPr>
              <a:t>Agentic systems often depend on remote third party MCP servers for run-time context. This requires codeless observability.</a:t>
            </a:r>
          </a:p>
        </p:txBody>
      </p:sp>
      <p:sp>
        <p:nvSpPr>
          <p:cNvPr id="10" name="Shape 8">
            <a:extLst>
              <a:ext uri="{FF2B5EF4-FFF2-40B4-BE49-F238E27FC236}">
                <a16:creationId xmlns:a16="http://schemas.microsoft.com/office/drawing/2014/main" id="{BBCAC809-5E21-7A95-B163-6A9E2C2C0A8D}"/>
              </a:ext>
            </a:extLst>
          </p:cNvPr>
          <p:cNvSpPr/>
          <p:nvPr/>
        </p:nvSpPr>
        <p:spPr>
          <a:xfrm>
            <a:off x="566928" y="3940420"/>
            <a:ext cx="146304" cy="146304"/>
          </a:xfrm>
          <a:prstGeom prst="ellipse">
            <a:avLst/>
          </a:prstGeom>
          <a:solidFill>
            <a:srgbClr val="1FB6A6"/>
          </a:solidFill>
          <a:ln/>
        </p:spPr>
        <p:txBody>
          <a:bodyPr/>
          <a:lstStyle/>
          <a:p>
            <a:endParaRPr lang="en-US"/>
          </a:p>
        </p:txBody>
      </p:sp>
      <p:sp>
        <p:nvSpPr>
          <p:cNvPr id="11" name="Text 9">
            <a:extLst>
              <a:ext uri="{FF2B5EF4-FFF2-40B4-BE49-F238E27FC236}">
                <a16:creationId xmlns:a16="http://schemas.microsoft.com/office/drawing/2014/main" id="{7E47089F-D055-D7A3-85D7-A55AE13A637B}"/>
              </a:ext>
            </a:extLst>
          </p:cNvPr>
          <p:cNvSpPr/>
          <p:nvPr/>
        </p:nvSpPr>
        <p:spPr>
          <a:xfrm>
            <a:off x="914399" y="3858768"/>
            <a:ext cx="7897091" cy="604792"/>
          </a:xfrm>
          <a:prstGeom prst="rect">
            <a:avLst/>
          </a:prstGeom>
          <a:noFill/>
          <a:ln/>
        </p:spPr>
        <p:txBody>
          <a:bodyPr wrap="square" lIns="0" tIns="0" rIns="0" bIns="0" rtlCol="0" anchor="t"/>
          <a:lstStyle/>
          <a:p>
            <a:pPr marL="0" indent="0">
              <a:lnSpc>
                <a:spcPct val="112000"/>
              </a:lnSpc>
              <a:buNone/>
            </a:pPr>
            <a:r>
              <a:rPr lang="en-US" sz="1600" dirty="0">
                <a:solidFill>
                  <a:srgbClr val="0F2247"/>
                </a:solidFill>
                <a:latin typeface="Calibri" pitchFamily="34" charset="0"/>
                <a:ea typeface="Calibri" pitchFamily="34" charset="-122"/>
                <a:cs typeface="Calibri" pitchFamily="34" charset="-120"/>
              </a:rPr>
              <a:t>Compliance / EU AI Act audit requirements demand traceability for every tool call, not just the ones instrumented.</a:t>
            </a:r>
          </a:p>
        </p:txBody>
      </p:sp>
      <p:sp>
        <p:nvSpPr>
          <p:cNvPr id="13" name="Text 11">
            <a:extLst>
              <a:ext uri="{FF2B5EF4-FFF2-40B4-BE49-F238E27FC236}">
                <a16:creationId xmlns:a16="http://schemas.microsoft.com/office/drawing/2014/main" id="{75E660D4-48FF-3788-1F7C-A99AC21A89D0}"/>
              </a:ext>
            </a:extLst>
          </p:cNvPr>
          <p:cNvSpPr/>
          <p:nvPr/>
        </p:nvSpPr>
        <p:spPr>
          <a:xfrm>
            <a:off x="1417320" y="5532120"/>
            <a:ext cx="8686799" cy="411480"/>
          </a:xfrm>
          <a:prstGeom prst="rect">
            <a:avLst/>
          </a:prstGeom>
          <a:noFill/>
          <a:ln/>
        </p:spPr>
        <p:txBody>
          <a:bodyPr wrap="square" lIns="0" tIns="0" rIns="0" bIns="0" rtlCol="0" anchor="t"/>
          <a:lstStyle/>
          <a:p>
            <a:pPr marL="0" indent="0">
              <a:lnSpc>
                <a:spcPct val="112000"/>
              </a:lnSpc>
              <a:buNone/>
            </a:pPr>
            <a:r>
              <a:rPr lang="en-US" sz="1600" b="1" dirty="0">
                <a:solidFill>
                  <a:srgbClr val="0F2247"/>
                </a:solidFill>
                <a:latin typeface="Calibri" pitchFamily="34" charset="0"/>
                <a:ea typeface="Calibri" pitchFamily="34" charset="-122"/>
                <a:cs typeface="Calibri" pitchFamily="34" charset="-120"/>
              </a:rPr>
              <a:t>Context layer trace is achieved using MCP gateways that operate on reverse-proxy servers.</a:t>
            </a:r>
          </a:p>
        </p:txBody>
      </p:sp>
      <p:sp>
        <p:nvSpPr>
          <p:cNvPr id="21" name="Text 18">
            <a:extLst>
              <a:ext uri="{FF2B5EF4-FFF2-40B4-BE49-F238E27FC236}">
                <a16:creationId xmlns:a16="http://schemas.microsoft.com/office/drawing/2014/main" id="{164B10D9-1428-4659-61CB-9FC997E3456D}"/>
              </a:ext>
            </a:extLst>
          </p:cNvPr>
          <p:cNvSpPr/>
          <p:nvPr/>
        </p:nvSpPr>
        <p:spPr>
          <a:xfrm>
            <a:off x="0" y="6419088"/>
            <a:ext cx="12191695" cy="320040"/>
          </a:xfrm>
          <a:prstGeom prst="rect">
            <a:avLst/>
          </a:prstGeom>
          <a:noFill/>
          <a:ln/>
        </p:spPr>
        <p:txBody>
          <a:bodyPr wrap="square" lIns="0" tIns="0" rIns="0" bIns="0" rtlCol="0" anchor="ctr"/>
          <a:lstStyle/>
          <a:p>
            <a:pPr marL="0" indent="0" algn="ctr">
              <a:buNone/>
            </a:pPr>
            <a:r>
              <a:rPr lang="en-US" sz="950" kern="0" spc="200">
                <a:solidFill>
                  <a:srgbClr val="8A93A8"/>
                </a:solidFill>
                <a:latin typeface="Arial" pitchFamily="34" charset="0"/>
                <a:ea typeface="Arial" pitchFamily="34" charset="-122"/>
                <a:cs typeface="Arial" pitchFamily="34" charset="-120"/>
              </a:rPr>
              <a:t>D A T A H A C K   S U M M I T   2 0 2 6</a:t>
            </a:r>
            <a:endParaRPr lang="en-US" sz="950"/>
          </a:p>
        </p:txBody>
      </p:sp>
      <p:pic>
        <p:nvPicPr>
          <p:cNvPr id="23" name="Picture 22" descr="preencoded.png">
            <a:extLst>
              <a:ext uri="{FF2B5EF4-FFF2-40B4-BE49-F238E27FC236}">
                <a16:creationId xmlns:a16="http://schemas.microsoft.com/office/drawing/2014/main" id="{26F3EA5D-8139-93A6-7F11-001EC9944DFE}"/>
              </a:ext>
            </a:extLst>
          </p:cNvPr>
          <p:cNvPicPr>
            <a:picLocks noChangeAspect="1"/>
          </p:cNvPicPr>
          <p:nvPr/>
        </p:nvPicPr>
        <p:blipFill>
          <a:blip r:embed="rId3"/>
          <a:srcRect b="-176"/>
          <a:stretch>
            <a:fillRect/>
          </a:stretch>
        </p:blipFill>
        <p:spPr>
          <a:xfrm>
            <a:off x="10792419" y="367621"/>
            <a:ext cx="852695" cy="852309"/>
          </a:xfrm>
          <a:prstGeom prst="rect">
            <a:avLst/>
          </a:prstGeom>
        </p:spPr>
      </p:pic>
    </p:spTree>
    <p:extLst>
      <p:ext uri="{BB962C8B-B14F-4D97-AF65-F5344CB8AC3E}">
        <p14:creationId xmlns:p14="http://schemas.microsoft.com/office/powerpoint/2010/main" val="7132171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4688058-0A47-3CE1-E796-90E5BA17A99F}"/>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6CC93380-10DD-6086-ACF6-9B01738E0E2B}"/>
              </a:ext>
            </a:extLst>
          </p:cNvPr>
          <p:cNvPicPr>
            <a:picLocks noChangeAspect="1"/>
          </p:cNvPicPr>
          <p:nvPr/>
        </p:nvPicPr>
        <p:blipFill>
          <a:blip r:embed="rId3"/>
          <a:stretch>
            <a:fillRect/>
          </a:stretch>
        </p:blipFill>
        <p:spPr>
          <a:xfrm>
            <a:off x="1201566" y="1735043"/>
            <a:ext cx="9785820" cy="4693651"/>
          </a:xfrm>
          <a:prstGeom prst="rect">
            <a:avLst/>
          </a:prstGeom>
          <a:ln>
            <a:solidFill>
              <a:schemeClr val="bg1">
                <a:lumMod val="85000"/>
              </a:schemeClr>
            </a:solidFill>
          </a:ln>
        </p:spPr>
      </p:pic>
      <p:sp>
        <p:nvSpPr>
          <p:cNvPr id="2" name="Shape 0">
            <a:extLst>
              <a:ext uri="{FF2B5EF4-FFF2-40B4-BE49-F238E27FC236}">
                <a16:creationId xmlns:a16="http://schemas.microsoft.com/office/drawing/2014/main" id="{FA9B82A1-D7CA-8BEB-80C8-23D4CFBE3D8C}"/>
              </a:ext>
            </a:extLst>
          </p:cNvPr>
          <p:cNvSpPr/>
          <p:nvPr/>
        </p:nvSpPr>
        <p:spPr>
          <a:xfrm>
            <a:off x="502920" y="548640"/>
            <a:ext cx="82296" cy="603504"/>
          </a:xfrm>
          <a:prstGeom prst="rect">
            <a:avLst/>
          </a:prstGeom>
          <a:solidFill>
            <a:srgbClr val="FE7202"/>
          </a:solidFill>
          <a:ln/>
        </p:spPr>
        <p:txBody>
          <a:bodyPr/>
          <a:lstStyle/>
          <a:p>
            <a:endParaRPr lang="en-US"/>
          </a:p>
        </p:txBody>
      </p:sp>
      <p:sp>
        <p:nvSpPr>
          <p:cNvPr id="3" name="Text 1">
            <a:extLst>
              <a:ext uri="{FF2B5EF4-FFF2-40B4-BE49-F238E27FC236}">
                <a16:creationId xmlns:a16="http://schemas.microsoft.com/office/drawing/2014/main" id="{FB3F4146-1C2F-C10A-BA11-AC25936B64E6}"/>
              </a:ext>
            </a:extLst>
          </p:cNvPr>
          <p:cNvSpPr/>
          <p:nvPr/>
        </p:nvSpPr>
        <p:spPr>
          <a:xfrm>
            <a:off x="731520" y="502920"/>
            <a:ext cx="10058400" cy="713232"/>
          </a:xfrm>
          <a:prstGeom prst="rect">
            <a:avLst/>
          </a:prstGeom>
          <a:noFill/>
          <a:ln/>
        </p:spPr>
        <p:txBody>
          <a:bodyPr wrap="square" lIns="0" tIns="0" rIns="0" bIns="0" rtlCol="0" anchor="ctr"/>
          <a:lstStyle/>
          <a:p>
            <a:pPr marL="0" indent="0">
              <a:buNone/>
            </a:pPr>
            <a:r>
              <a:rPr lang="en-US" sz="2900" b="1" dirty="0">
                <a:solidFill>
                  <a:srgbClr val="0F2247"/>
                </a:solidFill>
                <a:latin typeface="Arial" pitchFamily="34" charset="0"/>
                <a:ea typeface="Arial" pitchFamily="34" charset="-122"/>
                <a:cs typeface="Arial" pitchFamily="34" charset="-120"/>
              </a:rPr>
              <a:t>Layer 4: Context Layer Trace</a:t>
            </a:r>
          </a:p>
        </p:txBody>
      </p:sp>
      <p:sp>
        <p:nvSpPr>
          <p:cNvPr id="4" name="Shape 2">
            <a:extLst>
              <a:ext uri="{FF2B5EF4-FFF2-40B4-BE49-F238E27FC236}">
                <a16:creationId xmlns:a16="http://schemas.microsoft.com/office/drawing/2014/main" id="{AC673C2A-3A66-D888-7383-51050E281279}"/>
              </a:ext>
            </a:extLst>
          </p:cNvPr>
          <p:cNvSpPr/>
          <p:nvPr/>
        </p:nvSpPr>
        <p:spPr>
          <a:xfrm>
            <a:off x="502920" y="1325880"/>
            <a:ext cx="11183112" cy="27432"/>
          </a:xfrm>
          <a:prstGeom prst="rect">
            <a:avLst/>
          </a:prstGeom>
          <a:solidFill>
            <a:srgbClr val="FE7202"/>
          </a:solidFill>
          <a:ln/>
        </p:spPr>
        <p:txBody>
          <a:bodyPr/>
          <a:lstStyle/>
          <a:p>
            <a:endParaRPr lang="en-US"/>
          </a:p>
        </p:txBody>
      </p:sp>
      <p:sp>
        <p:nvSpPr>
          <p:cNvPr id="21" name="Text 18">
            <a:extLst>
              <a:ext uri="{FF2B5EF4-FFF2-40B4-BE49-F238E27FC236}">
                <a16:creationId xmlns:a16="http://schemas.microsoft.com/office/drawing/2014/main" id="{D198F756-AF41-B2C7-70EB-6BF28528ED7A}"/>
              </a:ext>
            </a:extLst>
          </p:cNvPr>
          <p:cNvSpPr/>
          <p:nvPr/>
        </p:nvSpPr>
        <p:spPr>
          <a:xfrm>
            <a:off x="305" y="6428694"/>
            <a:ext cx="12191695" cy="320040"/>
          </a:xfrm>
          <a:prstGeom prst="rect">
            <a:avLst/>
          </a:prstGeom>
          <a:noFill/>
          <a:ln/>
        </p:spPr>
        <p:txBody>
          <a:bodyPr wrap="square" lIns="0" tIns="0" rIns="0" bIns="0" rtlCol="0" anchor="ctr"/>
          <a:lstStyle/>
          <a:p>
            <a:pPr marL="0" indent="0" algn="ctr">
              <a:buNone/>
            </a:pPr>
            <a:r>
              <a:rPr lang="en-US" sz="950" kern="0" spc="200">
                <a:solidFill>
                  <a:srgbClr val="8A93A8"/>
                </a:solidFill>
                <a:latin typeface="Arial" pitchFamily="34" charset="0"/>
                <a:ea typeface="Arial" pitchFamily="34" charset="-122"/>
                <a:cs typeface="Arial" pitchFamily="34" charset="-120"/>
              </a:rPr>
              <a:t>D A T A H A C K   S U M M I T   2 0 2 6</a:t>
            </a:r>
            <a:endParaRPr lang="en-US" sz="950"/>
          </a:p>
        </p:txBody>
      </p:sp>
      <p:pic>
        <p:nvPicPr>
          <p:cNvPr id="23" name="Picture 22" descr="preencoded.png">
            <a:extLst>
              <a:ext uri="{FF2B5EF4-FFF2-40B4-BE49-F238E27FC236}">
                <a16:creationId xmlns:a16="http://schemas.microsoft.com/office/drawing/2014/main" id="{D662942A-8350-098E-14CC-4BC368F20894}"/>
              </a:ext>
            </a:extLst>
          </p:cNvPr>
          <p:cNvPicPr>
            <a:picLocks noChangeAspect="1"/>
          </p:cNvPicPr>
          <p:nvPr/>
        </p:nvPicPr>
        <p:blipFill>
          <a:blip r:embed="rId4"/>
          <a:srcRect b="-176"/>
          <a:stretch>
            <a:fillRect/>
          </a:stretch>
        </p:blipFill>
        <p:spPr>
          <a:xfrm>
            <a:off x="10792419" y="367621"/>
            <a:ext cx="852695" cy="852309"/>
          </a:xfrm>
          <a:prstGeom prst="rect">
            <a:avLst/>
          </a:prstGeom>
        </p:spPr>
      </p:pic>
      <p:sp>
        <p:nvSpPr>
          <p:cNvPr id="6" name="Text 3">
            <a:extLst>
              <a:ext uri="{FF2B5EF4-FFF2-40B4-BE49-F238E27FC236}">
                <a16:creationId xmlns:a16="http://schemas.microsoft.com/office/drawing/2014/main" id="{3285D5A8-ACAA-0F2C-6FFA-28EAC44DD4DF}"/>
              </a:ext>
            </a:extLst>
          </p:cNvPr>
          <p:cNvSpPr/>
          <p:nvPr/>
        </p:nvSpPr>
        <p:spPr>
          <a:xfrm>
            <a:off x="512064" y="1380376"/>
            <a:ext cx="8686800" cy="411480"/>
          </a:xfrm>
          <a:prstGeom prst="rect">
            <a:avLst/>
          </a:prstGeom>
          <a:noFill/>
          <a:ln/>
        </p:spPr>
        <p:txBody>
          <a:bodyPr wrap="square" lIns="0" tIns="0" rIns="0" bIns="0" rtlCol="0" anchor="ctr"/>
          <a:lstStyle/>
          <a:p>
            <a:pPr marL="0" indent="0">
              <a:buNone/>
            </a:pPr>
            <a:r>
              <a:rPr lang="en-US" sz="1350" i="1" dirty="0">
                <a:solidFill>
                  <a:srgbClr val="8A93A8"/>
                </a:solidFill>
                <a:latin typeface="Calibri" pitchFamily="34" charset="0"/>
                <a:ea typeface="Calibri" pitchFamily="34" charset="-122"/>
                <a:cs typeface="Calibri" pitchFamily="34" charset="-120"/>
              </a:rPr>
              <a:t>MCP Gateways</a:t>
            </a:r>
          </a:p>
        </p:txBody>
      </p:sp>
    </p:spTree>
    <p:extLst>
      <p:ext uri="{BB962C8B-B14F-4D97-AF65-F5344CB8AC3E}">
        <p14:creationId xmlns:p14="http://schemas.microsoft.com/office/powerpoint/2010/main" val="29845699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E4A0711-1799-BED4-40D5-37402AFC7AE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8ED07E6-AA08-A291-BB44-F471C17FFB95}"/>
              </a:ext>
            </a:extLst>
          </p:cNvPr>
          <p:cNvSpPr/>
          <p:nvPr/>
        </p:nvSpPr>
        <p:spPr>
          <a:xfrm>
            <a:off x="502920" y="548640"/>
            <a:ext cx="82296" cy="603504"/>
          </a:xfrm>
          <a:prstGeom prst="rect">
            <a:avLst/>
          </a:prstGeom>
          <a:solidFill>
            <a:srgbClr val="FE7202"/>
          </a:solidFill>
          <a:ln/>
        </p:spPr>
        <p:txBody>
          <a:bodyPr/>
          <a:lstStyle/>
          <a:p>
            <a:endParaRPr lang="en-US"/>
          </a:p>
        </p:txBody>
      </p:sp>
      <p:sp>
        <p:nvSpPr>
          <p:cNvPr id="3" name="Text 1">
            <a:extLst>
              <a:ext uri="{FF2B5EF4-FFF2-40B4-BE49-F238E27FC236}">
                <a16:creationId xmlns:a16="http://schemas.microsoft.com/office/drawing/2014/main" id="{C6D146BE-6A1A-8009-ECB4-1CA77507BD43}"/>
              </a:ext>
            </a:extLst>
          </p:cNvPr>
          <p:cNvSpPr/>
          <p:nvPr/>
        </p:nvSpPr>
        <p:spPr>
          <a:xfrm>
            <a:off x="731520" y="502920"/>
            <a:ext cx="10058400" cy="713232"/>
          </a:xfrm>
          <a:prstGeom prst="rect">
            <a:avLst/>
          </a:prstGeom>
          <a:noFill/>
          <a:ln/>
        </p:spPr>
        <p:txBody>
          <a:bodyPr wrap="square" lIns="0" tIns="0" rIns="0" bIns="0" rtlCol="0" anchor="ctr"/>
          <a:lstStyle/>
          <a:p>
            <a:pPr marL="0" indent="0">
              <a:buNone/>
            </a:pPr>
            <a:r>
              <a:rPr lang="en-US" sz="2900" b="1" dirty="0">
                <a:solidFill>
                  <a:srgbClr val="0F2247"/>
                </a:solidFill>
                <a:latin typeface="Arial" pitchFamily="34" charset="0"/>
                <a:ea typeface="Arial" pitchFamily="34" charset="-122"/>
                <a:cs typeface="Arial" pitchFamily="34" charset="-120"/>
              </a:rPr>
              <a:t>Layer 4: Context Layer Trace</a:t>
            </a:r>
          </a:p>
        </p:txBody>
      </p:sp>
      <p:sp>
        <p:nvSpPr>
          <p:cNvPr id="4" name="Shape 2">
            <a:extLst>
              <a:ext uri="{FF2B5EF4-FFF2-40B4-BE49-F238E27FC236}">
                <a16:creationId xmlns:a16="http://schemas.microsoft.com/office/drawing/2014/main" id="{1D561035-CE69-68D2-5F93-4A7F599D4384}"/>
              </a:ext>
            </a:extLst>
          </p:cNvPr>
          <p:cNvSpPr/>
          <p:nvPr/>
        </p:nvSpPr>
        <p:spPr>
          <a:xfrm>
            <a:off x="502920" y="1325880"/>
            <a:ext cx="11183112" cy="27432"/>
          </a:xfrm>
          <a:prstGeom prst="rect">
            <a:avLst/>
          </a:prstGeom>
          <a:solidFill>
            <a:srgbClr val="FE7202"/>
          </a:solidFill>
          <a:ln/>
        </p:spPr>
        <p:txBody>
          <a:bodyPr/>
          <a:lstStyle/>
          <a:p>
            <a:endParaRPr lang="en-US"/>
          </a:p>
        </p:txBody>
      </p:sp>
      <p:sp>
        <p:nvSpPr>
          <p:cNvPr id="21" name="Text 18">
            <a:extLst>
              <a:ext uri="{FF2B5EF4-FFF2-40B4-BE49-F238E27FC236}">
                <a16:creationId xmlns:a16="http://schemas.microsoft.com/office/drawing/2014/main" id="{BCC82330-C78B-44CC-50EE-A3C8DB6BA934}"/>
              </a:ext>
            </a:extLst>
          </p:cNvPr>
          <p:cNvSpPr/>
          <p:nvPr/>
        </p:nvSpPr>
        <p:spPr>
          <a:xfrm>
            <a:off x="305" y="6428694"/>
            <a:ext cx="12191695" cy="320040"/>
          </a:xfrm>
          <a:prstGeom prst="rect">
            <a:avLst/>
          </a:prstGeom>
          <a:noFill/>
          <a:ln/>
        </p:spPr>
        <p:txBody>
          <a:bodyPr wrap="square" lIns="0" tIns="0" rIns="0" bIns="0" rtlCol="0" anchor="ctr"/>
          <a:lstStyle/>
          <a:p>
            <a:pPr marL="0" indent="0" algn="ctr">
              <a:buNone/>
            </a:pPr>
            <a:r>
              <a:rPr lang="en-US" sz="950" kern="0" spc="200">
                <a:solidFill>
                  <a:srgbClr val="8A93A8"/>
                </a:solidFill>
                <a:latin typeface="Arial" pitchFamily="34" charset="0"/>
                <a:ea typeface="Arial" pitchFamily="34" charset="-122"/>
                <a:cs typeface="Arial" pitchFamily="34" charset="-120"/>
              </a:rPr>
              <a:t>D A T A H A C K   S U M M I T   2 0 2 6</a:t>
            </a:r>
            <a:endParaRPr lang="en-US" sz="950"/>
          </a:p>
        </p:txBody>
      </p:sp>
      <p:pic>
        <p:nvPicPr>
          <p:cNvPr id="23" name="Picture 22" descr="preencoded.png">
            <a:extLst>
              <a:ext uri="{FF2B5EF4-FFF2-40B4-BE49-F238E27FC236}">
                <a16:creationId xmlns:a16="http://schemas.microsoft.com/office/drawing/2014/main" id="{53393AC9-75FD-2E42-9B88-0AA96BFD96C0}"/>
              </a:ext>
            </a:extLst>
          </p:cNvPr>
          <p:cNvPicPr>
            <a:picLocks noChangeAspect="1"/>
          </p:cNvPicPr>
          <p:nvPr/>
        </p:nvPicPr>
        <p:blipFill>
          <a:blip r:embed="rId3"/>
          <a:srcRect b="-176"/>
          <a:stretch>
            <a:fillRect/>
          </a:stretch>
        </p:blipFill>
        <p:spPr>
          <a:xfrm>
            <a:off x="10792419" y="367621"/>
            <a:ext cx="852695" cy="852309"/>
          </a:xfrm>
          <a:prstGeom prst="rect">
            <a:avLst/>
          </a:prstGeom>
        </p:spPr>
      </p:pic>
      <p:sp>
        <p:nvSpPr>
          <p:cNvPr id="6" name="Text 3">
            <a:extLst>
              <a:ext uri="{FF2B5EF4-FFF2-40B4-BE49-F238E27FC236}">
                <a16:creationId xmlns:a16="http://schemas.microsoft.com/office/drawing/2014/main" id="{64FD6A91-A4AB-1D61-4416-5F0DA13C41A1}"/>
              </a:ext>
            </a:extLst>
          </p:cNvPr>
          <p:cNvSpPr/>
          <p:nvPr/>
        </p:nvSpPr>
        <p:spPr>
          <a:xfrm>
            <a:off x="512064" y="1380376"/>
            <a:ext cx="8686800" cy="411480"/>
          </a:xfrm>
          <a:prstGeom prst="rect">
            <a:avLst/>
          </a:prstGeom>
          <a:noFill/>
          <a:ln/>
        </p:spPr>
        <p:txBody>
          <a:bodyPr wrap="square" lIns="0" tIns="0" rIns="0" bIns="0" rtlCol="0" anchor="ctr"/>
          <a:lstStyle/>
          <a:p>
            <a:pPr marL="0" indent="0">
              <a:buNone/>
            </a:pPr>
            <a:r>
              <a:rPr lang="en-US" sz="1350" i="1" dirty="0">
                <a:solidFill>
                  <a:srgbClr val="8A93A8"/>
                </a:solidFill>
                <a:latin typeface="Calibri" pitchFamily="34" charset="0"/>
                <a:ea typeface="Calibri" pitchFamily="34" charset="-122"/>
                <a:cs typeface="Calibri" pitchFamily="34" charset="-120"/>
              </a:rPr>
              <a:t>Benefits beyond context tracing</a:t>
            </a:r>
          </a:p>
        </p:txBody>
      </p:sp>
      <p:pic>
        <p:nvPicPr>
          <p:cNvPr id="5" name="Picture 4">
            <a:extLst>
              <a:ext uri="{FF2B5EF4-FFF2-40B4-BE49-F238E27FC236}">
                <a16:creationId xmlns:a16="http://schemas.microsoft.com/office/drawing/2014/main" id="{4248CE36-6EAA-9083-A8EF-23037B64A5F7}"/>
              </a:ext>
            </a:extLst>
          </p:cNvPr>
          <p:cNvPicPr>
            <a:picLocks noChangeAspect="1"/>
          </p:cNvPicPr>
          <p:nvPr/>
        </p:nvPicPr>
        <p:blipFill>
          <a:blip r:embed="rId4"/>
          <a:stretch>
            <a:fillRect/>
          </a:stretch>
        </p:blipFill>
        <p:spPr>
          <a:xfrm>
            <a:off x="1462661" y="1818921"/>
            <a:ext cx="9498931" cy="4609774"/>
          </a:xfrm>
          <a:prstGeom prst="rect">
            <a:avLst/>
          </a:prstGeom>
          <a:ln>
            <a:solidFill>
              <a:schemeClr val="bg1">
                <a:lumMod val="85000"/>
              </a:schemeClr>
            </a:solidFill>
          </a:ln>
        </p:spPr>
      </p:pic>
    </p:spTree>
    <p:extLst>
      <p:ext uri="{BB962C8B-B14F-4D97-AF65-F5344CB8AC3E}">
        <p14:creationId xmlns:p14="http://schemas.microsoft.com/office/powerpoint/2010/main" val="42386493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3C1E847-8A61-42FA-68D3-2F9DDD68876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441F083-33DF-B722-AF40-14FBD4D7D8C2}"/>
              </a:ext>
            </a:extLst>
          </p:cNvPr>
          <p:cNvSpPr/>
          <p:nvPr/>
        </p:nvSpPr>
        <p:spPr>
          <a:xfrm>
            <a:off x="502920" y="548640"/>
            <a:ext cx="82296" cy="603504"/>
          </a:xfrm>
          <a:prstGeom prst="rect">
            <a:avLst/>
          </a:prstGeom>
          <a:solidFill>
            <a:srgbClr val="FE7202"/>
          </a:solidFill>
          <a:ln/>
        </p:spPr>
        <p:txBody>
          <a:bodyPr/>
          <a:lstStyle/>
          <a:p>
            <a:endParaRPr lang="en-US"/>
          </a:p>
        </p:txBody>
      </p:sp>
      <p:sp>
        <p:nvSpPr>
          <p:cNvPr id="3" name="Text 1">
            <a:extLst>
              <a:ext uri="{FF2B5EF4-FFF2-40B4-BE49-F238E27FC236}">
                <a16:creationId xmlns:a16="http://schemas.microsoft.com/office/drawing/2014/main" id="{B70C259F-A0A1-7530-B029-FB176C0D7589}"/>
              </a:ext>
            </a:extLst>
          </p:cNvPr>
          <p:cNvSpPr/>
          <p:nvPr/>
        </p:nvSpPr>
        <p:spPr>
          <a:xfrm>
            <a:off x="731520" y="502920"/>
            <a:ext cx="10058400" cy="713232"/>
          </a:xfrm>
          <a:prstGeom prst="rect">
            <a:avLst/>
          </a:prstGeom>
          <a:noFill/>
          <a:ln/>
        </p:spPr>
        <p:txBody>
          <a:bodyPr wrap="square" lIns="0" tIns="0" rIns="0" bIns="0" rtlCol="0" anchor="ctr"/>
          <a:lstStyle/>
          <a:p>
            <a:pPr marL="0" indent="0">
              <a:buNone/>
            </a:pPr>
            <a:r>
              <a:rPr lang="en-US" sz="2900" b="1" dirty="0">
                <a:solidFill>
                  <a:srgbClr val="0F2247"/>
                </a:solidFill>
                <a:latin typeface="Arial" pitchFamily="34" charset="0"/>
                <a:ea typeface="Arial" pitchFamily="34" charset="-122"/>
                <a:cs typeface="Arial" pitchFamily="34" charset="-120"/>
              </a:rPr>
              <a:t>AOE Blueprint</a:t>
            </a:r>
          </a:p>
        </p:txBody>
      </p:sp>
      <p:sp>
        <p:nvSpPr>
          <p:cNvPr id="4" name="Shape 2">
            <a:extLst>
              <a:ext uri="{FF2B5EF4-FFF2-40B4-BE49-F238E27FC236}">
                <a16:creationId xmlns:a16="http://schemas.microsoft.com/office/drawing/2014/main" id="{D7AE8DE5-96A9-99C3-7EF0-E260479221BC}"/>
              </a:ext>
            </a:extLst>
          </p:cNvPr>
          <p:cNvSpPr/>
          <p:nvPr/>
        </p:nvSpPr>
        <p:spPr>
          <a:xfrm>
            <a:off x="502920" y="1325880"/>
            <a:ext cx="11183112" cy="27432"/>
          </a:xfrm>
          <a:prstGeom prst="rect">
            <a:avLst/>
          </a:prstGeom>
          <a:solidFill>
            <a:srgbClr val="FE7202"/>
          </a:solidFill>
          <a:ln/>
        </p:spPr>
        <p:txBody>
          <a:bodyPr/>
          <a:lstStyle/>
          <a:p>
            <a:endParaRPr lang="en-US"/>
          </a:p>
        </p:txBody>
      </p:sp>
      <p:sp>
        <p:nvSpPr>
          <p:cNvPr id="21" name="Text 18">
            <a:extLst>
              <a:ext uri="{FF2B5EF4-FFF2-40B4-BE49-F238E27FC236}">
                <a16:creationId xmlns:a16="http://schemas.microsoft.com/office/drawing/2014/main" id="{F3F03AEA-609F-3579-2B2A-D86585C60B23}"/>
              </a:ext>
            </a:extLst>
          </p:cNvPr>
          <p:cNvSpPr/>
          <p:nvPr/>
        </p:nvSpPr>
        <p:spPr>
          <a:xfrm>
            <a:off x="305" y="6428694"/>
            <a:ext cx="12191695" cy="320040"/>
          </a:xfrm>
          <a:prstGeom prst="rect">
            <a:avLst/>
          </a:prstGeom>
          <a:noFill/>
          <a:ln/>
        </p:spPr>
        <p:txBody>
          <a:bodyPr wrap="square" lIns="0" tIns="0" rIns="0" bIns="0" rtlCol="0" anchor="ctr"/>
          <a:lstStyle/>
          <a:p>
            <a:pPr marL="0" indent="0" algn="ctr">
              <a:buNone/>
            </a:pPr>
            <a:r>
              <a:rPr lang="en-US" sz="950" kern="0" spc="200">
                <a:solidFill>
                  <a:srgbClr val="8A93A8"/>
                </a:solidFill>
                <a:latin typeface="Arial" pitchFamily="34" charset="0"/>
                <a:ea typeface="Arial" pitchFamily="34" charset="-122"/>
                <a:cs typeface="Arial" pitchFamily="34" charset="-120"/>
              </a:rPr>
              <a:t>D A T A H A C K   S U M M I T   2 0 2 6</a:t>
            </a:r>
            <a:endParaRPr lang="en-US" sz="950"/>
          </a:p>
        </p:txBody>
      </p:sp>
      <p:pic>
        <p:nvPicPr>
          <p:cNvPr id="23" name="Picture 22" descr="preencoded.png">
            <a:extLst>
              <a:ext uri="{FF2B5EF4-FFF2-40B4-BE49-F238E27FC236}">
                <a16:creationId xmlns:a16="http://schemas.microsoft.com/office/drawing/2014/main" id="{5AD4CA18-80FD-92BF-B36D-77D19A66E0DA}"/>
              </a:ext>
            </a:extLst>
          </p:cNvPr>
          <p:cNvPicPr>
            <a:picLocks noChangeAspect="1"/>
          </p:cNvPicPr>
          <p:nvPr/>
        </p:nvPicPr>
        <p:blipFill>
          <a:blip r:embed="rId3"/>
          <a:srcRect b="-176"/>
          <a:stretch>
            <a:fillRect/>
          </a:stretch>
        </p:blipFill>
        <p:spPr>
          <a:xfrm>
            <a:off x="10792419" y="367621"/>
            <a:ext cx="852695" cy="852309"/>
          </a:xfrm>
          <a:prstGeom prst="rect">
            <a:avLst/>
          </a:prstGeom>
        </p:spPr>
      </p:pic>
      <p:pic>
        <p:nvPicPr>
          <p:cNvPr id="7" name="Picture 6">
            <a:extLst>
              <a:ext uri="{FF2B5EF4-FFF2-40B4-BE49-F238E27FC236}">
                <a16:creationId xmlns:a16="http://schemas.microsoft.com/office/drawing/2014/main" id="{837B005A-E2C1-D0E0-9D7A-2CFA152F58D7}"/>
              </a:ext>
            </a:extLst>
          </p:cNvPr>
          <p:cNvPicPr>
            <a:picLocks noChangeAspect="1"/>
          </p:cNvPicPr>
          <p:nvPr/>
        </p:nvPicPr>
        <p:blipFill>
          <a:blip r:embed="rId4"/>
          <a:stretch>
            <a:fillRect/>
          </a:stretch>
        </p:blipFill>
        <p:spPr>
          <a:xfrm>
            <a:off x="982989" y="1459263"/>
            <a:ext cx="10346168" cy="4887136"/>
          </a:xfrm>
          <a:prstGeom prst="rect">
            <a:avLst/>
          </a:prstGeom>
          <a:ln>
            <a:solidFill>
              <a:schemeClr val="bg1">
                <a:lumMod val="85000"/>
              </a:schemeClr>
            </a:solidFill>
          </a:ln>
        </p:spPr>
      </p:pic>
    </p:spTree>
    <p:extLst>
      <p:ext uri="{BB962C8B-B14F-4D97-AF65-F5344CB8AC3E}">
        <p14:creationId xmlns:p14="http://schemas.microsoft.com/office/powerpoint/2010/main" val="42576544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812B9DD-9EDF-6BA1-3564-8D97B6534741}"/>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D5D7A14F-5640-6B0D-CB8D-330D19474858}"/>
              </a:ext>
            </a:extLst>
          </p:cNvPr>
          <p:cNvSpPr/>
          <p:nvPr/>
        </p:nvSpPr>
        <p:spPr>
          <a:xfrm>
            <a:off x="502920" y="1417320"/>
            <a:ext cx="2926080" cy="1554480"/>
          </a:xfrm>
          <a:prstGeom prst="rect">
            <a:avLst/>
          </a:prstGeom>
          <a:noFill/>
          <a:ln/>
        </p:spPr>
        <p:txBody>
          <a:bodyPr wrap="square" lIns="0" tIns="0" rIns="0" bIns="0" rtlCol="0" anchor="ctr"/>
          <a:lstStyle/>
          <a:p>
            <a:pPr marL="0" indent="0">
              <a:buNone/>
            </a:pPr>
            <a:r>
              <a:rPr lang="en-US" sz="10400" b="1" dirty="0">
                <a:solidFill>
                  <a:srgbClr val="2D7FF9"/>
                </a:solidFill>
                <a:latin typeface="Arial" pitchFamily="34" charset="0"/>
                <a:ea typeface="Arial" pitchFamily="34" charset="-122"/>
                <a:cs typeface="Arial" pitchFamily="34" charset="-120"/>
              </a:rPr>
              <a:t>03</a:t>
            </a:r>
            <a:endParaRPr lang="en-US" sz="10400" dirty="0"/>
          </a:p>
        </p:txBody>
      </p:sp>
      <p:sp>
        <p:nvSpPr>
          <p:cNvPr id="4" name="Text 1">
            <a:extLst>
              <a:ext uri="{FF2B5EF4-FFF2-40B4-BE49-F238E27FC236}">
                <a16:creationId xmlns:a16="http://schemas.microsoft.com/office/drawing/2014/main" id="{058CE73E-85EC-D66F-4F2E-C0E6CEF49FEB}"/>
              </a:ext>
            </a:extLst>
          </p:cNvPr>
          <p:cNvSpPr/>
          <p:nvPr/>
        </p:nvSpPr>
        <p:spPr>
          <a:xfrm>
            <a:off x="530352" y="3063240"/>
            <a:ext cx="4572000" cy="292608"/>
          </a:xfrm>
          <a:prstGeom prst="rect">
            <a:avLst/>
          </a:prstGeom>
          <a:noFill/>
          <a:ln/>
        </p:spPr>
        <p:txBody>
          <a:bodyPr wrap="square" lIns="0" tIns="0" rIns="0" bIns="0" rtlCol="0" anchor="ctr"/>
          <a:lstStyle/>
          <a:p>
            <a:pPr marL="0" indent="0">
              <a:buNone/>
            </a:pPr>
            <a:r>
              <a:rPr lang="en-US" sz="1300" b="1" kern="0" spc="400" dirty="0">
                <a:solidFill>
                  <a:srgbClr val="1FB6A6"/>
                </a:solidFill>
                <a:latin typeface="Arial" pitchFamily="34" charset="0"/>
                <a:ea typeface="Arial" pitchFamily="34" charset="-122"/>
                <a:cs typeface="Arial" pitchFamily="34" charset="-120"/>
              </a:rPr>
              <a:t>DEMO</a:t>
            </a:r>
            <a:endParaRPr lang="en-US" sz="1300" dirty="0"/>
          </a:p>
        </p:txBody>
      </p:sp>
      <p:sp>
        <p:nvSpPr>
          <p:cNvPr id="5" name="Text 2">
            <a:extLst>
              <a:ext uri="{FF2B5EF4-FFF2-40B4-BE49-F238E27FC236}">
                <a16:creationId xmlns:a16="http://schemas.microsoft.com/office/drawing/2014/main" id="{DFA690C6-0F8A-8B17-A1A2-4C0D3A27FA15}"/>
              </a:ext>
            </a:extLst>
          </p:cNvPr>
          <p:cNvSpPr/>
          <p:nvPr/>
        </p:nvSpPr>
        <p:spPr>
          <a:xfrm>
            <a:off x="502920" y="3429000"/>
            <a:ext cx="7947692" cy="1097280"/>
          </a:xfrm>
          <a:prstGeom prst="rect">
            <a:avLst/>
          </a:prstGeom>
          <a:noFill/>
          <a:ln/>
        </p:spPr>
        <p:txBody>
          <a:bodyPr wrap="square" lIns="0" tIns="0" rIns="0" bIns="0" rtlCol="0" anchor="ctr"/>
          <a:lstStyle/>
          <a:p>
            <a:pPr marL="0" indent="0">
              <a:lnSpc>
                <a:spcPct val="100000"/>
              </a:lnSpc>
              <a:buNone/>
            </a:pPr>
            <a:r>
              <a:rPr lang="en-US" sz="4200" b="1" dirty="0">
                <a:solidFill>
                  <a:srgbClr val="FFFFFF"/>
                </a:solidFill>
                <a:latin typeface="Arial" pitchFamily="34" charset="0"/>
                <a:ea typeface="Arial" pitchFamily="34" charset="-122"/>
                <a:cs typeface="Arial" pitchFamily="34" charset="-120"/>
              </a:rPr>
              <a:t>The Framework in Action</a:t>
            </a:r>
          </a:p>
        </p:txBody>
      </p:sp>
      <p:sp>
        <p:nvSpPr>
          <p:cNvPr id="7" name="Text 4">
            <a:extLst>
              <a:ext uri="{FF2B5EF4-FFF2-40B4-BE49-F238E27FC236}">
                <a16:creationId xmlns:a16="http://schemas.microsoft.com/office/drawing/2014/main" id="{84450B12-016C-9C8B-C6AD-1D8B809D9110}"/>
              </a:ext>
            </a:extLst>
          </p:cNvPr>
          <p:cNvSpPr/>
          <p:nvPr/>
        </p:nvSpPr>
        <p:spPr>
          <a:xfrm>
            <a:off x="502920" y="6400800"/>
            <a:ext cx="7315200" cy="320040"/>
          </a:xfrm>
          <a:prstGeom prst="rect">
            <a:avLst/>
          </a:prstGeom>
          <a:noFill/>
          <a:ln/>
        </p:spPr>
        <p:txBody>
          <a:bodyPr wrap="square" lIns="0" tIns="0" rIns="0" bIns="0" rtlCol="0" anchor="ctr"/>
          <a:lstStyle/>
          <a:p>
            <a:pPr marL="0" indent="0">
              <a:buNone/>
            </a:pPr>
            <a:r>
              <a:rPr lang="en-US" sz="1100">
                <a:solidFill>
                  <a:srgbClr val="9AA4C0"/>
                </a:solidFill>
                <a:latin typeface="Calibri" pitchFamily="34" charset="0"/>
                <a:ea typeface="Calibri" pitchFamily="34" charset="-122"/>
                <a:cs typeface="Calibri" pitchFamily="34" charset="-120"/>
              </a:rPr>
              <a:t>August 05–08, 2026  ·  The Leela Bhartiya City, Bengaluru</a:t>
            </a:r>
            <a:endParaRPr lang="en-US" sz="1100"/>
          </a:p>
        </p:txBody>
      </p:sp>
      <p:sp>
        <p:nvSpPr>
          <p:cNvPr id="8" name="Text 5">
            <a:extLst>
              <a:ext uri="{FF2B5EF4-FFF2-40B4-BE49-F238E27FC236}">
                <a16:creationId xmlns:a16="http://schemas.microsoft.com/office/drawing/2014/main" id="{18F41AFE-F5F6-85EF-F25A-7B135BA1ABA3}"/>
              </a:ext>
            </a:extLst>
          </p:cNvPr>
          <p:cNvSpPr/>
          <p:nvPr/>
        </p:nvSpPr>
        <p:spPr>
          <a:xfrm>
            <a:off x="8450612" y="6533848"/>
            <a:ext cx="3456432" cy="320040"/>
          </a:xfrm>
          <a:prstGeom prst="rect">
            <a:avLst/>
          </a:prstGeom>
          <a:noFill/>
          <a:ln/>
        </p:spPr>
        <p:txBody>
          <a:bodyPr wrap="square" lIns="0" tIns="0" rIns="0" bIns="0" rtlCol="0" anchor="ctr"/>
          <a:lstStyle/>
          <a:p>
            <a:pPr algn="r"/>
            <a:r>
              <a:rPr lang="en-US" sz="1300" b="1">
                <a:solidFill>
                  <a:srgbClr val="3886F0"/>
                </a:solidFill>
                <a:latin typeface="Arial"/>
                <a:ea typeface="+mn-lt"/>
                <a:cs typeface="Arial"/>
              </a:rPr>
              <a:t>Human</a:t>
            </a:r>
            <a:r>
              <a:rPr lang="en-US" sz="1300">
                <a:solidFill>
                  <a:srgbClr val="777799"/>
                </a:solidFill>
                <a:latin typeface="Arial"/>
                <a:ea typeface="+mn-lt"/>
                <a:cs typeface="Arial"/>
              </a:rPr>
              <a:t> × </a:t>
            </a:r>
            <a:r>
              <a:rPr lang="en-US" sz="1300" b="1">
                <a:solidFill>
                  <a:srgbClr val="17B4AC"/>
                </a:solidFill>
                <a:latin typeface="Arial"/>
                <a:ea typeface="+mn-lt"/>
                <a:cs typeface="Arial"/>
              </a:rPr>
              <a:t>AI</a:t>
            </a:r>
            <a:endParaRPr lang="en-US" sz="1300">
              <a:solidFill>
                <a:srgbClr val="17B4AC"/>
              </a:solidFill>
              <a:latin typeface="Arial"/>
              <a:ea typeface="+mn-lt"/>
              <a:cs typeface="Arial"/>
            </a:endParaRPr>
          </a:p>
          <a:p>
            <a:pPr algn="r"/>
            <a:endParaRPr lang="en-US" sz="1300" b="1">
              <a:solidFill>
                <a:srgbClr val="FFFFFF"/>
              </a:solidFill>
              <a:latin typeface="Arial"/>
              <a:ea typeface="Calibri"/>
              <a:cs typeface="Arial"/>
            </a:endParaRPr>
          </a:p>
        </p:txBody>
      </p:sp>
      <p:pic>
        <p:nvPicPr>
          <p:cNvPr id="10" name="Picture 9" descr="preencoded.png">
            <a:extLst>
              <a:ext uri="{FF2B5EF4-FFF2-40B4-BE49-F238E27FC236}">
                <a16:creationId xmlns:a16="http://schemas.microsoft.com/office/drawing/2014/main" id="{23717482-86D5-DDE1-2A0D-8B8C08F2C04C}"/>
              </a:ext>
            </a:extLst>
          </p:cNvPr>
          <p:cNvPicPr>
            <a:picLocks noChangeAspect="1"/>
          </p:cNvPicPr>
          <p:nvPr/>
        </p:nvPicPr>
        <p:blipFill>
          <a:blip r:embed="rId4"/>
          <a:srcRect b="-176"/>
          <a:stretch>
            <a:fillRect/>
          </a:stretch>
        </p:blipFill>
        <p:spPr>
          <a:xfrm>
            <a:off x="6704013" y="481013"/>
            <a:ext cx="5483224" cy="5460161"/>
          </a:xfrm>
          <a:prstGeom prst="rect">
            <a:avLst/>
          </a:prstGeom>
        </p:spPr>
      </p:pic>
      <p:sp>
        <p:nvSpPr>
          <p:cNvPr id="2" name="Text 2">
            <a:extLst>
              <a:ext uri="{FF2B5EF4-FFF2-40B4-BE49-F238E27FC236}">
                <a16:creationId xmlns:a16="http://schemas.microsoft.com/office/drawing/2014/main" id="{585A70A5-52CE-1F0C-2EF4-9B7FAB1C119A}"/>
              </a:ext>
            </a:extLst>
          </p:cNvPr>
          <p:cNvSpPr/>
          <p:nvPr/>
        </p:nvSpPr>
        <p:spPr>
          <a:xfrm>
            <a:off x="530352" y="4050792"/>
            <a:ext cx="7947692" cy="1097280"/>
          </a:xfrm>
          <a:prstGeom prst="rect">
            <a:avLst/>
          </a:prstGeom>
          <a:noFill/>
          <a:ln/>
        </p:spPr>
        <p:txBody>
          <a:bodyPr wrap="square" lIns="0" tIns="0" rIns="0" bIns="0" rtlCol="0" anchor="ctr"/>
          <a:lstStyle/>
          <a:p>
            <a:pPr marL="0" indent="0">
              <a:lnSpc>
                <a:spcPct val="100000"/>
              </a:lnSpc>
              <a:buNone/>
            </a:pPr>
            <a:r>
              <a:rPr lang="en-US" sz="1600" dirty="0">
                <a:solidFill>
                  <a:srgbClr val="FFFFFF"/>
                </a:solidFill>
                <a:latin typeface="Arial" pitchFamily="34" charset="0"/>
                <a:ea typeface="Arial" pitchFamily="34" charset="-122"/>
                <a:cs typeface="Arial" pitchFamily="34" charset="-120"/>
              </a:rPr>
              <a:t>A live walkthrough with a sample example</a:t>
            </a:r>
          </a:p>
        </p:txBody>
      </p:sp>
    </p:spTree>
    <p:extLst>
      <p:ext uri="{BB962C8B-B14F-4D97-AF65-F5344CB8AC3E}">
        <p14:creationId xmlns:p14="http://schemas.microsoft.com/office/powerpoint/2010/main" val="26365165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340E2E1-EA7E-44E8-F268-ABC93B103DFF}"/>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73A65E77-5535-DD33-C841-CD8293CD02D6}"/>
              </a:ext>
            </a:extLst>
          </p:cNvPr>
          <p:cNvPicPr>
            <a:picLocks noChangeAspect="1"/>
          </p:cNvPicPr>
          <p:nvPr/>
        </p:nvPicPr>
        <p:blipFill>
          <a:blip r:embed="rId3"/>
          <a:stretch>
            <a:fillRect/>
          </a:stretch>
        </p:blipFill>
        <p:spPr>
          <a:xfrm>
            <a:off x="1194321" y="1417320"/>
            <a:ext cx="10037980" cy="4901646"/>
          </a:xfrm>
          <a:prstGeom prst="rect">
            <a:avLst/>
          </a:prstGeom>
        </p:spPr>
      </p:pic>
      <p:sp>
        <p:nvSpPr>
          <p:cNvPr id="2" name="Shape 0">
            <a:extLst>
              <a:ext uri="{FF2B5EF4-FFF2-40B4-BE49-F238E27FC236}">
                <a16:creationId xmlns:a16="http://schemas.microsoft.com/office/drawing/2014/main" id="{EF216D59-4495-E964-799B-C421514493E3}"/>
              </a:ext>
            </a:extLst>
          </p:cNvPr>
          <p:cNvSpPr/>
          <p:nvPr/>
        </p:nvSpPr>
        <p:spPr>
          <a:xfrm>
            <a:off x="502920" y="548640"/>
            <a:ext cx="82296" cy="603504"/>
          </a:xfrm>
          <a:prstGeom prst="rect">
            <a:avLst/>
          </a:prstGeom>
          <a:solidFill>
            <a:srgbClr val="FE7202"/>
          </a:solidFill>
          <a:ln/>
        </p:spPr>
        <p:txBody>
          <a:bodyPr/>
          <a:lstStyle/>
          <a:p>
            <a:endParaRPr lang="en-US"/>
          </a:p>
        </p:txBody>
      </p:sp>
      <p:sp>
        <p:nvSpPr>
          <p:cNvPr id="3" name="Text 1">
            <a:extLst>
              <a:ext uri="{FF2B5EF4-FFF2-40B4-BE49-F238E27FC236}">
                <a16:creationId xmlns:a16="http://schemas.microsoft.com/office/drawing/2014/main" id="{CE38F516-388F-BB2D-9F90-05141E48D8FA}"/>
              </a:ext>
            </a:extLst>
          </p:cNvPr>
          <p:cNvSpPr/>
          <p:nvPr/>
        </p:nvSpPr>
        <p:spPr>
          <a:xfrm>
            <a:off x="731520" y="502920"/>
            <a:ext cx="10058400" cy="713232"/>
          </a:xfrm>
          <a:prstGeom prst="rect">
            <a:avLst/>
          </a:prstGeom>
          <a:noFill/>
          <a:ln/>
        </p:spPr>
        <p:txBody>
          <a:bodyPr wrap="square" lIns="0" tIns="0" rIns="0" bIns="0" rtlCol="0" anchor="ctr"/>
          <a:lstStyle/>
          <a:p>
            <a:pPr marL="0" indent="0">
              <a:buNone/>
            </a:pPr>
            <a:r>
              <a:rPr lang="en-US" sz="2900" b="1" dirty="0">
                <a:solidFill>
                  <a:srgbClr val="0F2247"/>
                </a:solidFill>
                <a:latin typeface="Arial" pitchFamily="34" charset="0"/>
                <a:ea typeface="Arial" pitchFamily="34" charset="-122"/>
                <a:cs typeface="Arial" pitchFamily="34" charset="-120"/>
              </a:rPr>
              <a:t>Key takeaways</a:t>
            </a:r>
          </a:p>
        </p:txBody>
      </p:sp>
      <p:sp>
        <p:nvSpPr>
          <p:cNvPr id="4" name="Shape 2">
            <a:extLst>
              <a:ext uri="{FF2B5EF4-FFF2-40B4-BE49-F238E27FC236}">
                <a16:creationId xmlns:a16="http://schemas.microsoft.com/office/drawing/2014/main" id="{4652DA4A-7ECC-5003-6021-14B4276EF89D}"/>
              </a:ext>
            </a:extLst>
          </p:cNvPr>
          <p:cNvSpPr/>
          <p:nvPr/>
        </p:nvSpPr>
        <p:spPr>
          <a:xfrm>
            <a:off x="502920" y="1325880"/>
            <a:ext cx="11183112" cy="27432"/>
          </a:xfrm>
          <a:prstGeom prst="rect">
            <a:avLst/>
          </a:prstGeom>
          <a:solidFill>
            <a:srgbClr val="FE7202"/>
          </a:solidFill>
          <a:ln/>
        </p:spPr>
        <p:txBody>
          <a:bodyPr/>
          <a:lstStyle/>
          <a:p>
            <a:endParaRPr lang="en-US"/>
          </a:p>
        </p:txBody>
      </p:sp>
      <p:sp>
        <p:nvSpPr>
          <p:cNvPr id="21" name="Text 18">
            <a:extLst>
              <a:ext uri="{FF2B5EF4-FFF2-40B4-BE49-F238E27FC236}">
                <a16:creationId xmlns:a16="http://schemas.microsoft.com/office/drawing/2014/main" id="{4BFECEE2-8C4A-B092-3F37-32C496BC2376}"/>
              </a:ext>
            </a:extLst>
          </p:cNvPr>
          <p:cNvSpPr/>
          <p:nvPr/>
        </p:nvSpPr>
        <p:spPr>
          <a:xfrm>
            <a:off x="305" y="6428694"/>
            <a:ext cx="12191695" cy="320040"/>
          </a:xfrm>
          <a:prstGeom prst="rect">
            <a:avLst/>
          </a:prstGeom>
          <a:noFill/>
          <a:ln/>
        </p:spPr>
        <p:txBody>
          <a:bodyPr wrap="square" lIns="0" tIns="0" rIns="0" bIns="0" rtlCol="0" anchor="ctr"/>
          <a:lstStyle/>
          <a:p>
            <a:pPr marL="0" indent="0" algn="ctr">
              <a:buNone/>
            </a:pPr>
            <a:r>
              <a:rPr lang="en-US" sz="950" kern="0" spc="200">
                <a:solidFill>
                  <a:srgbClr val="8A93A8"/>
                </a:solidFill>
                <a:latin typeface="Arial" pitchFamily="34" charset="0"/>
                <a:ea typeface="Arial" pitchFamily="34" charset="-122"/>
                <a:cs typeface="Arial" pitchFamily="34" charset="-120"/>
              </a:rPr>
              <a:t>D A T A H A C K   S U M M I T   2 0 2 6</a:t>
            </a:r>
            <a:endParaRPr lang="en-US" sz="950"/>
          </a:p>
        </p:txBody>
      </p:sp>
      <p:pic>
        <p:nvPicPr>
          <p:cNvPr id="23" name="Picture 22" descr="preencoded.png">
            <a:extLst>
              <a:ext uri="{FF2B5EF4-FFF2-40B4-BE49-F238E27FC236}">
                <a16:creationId xmlns:a16="http://schemas.microsoft.com/office/drawing/2014/main" id="{428AB75E-1FA1-2408-AFEF-4E4F06740B77}"/>
              </a:ext>
            </a:extLst>
          </p:cNvPr>
          <p:cNvPicPr>
            <a:picLocks noChangeAspect="1"/>
          </p:cNvPicPr>
          <p:nvPr/>
        </p:nvPicPr>
        <p:blipFill>
          <a:blip r:embed="rId4"/>
          <a:srcRect b="-176"/>
          <a:stretch>
            <a:fillRect/>
          </a:stretch>
        </p:blipFill>
        <p:spPr>
          <a:xfrm>
            <a:off x="10792419" y="367621"/>
            <a:ext cx="852695" cy="852309"/>
          </a:xfrm>
          <a:prstGeom prst="rect">
            <a:avLst/>
          </a:prstGeom>
        </p:spPr>
      </p:pic>
    </p:spTree>
    <p:extLst>
      <p:ext uri="{BB962C8B-B14F-4D97-AF65-F5344CB8AC3E}">
        <p14:creationId xmlns:p14="http://schemas.microsoft.com/office/powerpoint/2010/main" val="26826673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199954D-08C9-0F75-F047-3B3CECA6460B}"/>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D769C5D2-CC51-5B37-4886-C019E4FA1F77}"/>
              </a:ext>
            </a:extLst>
          </p:cNvPr>
          <p:cNvSpPr/>
          <p:nvPr/>
        </p:nvSpPr>
        <p:spPr>
          <a:xfrm>
            <a:off x="320040" y="914400"/>
            <a:ext cx="1828800" cy="1828800"/>
          </a:xfrm>
          <a:prstGeom prst="rect">
            <a:avLst/>
          </a:prstGeom>
          <a:noFill/>
          <a:ln/>
        </p:spPr>
        <p:txBody>
          <a:bodyPr wrap="square" lIns="0" tIns="0" rIns="0" bIns="0" rtlCol="0" anchor="ctr"/>
          <a:lstStyle/>
          <a:p>
            <a:pPr marL="0" indent="0">
              <a:buNone/>
            </a:pPr>
            <a:r>
              <a:rPr lang="en-US" sz="15000" b="1">
                <a:solidFill>
                  <a:srgbClr val="2D7FF9"/>
                </a:solidFill>
                <a:latin typeface="Georgia" pitchFamily="34" charset="0"/>
                <a:ea typeface="Georgia" pitchFamily="34" charset="-122"/>
                <a:cs typeface="Georgia" pitchFamily="34" charset="-120"/>
              </a:rPr>
              <a:t>“</a:t>
            </a:r>
            <a:endParaRPr lang="en-US" sz="15000"/>
          </a:p>
        </p:txBody>
      </p:sp>
      <p:sp>
        <p:nvSpPr>
          <p:cNvPr id="4" name="Text 1">
            <a:extLst>
              <a:ext uri="{FF2B5EF4-FFF2-40B4-BE49-F238E27FC236}">
                <a16:creationId xmlns:a16="http://schemas.microsoft.com/office/drawing/2014/main" id="{818A64CC-8B3B-4BC7-055D-BC6DE1B91263}"/>
              </a:ext>
            </a:extLst>
          </p:cNvPr>
          <p:cNvSpPr/>
          <p:nvPr/>
        </p:nvSpPr>
        <p:spPr>
          <a:xfrm>
            <a:off x="908314" y="2531535"/>
            <a:ext cx="7040880" cy="2194560"/>
          </a:xfrm>
          <a:prstGeom prst="rect">
            <a:avLst/>
          </a:prstGeom>
          <a:noFill/>
          <a:ln/>
        </p:spPr>
        <p:txBody>
          <a:bodyPr wrap="square" lIns="0" tIns="0" rIns="0" bIns="0" rtlCol="0" anchor="ctr"/>
          <a:lstStyle/>
          <a:p>
            <a:pPr marL="0" indent="0">
              <a:lnSpc>
                <a:spcPct val="108000"/>
              </a:lnSpc>
              <a:buNone/>
            </a:pPr>
            <a:r>
              <a:rPr lang="en-US" sz="3400" b="1" dirty="0">
                <a:solidFill>
                  <a:srgbClr val="FFFFFF"/>
                </a:solidFill>
                <a:latin typeface="Arial" pitchFamily="34" charset="0"/>
                <a:ea typeface="Arial" pitchFamily="34" charset="-122"/>
                <a:cs typeface="Arial" pitchFamily="34" charset="-120"/>
              </a:rPr>
              <a:t>Questions</a:t>
            </a:r>
          </a:p>
          <a:p>
            <a:pPr marL="0" indent="0">
              <a:lnSpc>
                <a:spcPct val="108000"/>
              </a:lnSpc>
              <a:buNone/>
            </a:pPr>
            <a:endParaRPr lang="en-US" sz="3400" b="1" dirty="0">
              <a:solidFill>
                <a:srgbClr val="FFFFFF"/>
              </a:solidFill>
              <a:latin typeface="Arial" pitchFamily="34" charset="0"/>
              <a:ea typeface="Arial" pitchFamily="34" charset="-122"/>
              <a:cs typeface="Arial" pitchFamily="34" charset="-120"/>
            </a:endParaRPr>
          </a:p>
        </p:txBody>
      </p:sp>
      <p:sp>
        <p:nvSpPr>
          <p:cNvPr id="5" name="Shape 2">
            <a:extLst>
              <a:ext uri="{FF2B5EF4-FFF2-40B4-BE49-F238E27FC236}">
                <a16:creationId xmlns:a16="http://schemas.microsoft.com/office/drawing/2014/main" id="{3BABC17D-3AEA-8334-C6BC-06DDE9FEBB72}"/>
              </a:ext>
            </a:extLst>
          </p:cNvPr>
          <p:cNvSpPr/>
          <p:nvPr/>
        </p:nvSpPr>
        <p:spPr>
          <a:xfrm>
            <a:off x="908314" y="3711787"/>
            <a:ext cx="457200" cy="45720"/>
          </a:xfrm>
          <a:prstGeom prst="rect">
            <a:avLst/>
          </a:prstGeom>
          <a:solidFill>
            <a:srgbClr val="1FB6A6"/>
          </a:solidFill>
          <a:ln/>
        </p:spPr>
        <p:txBody>
          <a:bodyPr/>
          <a:lstStyle/>
          <a:p>
            <a:endParaRPr lang="en-US"/>
          </a:p>
        </p:txBody>
      </p:sp>
      <p:sp>
        <p:nvSpPr>
          <p:cNvPr id="7" name="Text 4">
            <a:extLst>
              <a:ext uri="{FF2B5EF4-FFF2-40B4-BE49-F238E27FC236}">
                <a16:creationId xmlns:a16="http://schemas.microsoft.com/office/drawing/2014/main" id="{7B5A8EB9-0597-D8A2-4CA0-E796C64DA254}"/>
              </a:ext>
            </a:extLst>
          </p:cNvPr>
          <p:cNvSpPr/>
          <p:nvPr/>
        </p:nvSpPr>
        <p:spPr>
          <a:xfrm>
            <a:off x="502920" y="6400800"/>
            <a:ext cx="7315200" cy="320040"/>
          </a:xfrm>
          <a:prstGeom prst="rect">
            <a:avLst/>
          </a:prstGeom>
          <a:noFill/>
          <a:ln/>
        </p:spPr>
        <p:txBody>
          <a:bodyPr wrap="square" lIns="0" tIns="0" rIns="0" bIns="0" rtlCol="0" anchor="ctr"/>
          <a:lstStyle/>
          <a:p>
            <a:pPr marL="0" indent="0">
              <a:buNone/>
            </a:pPr>
            <a:r>
              <a:rPr lang="en-US" sz="1100">
                <a:solidFill>
                  <a:srgbClr val="9AA4C0"/>
                </a:solidFill>
                <a:latin typeface="Calibri" pitchFamily="34" charset="0"/>
                <a:ea typeface="Calibri" pitchFamily="34" charset="-122"/>
                <a:cs typeface="Calibri" pitchFamily="34" charset="-120"/>
              </a:rPr>
              <a:t>August 05–08, 2026  ·  The Leela Bhartiya City, Bengaluru</a:t>
            </a:r>
            <a:endParaRPr lang="en-US" sz="1100"/>
          </a:p>
        </p:txBody>
      </p:sp>
      <p:sp>
        <p:nvSpPr>
          <p:cNvPr id="8" name="Text 5">
            <a:extLst>
              <a:ext uri="{FF2B5EF4-FFF2-40B4-BE49-F238E27FC236}">
                <a16:creationId xmlns:a16="http://schemas.microsoft.com/office/drawing/2014/main" id="{FB55FE15-847B-DBDE-49CF-79A317570F10}"/>
              </a:ext>
            </a:extLst>
          </p:cNvPr>
          <p:cNvSpPr/>
          <p:nvPr/>
        </p:nvSpPr>
        <p:spPr>
          <a:xfrm>
            <a:off x="8229600" y="6400800"/>
            <a:ext cx="3456432" cy="320040"/>
          </a:xfrm>
          <a:prstGeom prst="rect">
            <a:avLst/>
          </a:prstGeom>
          <a:noFill/>
          <a:ln/>
        </p:spPr>
        <p:txBody>
          <a:bodyPr wrap="square" lIns="0" tIns="0" rIns="0" bIns="0" rtlCol="0" anchor="ctr"/>
          <a:lstStyle/>
          <a:p>
            <a:pPr algn="r"/>
            <a:r>
              <a:rPr lang="en-US" sz="1300" b="1">
                <a:solidFill>
                  <a:srgbClr val="2D7FF9"/>
                </a:solidFill>
                <a:latin typeface="Arial"/>
                <a:ea typeface="Arial" pitchFamily="34" charset="-122"/>
                <a:cs typeface="Arial"/>
              </a:rPr>
              <a:t>Human</a:t>
            </a:r>
            <a:r>
              <a:rPr lang="en-US" sz="1300">
                <a:solidFill>
                  <a:srgbClr val="9AA4C0"/>
                </a:solidFill>
                <a:latin typeface="Arial"/>
                <a:ea typeface="Arial" pitchFamily="34" charset="-122"/>
                <a:cs typeface="Arial"/>
              </a:rPr>
              <a:t> ×</a:t>
            </a:r>
            <a:r>
              <a:rPr lang="en-US" sz="1300" b="1">
                <a:solidFill>
                  <a:srgbClr val="1FB6A6"/>
                </a:solidFill>
                <a:latin typeface="Arial"/>
                <a:ea typeface="Arial" pitchFamily="34" charset="-122"/>
                <a:cs typeface="Arial"/>
              </a:rPr>
              <a:t>AI</a:t>
            </a:r>
            <a:endParaRPr lang="en-US" sz="1300">
              <a:solidFill>
                <a:srgbClr val="000000"/>
              </a:solidFill>
              <a:latin typeface="Arial"/>
              <a:ea typeface="Arial" pitchFamily="34" charset="-122"/>
              <a:cs typeface="Arial"/>
            </a:endParaRPr>
          </a:p>
        </p:txBody>
      </p:sp>
      <p:pic>
        <p:nvPicPr>
          <p:cNvPr id="10" name="Picture 9" descr="preencoded.png">
            <a:extLst>
              <a:ext uri="{FF2B5EF4-FFF2-40B4-BE49-F238E27FC236}">
                <a16:creationId xmlns:a16="http://schemas.microsoft.com/office/drawing/2014/main" id="{23E487A4-5416-3396-1659-3D72F5B029F9}"/>
              </a:ext>
            </a:extLst>
          </p:cNvPr>
          <p:cNvPicPr>
            <a:picLocks noChangeAspect="1"/>
          </p:cNvPicPr>
          <p:nvPr/>
        </p:nvPicPr>
        <p:blipFill>
          <a:blip r:embed="rId4"/>
          <a:srcRect b="-176"/>
          <a:stretch>
            <a:fillRect/>
          </a:stretch>
        </p:blipFill>
        <p:spPr>
          <a:xfrm>
            <a:off x="7413096" y="650347"/>
            <a:ext cx="5483224" cy="5460161"/>
          </a:xfrm>
          <a:prstGeom prst="rect">
            <a:avLst/>
          </a:prstGeom>
        </p:spPr>
      </p:pic>
    </p:spTree>
    <p:extLst>
      <p:ext uri="{BB962C8B-B14F-4D97-AF65-F5344CB8AC3E}">
        <p14:creationId xmlns:p14="http://schemas.microsoft.com/office/powerpoint/2010/main" val="27850884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Text 0"/>
          <p:cNvSpPr/>
          <p:nvPr/>
        </p:nvSpPr>
        <p:spPr>
          <a:xfrm>
            <a:off x="3706328" y="2836846"/>
            <a:ext cx="7315200" cy="1188720"/>
          </a:xfrm>
          <a:prstGeom prst="rect">
            <a:avLst/>
          </a:prstGeom>
          <a:noFill/>
          <a:ln/>
        </p:spPr>
        <p:txBody>
          <a:bodyPr wrap="square" lIns="0" tIns="0" rIns="0" bIns="0" rtlCol="0" anchor="ctr"/>
          <a:lstStyle/>
          <a:p>
            <a:pPr marL="0" indent="0">
              <a:buNone/>
            </a:pPr>
            <a:r>
              <a:rPr lang="en-US" sz="6400" b="1">
                <a:solidFill>
                  <a:srgbClr val="2D7FF9"/>
                </a:solidFill>
                <a:latin typeface="Arial" pitchFamily="34" charset="0"/>
                <a:ea typeface="Arial" pitchFamily="34" charset="-122"/>
                <a:cs typeface="Arial" pitchFamily="34" charset="-120"/>
              </a:rPr>
              <a:t>Thank </a:t>
            </a:r>
            <a:r>
              <a:rPr lang="en-US" sz="6400" b="1">
                <a:solidFill>
                  <a:srgbClr val="1FB6A6"/>
                </a:solidFill>
                <a:latin typeface="Arial" pitchFamily="34" charset="0"/>
                <a:ea typeface="Arial" pitchFamily="34" charset="-122"/>
                <a:cs typeface="Arial" pitchFamily="34" charset="-120"/>
              </a:rPr>
              <a:t>You</a:t>
            </a:r>
            <a:endParaRPr lang="en-US" sz="6400"/>
          </a:p>
        </p:txBody>
      </p:sp>
      <p:sp>
        <p:nvSpPr>
          <p:cNvPr id="15" name="Text 8"/>
          <p:cNvSpPr/>
          <p:nvPr/>
        </p:nvSpPr>
        <p:spPr>
          <a:xfrm>
            <a:off x="502920" y="6400800"/>
            <a:ext cx="7315200" cy="320040"/>
          </a:xfrm>
          <a:prstGeom prst="rect">
            <a:avLst/>
          </a:prstGeom>
          <a:noFill/>
          <a:ln/>
        </p:spPr>
        <p:txBody>
          <a:bodyPr wrap="square" lIns="0" tIns="0" rIns="0" bIns="0" rtlCol="0" anchor="ctr"/>
          <a:lstStyle/>
          <a:p>
            <a:pPr marL="0" indent="0">
              <a:buNone/>
            </a:pPr>
            <a:r>
              <a:rPr lang="en-US" sz="1100">
                <a:solidFill>
                  <a:srgbClr val="9AA4C0"/>
                </a:solidFill>
                <a:latin typeface="Calibri" pitchFamily="34" charset="0"/>
                <a:ea typeface="Calibri" pitchFamily="34" charset="-122"/>
                <a:cs typeface="Calibri" pitchFamily="34" charset="-120"/>
              </a:rPr>
              <a:t>August 05–08, 2026  ·  The Leela Bhartiya City, Bengaluru</a:t>
            </a:r>
            <a:endParaRPr lang="en-US" sz="1100"/>
          </a:p>
        </p:txBody>
      </p:sp>
      <p:sp>
        <p:nvSpPr>
          <p:cNvPr id="16" name="Text 9"/>
          <p:cNvSpPr/>
          <p:nvPr/>
        </p:nvSpPr>
        <p:spPr>
          <a:xfrm>
            <a:off x="8229600" y="6400800"/>
            <a:ext cx="3456432" cy="320040"/>
          </a:xfrm>
          <a:prstGeom prst="rect">
            <a:avLst/>
          </a:prstGeom>
          <a:noFill/>
          <a:ln/>
        </p:spPr>
        <p:txBody>
          <a:bodyPr wrap="square" lIns="0" tIns="0" rIns="0" bIns="0" rtlCol="0" anchor="ctr"/>
          <a:lstStyle/>
          <a:p>
            <a:pPr algn="r"/>
            <a:r>
              <a:rPr lang="en-US" sz="1300" b="1">
                <a:solidFill>
                  <a:srgbClr val="2D7FF9"/>
                </a:solidFill>
                <a:latin typeface="Arial"/>
                <a:ea typeface="Arial" pitchFamily="34" charset="-122"/>
                <a:cs typeface="Arial"/>
              </a:rPr>
              <a:t>Human</a:t>
            </a:r>
            <a:r>
              <a:rPr lang="en-US" sz="1300">
                <a:solidFill>
                  <a:srgbClr val="9AA4C0"/>
                </a:solidFill>
                <a:latin typeface="Arial"/>
                <a:ea typeface="Arial" pitchFamily="34" charset="-122"/>
                <a:cs typeface="Arial"/>
              </a:rPr>
              <a:t> ×</a:t>
            </a:r>
            <a:r>
              <a:rPr lang="en-US" sz="1300" b="1">
                <a:solidFill>
                  <a:srgbClr val="1FB6A6"/>
                </a:solidFill>
                <a:latin typeface="Arial"/>
                <a:ea typeface="Arial" pitchFamily="34" charset="-122"/>
                <a:cs typeface="Arial"/>
              </a:rPr>
              <a:t>AI</a:t>
            </a:r>
            <a:endParaRPr lang="en-US" sz="1300">
              <a:solidFill>
                <a:srgbClr val="000000"/>
              </a:solidFill>
              <a:latin typeface="Arial"/>
              <a:ea typeface="Arial" pitchFamily="34" charset="-122"/>
              <a:cs typeface="Arial"/>
            </a:endParaRPr>
          </a:p>
        </p:txBody>
      </p:sp>
      <p:pic>
        <p:nvPicPr>
          <p:cNvPr id="20" name="Picture 19" descr="A black and white logo  AI-generated content may be incorrect.">
            <a:extLst>
              <a:ext uri="{FF2B5EF4-FFF2-40B4-BE49-F238E27FC236}">
                <a16:creationId xmlns:a16="http://schemas.microsoft.com/office/drawing/2014/main" id="{2D87E773-41B9-9598-E14E-762EC74A05CB}"/>
              </a:ext>
            </a:extLst>
          </p:cNvPr>
          <p:cNvPicPr>
            <a:picLocks noChangeAspect="1"/>
          </p:cNvPicPr>
          <p:nvPr/>
        </p:nvPicPr>
        <p:blipFill>
          <a:blip r:embed="rId4"/>
          <a:stretch>
            <a:fillRect/>
          </a:stretch>
        </p:blipFill>
        <p:spPr>
          <a:xfrm>
            <a:off x="507998" y="272006"/>
            <a:ext cx="3196169" cy="57782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2225</Words>
  <Application>Microsoft Office PowerPoint</Application>
  <PresentationFormat>Widescreen</PresentationFormat>
  <Paragraphs>220</Paragraphs>
  <Slides>35</Slides>
  <Notes>35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Analytics Vidhya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DataHack Summit 2026 — Speaker Template</dc:title>
  <dc:subject>PptxGenJS Presentation</dc:subject>
  <dc:creator>DataHack Summit 2026</dc:creator>
  <cp:lastModifiedBy>Aditya Bhattacharya</cp:lastModifiedBy>
  <cp:revision>34</cp:revision>
  <dcterms:created xsi:type="dcterms:W3CDTF">2026-06-04T10:00:53Z</dcterms:created>
  <dcterms:modified xsi:type="dcterms:W3CDTF">2026-07-23T10:56:42Z</dcterms:modified>
</cp:coreProperties>
</file>